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284" r:id="rId3"/>
    <p:sldId id="285" r:id="rId4"/>
    <p:sldId id="287" r:id="rId5"/>
    <p:sldId id="286" r:id="rId6"/>
    <p:sldId id="292" r:id="rId7"/>
    <p:sldId id="288" r:id="rId8"/>
    <p:sldId id="289" r:id="rId9"/>
    <p:sldId id="290" r:id="rId10"/>
    <p:sldId id="291" r:id="rId11"/>
    <p:sldId id="298" r:id="rId12"/>
    <p:sldId id="312" r:id="rId13"/>
    <p:sldId id="281" r:id="rId14"/>
    <p:sldId id="293" r:id="rId15"/>
    <p:sldId id="309" r:id="rId16"/>
    <p:sldId id="294" r:id="rId17"/>
    <p:sldId id="310" r:id="rId18"/>
    <p:sldId id="295" r:id="rId19"/>
    <p:sldId id="311" r:id="rId20"/>
    <p:sldId id="296" r:id="rId21"/>
    <p:sldId id="318" r:id="rId22"/>
    <p:sldId id="297" r:id="rId23"/>
    <p:sldId id="299" r:id="rId24"/>
    <p:sldId id="300" r:id="rId25"/>
    <p:sldId id="301" r:id="rId26"/>
    <p:sldId id="302" r:id="rId27"/>
    <p:sldId id="303" r:id="rId28"/>
    <p:sldId id="304" r:id="rId29"/>
    <p:sldId id="305" r:id="rId30"/>
    <p:sldId id="306" r:id="rId31"/>
    <p:sldId id="307" r:id="rId32"/>
    <p:sldId id="308" r:id="rId33"/>
    <p:sldId id="321" r:id="rId34"/>
    <p:sldId id="322" r:id="rId35"/>
    <p:sldId id="317" r:id="rId36"/>
    <p:sldId id="314" r:id="rId37"/>
    <p:sldId id="319" r:id="rId38"/>
    <p:sldId id="324" r:id="rId39"/>
    <p:sldId id="323" r:id="rId40"/>
    <p:sldId id="315" r:id="rId41"/>
    <p:sldId id="316" r:id="rId42"/>
    <p:sldId id="278" r:id="rId43"/>
    <p:sldId id="265" r:id="rId44"/>
    <p:sldId id="266" r:id="rId45"/>
    <p:sldId id="267" r:id="rId46"/>
    <p:sldId id="269" r:id="rId47"/>
    <p:sldId id="272" r:id="rId48"/>
    <p:sldId id="270" r:id="rId49"/>
    <p:sldId id="282" r:id="rId50"/>
    <p:sldId id="271" r:id="rId51"/>
    <p:sldId id="280"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D3EB9-1A46-427F-BE5F-EB7A6F1E5912}" type="datetimeFigureOut">
              <a:rPr lang="en-US" smtClean="0"/>
              <a:t>27-Aug-15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3B38AC-E21D-44EF-9D6F-90F0B3183CE9}" type="slidenum">
              <a:rPr lang="en-US" smtClean="0"/>
              <a:t>‹#›</a:t>
            </a:fld>
            <a:endParaRPr lang="en-US"/>
          </a:p>
        </p:txBody>
      </p:sp>
    </p:spTree>
    <p:extLst>
      <p:ext uri="{BB962C8B-B14F-4D97-AF65-F5344CB8AC3E}">
        <p14:creationId xmlns:p14="http://schemas.microsoft.com/office/powerpoint/2010/main" val="365472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EE317-9D89-4068-9305-10850C63EFCD}" type="slidenum">
              <a:rPr lang="en-GB"/>
              <a:pPr/>
              <a:t>13</a:t>
            </a:fld>
            <a:endParaRPr lang="en-GB"/>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43141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13B38AC-E21D-44EF-9D6F-90F0B3183CE9}" type="slidenum">
              <a:rPr lang="en-US" smtClean="0"/>
              <a:t>23</a:t>
            </a:fld>
            <a:endParaRPr lang="en-US"/>
          </a:p>
        </p:txBody>
      </p:sp>
    </p:spTree>
    <p:extLst>
      <p:ext uri="{BB962C8B-B14F-4D97-AF65-F5344CB8AC3E}">
        <p14:creationId xmlns:p14="http://schemas.microsoft.com/office/powerpoint/2010/main" val="401395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BF6F5F-F95B-41F6-BD74-1871CDA03D12}" type="datetimeFigureOut">
              <a:rPr lang="en-US" smtClean="0"/>
              <a:t>27-Aug-15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236952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BF6F5F-F95B-41F6-BD74-1871CDA03D12}" type="datetimeFigureOut">
              <a:rPr lang="en-US" smtClean="0"/>
              <a:t>27-Aug-15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289312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BF6F5F-F95B-41F6-BD74-1871CDA03D12}" type="datetimeFigureOut">
              <a:rPr lang="en-US" smtClean="0"/>
              <a:t>27-Aug-15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4248955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BF6F5F-F95B-41F6-BD74-1871CDA03D12}" type="datetimeFigureOut">
              <a:rPr lang="en-US" smtClean="0"/>
              <a:t>27-Aug-15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229510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BF6F5F-F95B-41F6-BD74-1871CDA03D12}" type="datetimeFigureOut">
              <a:rPr lang="en-US" smtClean="0"/>
              <a:t>27-Aug-15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2087960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BF6F5F-F95B-41F6-BD74-1871CDA03D12}" type="datetimeFigureOut">
              <a:rPr lang="en-US" smtClean="0"/>
              <a:t>27-Aug-15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296945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BF6F5F-F95B-41F6-BD74-1871CDA03D12}" type="datetimeFigureOut">
              <a:rPr lang="en-US" smtClean="0"/>
              <a:t>27-Aug-15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1856089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BF6F5F-F95B-41F6-BD74-1871CDA03D12}" type="datetimeFigureOut">
              <a:rPr lang="en-US" smtClean="0"/>
              <a:t>27-Aug-15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3988719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BF6F5F-F95B-41F6-BD74-1871CDA03D12}" type="datetimeFigureOut">
              <a:rPr lang="en-US" smtClean="0"/>
              <a:t>27-Aug-15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3506097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BF6F5F-F95B-41F6-BD74-1871CDA03D12}" type="datetimeFigureOut">
              <a:rPr lang="en-US" smtClean="0"/>
              <a:t>27-Aug-15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638001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BF6F5F-F95B-41F6-BD74-1871CDA03D12}" type="datetimeFigureOut">
              <a:rPr lang="en-US" smtClean="0"/>
              <a:t>27-Aug-15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599444-A6DE-443A-A1B7-18E8476FDE69}" type="slidenum">
              <a:rPr lang="en-US" smtClean="0"/>
              <a:t>‹#›</a:t>
            </a:fld>
            <a:endParaRPr lang="en-US"/>
          </a:p>
        </p:txBody>
      </p:sp>
    </p:spTree>
    <p:extLst>
      <p:ext uri="{BB962C8B-B14F-4D97-AF65-F5344CB8AC3E}">
        <p14:creationId xmlns:p14="http://schemas.microsoft.com/office/powerpoint/2010/main" val="4061536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w">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6705600" cy="762000"/>
          </a:xfrm>
          <a:prstGeom prst="rect">
            <a:avLst/>
          </a:prstGeom>
        </p:spPr>
        <p:txBody>
          <a:bodyPr/>
          <a:lstStyle>
            <a:lvl1pPr>
              <a:defRPr>
                <a:effectLst/>
              </a:defRPr>
            </a:lvl1pPr>
          </a:lstStyle>
          <a:p>
            <a:r>
              <a:rPr lang="en-US" smtClean="0"/>
              <a:t>Click to edit Master title style</a:t>
            </a:r>
            <a:endParaRPr lang="en-US" dirty="0"/>
          </a:p>
        </p:txBody>
      </p:sp>
      <p:sp>
        <p:nvSpPr>
          <p:cNvPr id="6" name="Content Placeholder 2"/>
          <p:cNvSpPr>
            <a:spLocks noGrp="1"/>
          </p:cNvSpPr>
          <p:nvPr>
            <p:ph idx="1"/>
          </p:nvPr>
        </p:nvSpPr>
        <p:spPr>
          <a:xfrm>
            <a:off x="533400" y="1371600"/>
            <a:ext cx="7709848" cy="4800600"/>
          </a:xfrm>
          <a:prstGeom prst="rect">
            <a:avLst/>
          </a:prstGeom>
        </p:spPr>
        <p:txBody>
          <a:bodyPr/>
          <a:lstStyle>
            <a:lvl1pPr marL="404813" indent="-287338">
              <a:buClrTx/>
              <a:buFont typeface="Wingdings" pitchFamily="2" charset="2"/>
              <a:buChar char="§"/>
              <a:defRPr sz="2000">
                <a:solidFill>
                  <a:schemeClr val="tx1"/>
                </a:solidFill>
              </a:defRPr>
            </a:lvl1pPr>
            <a:lvl2pPr marL="796925" indent="-228600">
              <a:buClrTx/>
              <a:buFont typeface="Wingdings" pitchFamily="2" charset="2"/>
              <a:buChar char="§"/>
              <a:defRPr sz="1800">
                <a:solidFill>
                  <a:schemeClr val="tx1"/>
                </a:solidFill>
              </a:defRPr>
            </a:lvl2pPr>
            <a:lvl3pPr marL="1254125" indent="-231775">
              <a:buClrTx/>
              <a:buFont typeface="Wingdings" pitchFamily="2" charset="2"/>
              <a:buChar char="§"/>
              <a:defRPr sz="1800" i="0">
                <a:solidFill>
                  <a:schemeClr val="tx1"/>
                </a:solidFill>
              </a:defRPr>
            </a:lvl3pPr>
            <a:lvl4pPr marL="1771650" indent="-295275">
              <a:buClrTx/>
              <a:buFont typeface="Wingdings" pitchFamily="2" charset="2"/>
              <a:buChar char="§"/>
              <a:defRPr sz="1600" i="0">
                <a:solidFill>
                  <a:schemeClr val="tx1"/>
                </a:solidFill>
              </a:defRPr>
            </a:lvl4pPr>
            <a:lvl5pPr marL="2171700" indent="-241300">
              <a:buClrTx/>
              <a:buFont typeface="Wingdings" pitchFamily="2" charset="2"/>
              <a:buChar char="§"/>
              <a:defRPr sz="1600" i="0">
                <a:solidFill>
                  <a:schemeClr val="tx1"/>
                </a:solidFill>
              </a:defRPr>
            </a:lvl5pPr>
          </a:lstStyle>
          <a:p>
            <a:pPr lvl="0"/>
            <a:r>
              <a:rPr lang="en-US" smtClean="0"/>
              <a:t>Click to edit Master text styles</a:t>
            </a:r>
          </a:p>
          <a:p>
            <a:pPr lvl="1"/>
            <a:r>
              <a:rPr lang="en-US" smtClean="0"/>
              <a:t>Second level</a:t>
            </a:r>
          </a:p>
          <a:p>
            <a:pPr lvl="2"/>
            <a:r>
              <a:rPr lang="en-US" smtClean="0"/>
              <a:t>Third level</a:t>
            </a:r>
          </a:p>
        </p:txBody>
      </p:sp>
      <p:sp>
        <p:nvSpPr>
          <p:cNvPr id="4" name="Slide Number Placeholder 3"/>
          <p:cNvSpPr>
            <a:spLocks noGrp="1"/>
          </p:cNvSpPr>
          <p:nvPr>
            <p:ph type="sldNum" sz="quarter" idx="10"/>
          </p:nvPr>
        </p:nvSpPr>
        <p:spPr>
          <a:xfrm>
            <a:off x="8686800" y="6429375"/>
            <a:ext cx="457200" cy="381000"/>
          </a:xfrm>
        </p:spPr>
        <p:txBody>
          <a:bodyPr/>
          <a:lstStyle>
            <a:lvl1pPr>
              <a:defRPr sz="1200"/>
            </a:lvl1pPr>
          </a:lstStyle>
          <a:p>
            <a:pPr>
              <a:defRPr/>
            </a:pPr>
            <a:fld id="{590BC0B2-46F0-485D-A580-7F0C5A37516E}" type="slidenum">
              <a:rPr lang="en-US" smtClean="0"/>
              <a:pPr>
                <a:defRPr/>
              </a:pPr>
              <a:t>‹#›</a:t>
            </a:fld>
            <a:endParaRPr lang="en-US" dirty="0"/>
          </a:p>
        </p:txBody>
      </p:sp>
      <p:sp>
        <p:nvSpPr>
          <p:cNvPr id="7" name="Footer Placeholder 4"/>
          <p:cNvSpPr txBox="1">
            <a:spLocks/>
          </p:cNvSpPr>
          <p:nvPr userDrawn="1"/>
        </p:nvSpPr>
        <p:spPr>
          <a:xfrm>
            <a:off x="0" y="6461125"/>
            <a:ext cx="2895600" cy="396875"/>
          </a:xfrm>
          <a:prstGeom prst="rect">
            <a:avLst/>
          </a:prstGeom>
          <a:noFill/>
        </p:spPr>
        <p:txBody>
          <a:bodyPr/>
          <a:lstStyle>
            <a:defPPr>
              <a:defRPr lang="en-US"/>
            </a:defPPr>
            <a:lvl1pPr algn="l" rtl="0" fontAlgn="base">
              <a:spcBef>
                <a:spcPct val="0"/>
              </a:spcBef>
              <a:spcAft>
                <a:spcPct val="0"/>
              </a:spcAft>
              <a:defRPr sz="1000" b="1" i="0" kern="1200">
                <a:solidFill>
                  <a:srgbClr val="2F5E5E"/>
                </a:solidFill>
                <a:latin typeface="Arial" charset="0"/>
                <a:ea typeface="ＭＳ Ｐゴシック" pitchFamily="34" charset="-128"/>
                <a:cs typeface="+mn-cs"/>
              </a:defRPr>
            </a:lvl1pPr>
            <a:lvl2pPr marL="457200" algn="l" rtl="0" fontAlgn="base">
              <a:spcBef>
                <a:spcPct val="0"/>
              </a:spcBef>
              <a:spcAft>
                <a:spcPct val="0"/>
              </a:spcAft>
              <a:defRPr sz="1000" b="1" kern="1200">
                <a:solidFill>
                  <a:srgbClr val="2F5E5E"/>
                </a:solidFill>
                <a:latin typeface="Arial" charset="0"/>
                <a:ea typeface="ＭＳ Ｐゴシック" pitchFamily="34" charset="-128"/>
                <a:cs typeface="+mn-cs"/>
              </a:defRPr>
            </a:lvl2pPr>
            <a:lvl3pPr marL="914400" algn="l" rtl="0" fontAlgn="base">
              <a:spcBef>
                <a:spcPct val="0"/>
              </a:spcBef>
              <a:spcAft>
                <a:spcPct val="0"/>
              </a:spcAft>
              <a:defRPr sz="1000" b="1" kern="1200">
                <a:solidFill>
                  <a:srgbClr val="2F5E5E"/>
                </a:solidFill>
                <a:latin typeface="Arial" charset="0"/>
                <a:ea typeface="ＭＳ Ｐゴシック" pitchFamily="34" charset="-128"/>
                <a:cs typeface="+mn-cs"/>
              </a:defRPr>
            </a:lvl3pPr>
            <a:lvl4pPr marL="1371600" algn="l" rtl="0" fontAlgn="base">
              <a:spcBef>
                <a:spcPct val="0"/>
              </a:spcBef>
              <a:spcAft>
                <a:spcPct val="0"/>
              </a:spcAft>
              <a:defRPr sz="1000" b="1" kern="1200">
                <a:solidFill>
                  <a:srgbClr val="2F5E5E"/>
                </a:solidFill>
                <a:latin typeface="Arial" charset="0"/>
                <a:ea typeface="ＭＳ Ｐゴシック" pitchFamily="34" charset="-128"/>
                <a:cs typeface="+mn-cs"/>
              </a:defRPr>
            </a:lvl4pPr>
            <a:lvl5pPr marL="1828800" algn="l" rtl="0" fontAlgn="base">
              <a:spcBef>
                <a:spcPct val="0"/>
              </a:spcBef>
              <a:spcAft>
                <a:spcPct val="0"/>
              </a:spcAft>
              <a:defRPr sz="1000" b="1" kern="1200">
                <a:solidFill>
                  <a:srgbClr val="2F5E5E"/>
                </a:solidFill>
                <a:latin typeface="Arial" charset="0"/>
                <a:ea typeface="ＭＳ Ｐゴシック" pitchFamily="34" charset="-128"/>
                <a:cs typeface="+mn-cs"/>
              </a:defRPr>
            </a:lvl5pPr>
            <a:lvl6pPr marL="2286000" algn="l" defTabSz="914400" rtl="0" eaLnBrk="1" latinLnBrk="0" hangingPunct="1">
              <a:defRPr sz="1000" b="1" kern="1200">
                <a:solidFill>
                  <a:srgbClr val="2F5E5E"/>
                </a:solidFill>
                <a:latin typeface="Arial" charset="0"/>
                <a:ea typeface="ＭＳ Ｐゴシック" pitchFamily="34" charset="-128"/>
                <a:cs typeface="+mn-cs"/>
              </a:defRPr>
            </a:lvl6pPr>
            <a:lvl7pPr marL="2743200" algn="l" defTabSz="914400" rtl="0" eaLnBrk="1" latinLnBrk="0" hangingPunct="1">
              <a:defRPr sz="1000" b="1" kern="1200">
                <a:solidFill>
                  <a:srgbClr val="2F5E5E"/>
                </a:solidFill>
                <a:latin typeface="Arial" charset="0"/>
                <a:ea typeface="ＭＳ Ｐゴシック" pitchFamily="34" charset="-128"/>
                <a:cs typeface="+mn-cs"/>
              </a:defRPr>
            </a:lvl7pPr>
            <a:lvl8pPr marL="3200400" algn="l" defTabSz="914400" rtl="0" eaLnBrk="1" latinLnBrk="0" hangingPunct="1">
              <a:defRPr sz="1000" b="1" kern="1200">
                <a:solidFill>
                  <a:srgbClr val="2F5E5E"/>
                </a:solidFill>
                <a:latin typeface="Arial" charset="0"/>
                <a:ea typeface="ＭＳ Ｐゴシック" pitchFamily="34" charset="-128"/>
                <a:cs typeface="+mn-cs"/>
              </a:defRPr>
            </a:lvl8pPr>
            <a:lvl9pPr marL="3657600" algn="l" defTabSz="914400" rtl="0" eaLnBrk="1" latinLnBrk="0" hangingPunct="1">
              <a:defRPr sz="1000" b="1" kern="1200">
                <a:solidFill>
                  <a:srgbClr val="2F5E5E"/>
                </a:solidFill>
                <a:latin typeface="Arial" charset="0"/>
                <a:ea typeface="ＭＳ Ｐゴシック" pitchFamily="34" charset="-128"/>
                <a:cs typeface="+mn-cs"/>
              </a:defRPr>
            </a:lvl9pPr>
          </a:lstStyle>
          <a:p>
            <a:r>
              <a:rPr lang="en-US" dirty="0" smtClean="0"/>
              <a:t>Impetus Proprietary</a:t>
            </a:r>
          </a:p>
        </p:txBody>
      </p:sp>
    </p:spTree>
    <p:extLst>
      <p:ext uri="{BB962C8B-B14F-4D97-AF65-F5344CB8AC3E}">
        <p14:creationId xmlns:p14="http://schemas.microsoft.com/office/powerpoint/2010/main" val="133315565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BF6F5F-F95B-41F6-BD74-1871CDA03D12}" type="datetimeFigureOut">
              <a:rPr lang="en-US" smtClean="0"/>
              <a:t>27-Aug-15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599444-A6DE-443A-A1B7-18E8476FDE69}" type="slidenum">
              <a:rPr lang="en-US" smtClean="0"/>
              <a:t>‹#›</a:t>
            </a:fld>
            <a:endParaRPr lang="en-US"/>
          </a:p>
        </p:txBody>
      </p:sp>
    </p:spTree>
    <p:extLst>
      <p:ext uri="{BB962C8B-B14F-4D97-AF65-F5344CB8AC3E}">
        <p14:creationId xmlns:p14="http://schemas.microsoft.com/office/powerpoint/2010/main" val="2435861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trackofthewolf.com/imgPart/stove-pipe-s_0.jp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Enterprise and business processes</a:t>
            </a:r>
          </a:p>
          <a:p>
            <a:r>
              <a:rPr lang="en-US" dirty="0" smtClean="0"/>
              <a:t>Need for Integration</a:t>
            </a:r>
          </a:p>
          <a:p>
            <a:r>
              <a:rPr lang="en-US" dirty="0" smtClean="0"/>
              <a:t>Challenges to application integration</a:t>
            </a:r>
          </a:p>
          <a:p>
            <a:r>
              <a:rPr lang="en-US" dirty="0" smtClean="0"/>
              <a:t>Role of ESB in integration</a:t>
            </a:r>
          </a:p>
          <a:p>
            <a:r>
              <a:rPr lang="en-US" dirty="0" smtClean="0"/>
              <a:t>Advance Features</a:t>
            </a:r>
            <a:endParaRPr lang="en-US" dirty="0"/>
          </a:p>
        </p:txBody>
      </p:sp>
    </p:spTree>
    <p:extLst>
      <p:ext uri="{BB962C8B-B14F-4D97-AF65-F5344CB8AC3E}">
        <p14:creationId xmlns:p14="http://schemas.microsoft.com/office/powerpoint/2010/main" val="37467905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IE" dirty="0" smtClean="0"/>
              <a:t>Anatomy of enterprise applications</a:t>
            </a:r>
          </a:p>
        </p:txBody>
      </p:sp>
      <p:sp>
        <p:nvSpPr>
          <p:cNvPr id="5123" name="Content Placeholder 2"/>
          <p:cNvSpPr>
            <a:spLocks noGrp="1"/>
          </p:cNvSpPr>
          <p:nvPr>
            <p:ph idx="1"/>
          </p:nvPr>
        </p:nvSpPr>
        <p:spPr/>
        <p:txBody>
          <a:bodyPr/>
          <a:lstStyle/>
          <a:p>
            <a:r>
              <a:rPr lang="en-IE" sz="2400" dirty="0" smtClean="0"/>
              <a:t>Enterprise Applications keep track of information related to the operations of the enterprise</a:t>
            </a:r>
          </a:p>
          <a:p>
            <a:pPr lvl="1"/>
            <a:r>
              <a:rPr lang="en-IE" sz="2000" dirty="0" smtClean="0"/>
              <a:t>e.g. Inventory, sales ledger</a:t>
            </a:r>
          </a:p>
          <a:p>
            <a:pPr lvl="1"/>
            <a:endParaRPr lang="en-IE" sz="2000" dirty="0" smtClean="0"/>
          </a:p>
          <a:p>
            <a:r>
              <a:rPr lang="en-IE" sz="2400" dirty="0" smtClean="0"/>
              <a:t>And execute the core processes that create and manipulate this information</a:t>
            </a:r>
          </a:p>
          <a:p>
            <a:pPr lvl="1"/>
            <a:r>
              <a:rPr lang="en-IE" sz="2000" dirty="0" smtClean="0"/>
              <a:t>Process from order to cash received</a:t>
            </a:r>
          </a:p>
          <a:p>
            <a:pPr lvl="1"/>
            <a:endParaRPr lang="en-IE" sz="2000" dirty="0" smtClean="0"/>
          </a:p>
        </p:txBody>
      </p:sp>
    </p:spTree>
    <p:extLst>
      <p:ext uri="{BB962C8B-B14F-4D97-AF65-F5344CB8AC3E}">
        <p14:creationId xmlns:p14="http://schemas.microsoft.com/office/powerpoint/2010/main" val="25281013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4"/>
          <p:cNvSpPr>
            <a:spLocks noGrp="1"/>
          </p:cNvSpPr>
          <p:nvPr>
            <p:ph type="title"/>
          </p:nvPr>
        </p:nvSpPr>
        <p:spPr/>
        <p:txBody>
          <a:bodyPr/>
          <a:lstStyle/>
          <a:p>
            <a:r>
              <a:rPr lang="en-IE" dirty="0" smtClean="0"/>
              <a:t>Enterprise data</a:t>
            </a:r>
          </a:p>
        </p:txBody>
      </p:sp>
      <p:sp>
        <p:nvSpPr>
          <p:cNvPr id="6147" name="Content Placeholder 5"/>
          <p:cNvSpPr>
            <a:spLocks noGrp="1"/>
          </p:cNvSpPr>
          <p:nvPr>
            <p:ph idx="1"/>
          </p:nvPr>
        </p:nvSpPr>
        <p:spPr>
          <a:xfrm>
            <a:off x="468313" y="5373688"/>
            <a:ext cx="8229600" cy="1484312"/>
          </a:xfrm>
        </p:spPr>
        <p:txBody>
          <a:bodyPr>
            <a:normAutofit lnSpcReduction="10000"/>
          </a:bodyPr>
          <a:lstStyle/>
          <a:p>
            <a:r>
              <a:rPr lang="en-IE" sz="2400" dirty="0" smtClean="0"/>
              <a:t>Data in the organisation is captured in a number of data models</a:t>
            </a:r>
          </a:p>
          <a:p>
            <a:pPr lvl="1"/>
            <a:r>
              <a:rPr lang="en-IE" sz="2000" dirty="0" smtClean="0"/>
              <a:t>Data models describe the way data is defined in databases or exchanged between applications </a:t>
            </a:r>
          </a:p>
        </p:txBody>
      </p:sp>
      <p:sp>
        <p:nvSpPr>
          <p:cNvPr id="614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fld id="{A739BC71-FA14-43C1-8B7F-037DD1798547}" type="slidenum">
              <a:rPr lang="en-US" altLang="en-US" sz="1000" b="0"/>
              <a:pPr eaLnBrk="1" hangingPunct="1"/>
              <a:t>3</a:t>
            </a:fld>
            <a:endParaRPr lang="en-US" altLang="en-US" sz="1000" b="0" dirty="0"/>
          </a:p>
        </p:txBody>
      </p:sp>
      <p:sp>
        <p:nvSpPr>
          <p:cNvPr id="6149" name="Rounded Rectangle 6"/>
          <p:cNvSpPr>
            <a:spLocks noChangeArrowheads="1"/>
          </p:cNvSpPr>
          <p:nvPr/>
        </p:nvSpPr>
        <p:spPr bwMode="auto">
          <a:xfrm>
            <a:off x="611188" y="1484313"/>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Purchases</a:t>
            </a:r>
          </a:p>
        </p:txBody>
      </p:sp>
      <p:sp>
        <p:nvSpPr>
          <p:cNvPr id="6150" name="Rounded Rectangle 7"/>
          <p:cNvSpPr>
            <a:spLocks noChangeArrowheads="1"/>
          </p:cNvSpPr>
          <p:nvPr/>
        </p:nvSpPr>
        <p:spPr bwMode="auto">
          <a:xfrm>
            <a:off x="611188" y="2060575"/>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Shipments</a:t>
            </a:r>
          </a:p>
        </p:txBody>
      </p:sp>
      <p:sp>
        <p:nvSpPr>
          <p:cNvPr id="6151" name="Rounded Rectangle 8"/>
          <p:cNvSpPr>
            <a:spLocks noChangeArrowheads="1"/>
          </p:cNvSpPr>
          <p:nvPr/>
        </p:nvSpPr>
        <p:spPr bwMode="auto">
          <a:xfrm>
            <a:off x="1763713" y="3429000"/>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Inventory</a:t>
            </a:r>
          </a:p>
        </p:txBody>
      </p:sp>
      <p:sp>
        <p:nvSpPr>
          <p:cNvPr id="6152" name="Rounded Rectangle 9"/>
          <p:cNvSpPr>
            <a:spLocks noChangeArrowheads="1"/>
          </p:cNvSpPr>
          <p:nvPr/>
        </p:nvSpPr>
        <p:spPr bwMode="auto">
          <a:xfrm>
            <a:off x="3563938" y="141287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Orders</a:t>
            </a:r>
          </a:p>
        </p:txBody>
      </p:sp>
      <p:sp>
        <p:nvSpPr>
          <p:cNvPr id="6153" name="Rounded Rectangle 10"/>
          <p:cNvSpPr>
            <a:spLocks noChangeArrowheads="1"/>
          </p:cNvSpPr>
          <p:nvPr/>
        </p:nvSpPr>
        <p:spPr bwMode="auto">
          <a:xfrm>
            <a:off x="6011863" y="1484313"/>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Customers</a:t>
            </a:r>
          </a:p>
        </p:txBody>
      </p:sp>
      <p:sp>
        <p:nvSpPr>
          <p:cNvPr id="6154" name="Rounded Rectangle 11"/>
          <p:cNvSpPr>
            <a:spLocks noChangeArrowheads="1"/>
          </p:cNvSpPr>
          <p:nvPr/>
        </p:nvSpPr>
        <p:spPr bwMode="auto">
          <a:xfrm>
            <a:off x="6084888" y="2636838"/>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Service</a:t>
            </a:r>
          </a:p>
        </p:txBody>
      </p:sp>
      <p:sp>
        <p:nvSpPr>
          <p:cNvPr id="6155" name="Rounded Rectangle 12"/>
          <p:cNvSpPr>
            <a:spLocks noChangeArrowheads="1"/>
          </p:cNvSpPr>
          <p:nvPr/>
        </p:nvSpPr>
        <p:spPr bwMode="auto">
          <a:xfrm>
            <a:off x="5292725" y="3357563"/>
            <a:ext cx="1439863" cy="503237"/>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Billing</a:t>
            </a:r>
          </a:p>
        </p:txBody>
      </p:sp>
      <p:sp>
        <p:nvSpPr>
          <p:cNvPr id="6156" name="Rounded Rectangle 13"/>
          <p:cNvSpPr>
            <a:spLocks noChangeArrowheads="1"/>
          </p:cNvSpPr>
          <p:nvPr/>
        </p:nvSpPr>
        <p:spPr bwMode="auto">
          <a:xfrm>
            <a:off x="2627313" y="479742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Accounting</a:t>
            </a:r>
          </a:p>
        </p:txBody>
      </p:sp>
      <p:sp>
        <p:nvSpPr>
          <p:cNvPr id="6157" name="Rounded Rectangle 14"/>
          <p:cNvSpPr>
            <a:spLocks noChangeArrowheads="1"/>
          </p:cNvSpPr>
          <p:nvPr/>
        </p:nvSpPr>
        <p:spPr bwMode="auto">
          <a:xfrm>
            <a:off x="4284663" y="479742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HR</a:t>
            </a:r>
          </a:p>
        </p:txBody>
      </p:sp>
      <p:sp>
        <p:nvSpPr>
          <p:cNvPr id="16" name="Rounded Rectangle 15"/>
          <p:cNvSpPr/>
          <p:nvPr/>
        </p:nvSpPr>
        <p:spPr bwMode="auto">
          <a:xfrm>
            <a:off x="6084888" y="2060575"/>
            <a:ext cx="1439862" cy="504825"/>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Marketing</a:t>
            </a:r>
          </a:p>
        </p:txBody>
      </p:sp>
      <p:sp>
        <p:nvSpPr>
          <p:cNvPr id="17" name="Rounded Rectangle 16"/>
          <p:cNvSpPr/>
          <p:nvPr/>
        </p:nvSpPr>
        <p:spPr bwMode="auto">
          <a:xfrm>
            <a:off x="3635375" y="2565400"/>
            <a:ext cx="1439863" cy="503238"/>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Planning</a:t>
            </a:r>
          </a:p>
        </p:txBody>
      </p:sp>
      <p:sp>
        <p:nvSpPr>
          <p:cNvPr id="6160" name="Rounded Rectangle 17"/>
          <p:cNvSpPr>
            <a:spLocks noChangeArrowheads="1"/>
          </p:cNvSpPr>
          <p:nvPr/>
        </p:nvSpPr>
        <p:spPr bwMode="auto">
          <a:xfrm>
            <a:off x="2627313" y="414972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Assets</a:t>
            </a:r>
          </a:p>
        </p:txBody>
      </p:sp>
      <p:sp>
        <p:nvSpPr>
          <p:cNvPr id="19" name="Rounded Rectangle 18"/>
          <p:cNvSpPr/>
          <p:nvPr/>
        </p:nvSpPr>
        <p:spPr bwMode="auto">
          <a:xfrm>
            <a:off x="4140200" y="3933825"/>
            <a:ext cx="1574800" cy="711200"/>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Project management</a:t>
            </a:r>
          </a:p>
        </p:txBody>
      </p:sp>
    </p:spTree>
    <p:extLst>
      <p:ext uri="{BB962C8B-B14F-4D97-AF65-F5344CB8AC3E}">
        <p14:creationId xmlns:p14="http://schemas.microsoft.com/office/powerpoint/2010/main" val="2549620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val 36"/>
          <p:cNvSpPr/>
          <p:nvPr/>
        </p:nvSpPr>
        <p:spPr bwMode="auto">
          <a:xfrm>
            <a:off x="4859338" y="2708275"/>
            <a:ext cx="2520950" cy="936625"/>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34" name="Oval 33"/>
          <p:cNvSpPr/>
          <p:nvPr/>
        </p:nvSpPr>
        <p:spPr bwMode="auto">
          <a:xfrm>
            <a:off x="4211638" y="4797425"/>
            <a:ext cx="2232025" cy="863600"/>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32" name="Oval 31"/>
          <p:cNvSpPr/>
          <p:nvPr/>
        </p:nvSpPr>
        <p:spPr bwMode="auto">
          <a:xfrm>
            <a:off x="5940425" y="1989138"/>
            <a:ext cx="2312988" cy="647700"/>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31" name="Oval 30"/>
          <p:cNvSpPr/>
          <p:nvPr/>
        </p:nvSpPr>
        <p:spPr bwMode="auto">
          <a:xfrm>
            <a:off x="3203575" y="1196975"/>
            <a:ext cx="3816350" cy="936625"/>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28" name="Oval 27"/>
          <p:cNvSpPr/>
          <p:nvPr/>
        </p:nvSpPr>
        <p:spPr bwMode="auto">
          <a:xfrm>
            <a:off x="250825" y="1268413"/>
            <a:ext cx="2233613" cy="1584325"/>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23" name="Oval 22"/>
          <p:cNvSpPr/>
          <p:nvPr/>
        </p:nvSpPr>
        <p:spPr bwMode="auto">
          <a:xfrm>
            <a:off x="971550" y="3933825"/>
            <a:ext cx="3384550" cy="1582738"/>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20" name="Oval 19"/>
          <p:cNvSpPr/>
          <p:nvPr/>
        </p:nvSpPr>
        <p:spPr bwMode="auto">
          <a:xfrm>
            <a:off x="1619250" y="3213100"/>
            <a:ext cx="2232025" cy="863600"/>
          </a:xfrm>
          <a:prstGeom prst="ellipse">
            <a:avLst/>
          </a:prstGeom>
          <a:solidFill>
            <a:srgbClr val="00B050">
              <a:alpha val="50196"/>
            </a:srgbClr>
          </a:solidFill>
          <a:ln w="9525" cap="flat" cmpd="sng" algn="ctr">
            <a:solidFill>
              <a:schemeClr val="accent6">
                <a:lumMod val="60000"/>
                <a:lumOff val="40000"/>
              </a:schemeClr>
            </a:solidFill>
            <a:prstDash val="solid"/>
            <a:round/>
            <a:headEnd type="none" w="med" len="med"/>
            <a:tailEnd type="none" w="med" len="med"/>
          </a:ln>
          <a:effectLst/>
        </p:spPr>
        <p:txBody>
          <a:bodyPr/>
          <a:lstStyle/>
          <a:p>
            <a:pPr>
              <a:defRPr/>
            </a:pPr>
            <a:endParaRPr lang="en-IE" dirty="0">
              <a:latin typeface="Arial" charset="0"/>
            </a:endParaRPr>
          </a:p>
        </p:txBody>
      </p:sp>
      <p:sp>
        <p:nvSpPr>
          <p:cNvPr id="13321" name="Title 4"/>
          <p:cNvSpPr>
            <a:spLocks noGrp="1"/>
          </p:cNvSpPr>
          <p:nvPr>
            <p:ph type="title"/>
          </p:nvPr>
        </p:nvSpPr>
        <p:spPr>
          <a:xfrm>
            <a:off x="250825" y="188913"/>
            <a:ext cx="7750175" cy="796925"/>
          </a:xfrm>
        </p:spPr>
        <p:txBody>
          <a:bodyPr/>
          <a:lstStyle/>
          <a:p>
            <a:r>
              <a:rPr lang="en-IE" dirty="0" smtClean="0"/>
              <a:t>Mapped to functional systems</a:t>
            </a:r>
          </a:p>
        </p:txBody>
      </p:sp>
      <p:sp>
        <p:nvSpPr>
          <p:cNvPr id="13322" name="Content Placeholder 5"/>
          <p:cNvSpPr>
            <a:spLocks noGrp="1"/>
          </p:cNvSpPr>
          <p:nvPr>
            <p:ph idx="1"/>
          </p:nvPr>
        </p:nvSpPr>
        <p:spPr>
          <a:xfrm>
            <a:off x="468313" y="5589588"/>
            <a:ext cx="8229600" cy="1223962"/>
          </a:xfrm>
        </p:spPr>
        <p:txBody>
          <a:bodyPr/>
          <a:lstStyle/>
          <a:p>
            <a:r>
              <a:rPr lang="en-IE" sz="1800" dirty="0" smtClean="0"/>
              <a:t>Originally, the process and data models were implemented in a wide variety of functional system (related to organisational departments)</a:t>
            </a:r>
          </a:p>
          <a:p>
            <a:r>
              <a:rPr lang="en-IE" sz="1800" dirty="0" smtClean="0"/>
              <a:t>Each system consisting of a database, application logic and user interface</a:t>
            </a:r>
          </a:p>
        </p:txBody>
      </p:sp>
      <p:sp>
        <p:nvSpPr>
          <p:cNvPr id="13323"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fld id="{50533FCA-5F90-469A-84DC-92770D6D3934}" type="slidenum">
              <a:rPr lang="en-US" altLang="en-US" sz="1000" b="0"/>
              <a:pPr eaLnBrk="1" hangingPunct="1"/>
              <a:t>4</a:t>
            </a:fld>
            <a:endParaRPr lang="en-US" altLang="en-US" sz="1000" b="0" dirty="0"/>
          </a:p>
        </p:txBody>
      </p:sp>
      <p:sp>
        <p:nvSpPr>
          <p:cNvPr id="13324" name="Rounded Rectangle 6"/>
          <p:cNvSpPr>
            <a:spLocks noChangeArrowheads="1"/>
          </p:cNvSpPr>
          <p:nvPr/>
        </p:nvSpPr>
        <p:spPr bwMode="auto">
          <a:xfrm>
            <a:off x="611188" y="1484313"/>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Purchases</a:t>
            </a:r>
          </a:p>
        </p:txBody>
      </p:sp>
      <p:sp>
        <p:nvSpPr>
          <p:cNvPr id="13325" name="Rounded Rectangle 7"/>
          <p:cNvSpPr>
            <a:spLocks noChangeArrowheads="1"/>
          </p:cNvSpPr>
          <p:nvPr/>
        </p:nvSpPr>
        <p:spPr bwMode="auto">
          <a:xfrm>
            <a:off x="611188" y="2060575"/>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Shipments</a:t>
            </a:r>
          </a:p>
        </p:txBody>
      </p:sp>
      <p:sp>
        <p:nvSpPr>
          <p:cNvPr id="13326" name="Rounded Rectangle 8"/>
          <p:cNvSpPr>
            <a:spLocks noChangeArrowheads="1"/>
          </p:cNvSpPr>
          <p:nvPr/>
        </p:nvSpPr>
        <p:spPr bwMode="auto">
          <a:xfrm>
            <a:off x="1979613" y="3429000"/>
            <a:ext cx="1439862"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Inventory</a:t>
            </a:r>
          </a:p>
        </p:txBody>
      </p:sp>
      <p:sp>
        <p:nvSpPr>
          <p:cNvPr id="13327" name="Rounded Rectangle 9"/>
          <p:cNvSpPr>
            <a:spLocks noChangeArrowheads="1"/>
          </p:cNvSpPr>
          <p:nvPr/>
        </p:nvSpPr>
        <p:spPr bwMode="auto">
          <a:xfrm>
            <a:off x="3563938" y="141287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Orders</a:t>
            </a:r>
          </a:p>
        </p:txBody>
      </p:sp>
      <p:sp>
        <p:nvSpPr>
          <p:cNvPr id="13328" name="Rounded Rectangle 10"/>
          <p:cNvSpPr>
            <a:spLocks noChangeArrowheads="1"/>
          </p:cNvSpPr>
          <p:nvPr/>
        </p:nvSpPr>
        <p:spPr bwMode="auto">
          <a:xfrm>
            <a:off x="5148263" y="141287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Customers</a:t>
            </a:r>
          </a:p>
        </p:txBody>
      </p:sp>
      <p:sp>
        <p:nvSpPr>
          <p:cNvPr id="13329" name="Rounded Rectangle 11"/>
          <p:cNvSpPr>
            <a:spLocks noChangeArrowheads="1"/>
          </p:cNvSpPr>
          <p:nvPr/>
        </p:nvSpPr>
        <p:spPr bwMode="auto">
          <a:xfrm>
            <a:off x="5435600" y="2924175"/>
            <a:ext cx="1439863"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Service</a:t>
            </a:r>
          </a:p>
        </p:txBody>
      </p:sp>
      <p:sp>
        <p:nvSpPr>
          <p:cNvPr id="13330" name="Rounded Rectangle 12"/>
          <p:cNvSpPr>
            <a:spLocks noChangeArrowheads="1"/>
          </p:cNvSpPr>
          <p:nvPr/>
        </p:nvSpPr>
        <p:spPr bwMode="auto">
          <a:xfrm>
            <a:off x="1258888" y="4292600"/>
            <a:ext cx="1441450" cy="504825"/>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Billing</a:t>
            </a:r>
          </a:p>
        </p:txBody>
      </p:sp>
      <p:sp>
        <p:nvSpPr>
          <p:cNvPr id="13331" name="Rounded Rectangle 13"/>
          <p:cNvSpPr>
            <a:spLocks noChangeArrowheads="1"/>
          </p:cNvSpPr>
          <p:nvPr/>
        </p:nvSpPr>
        <p:spPr bwMode="auto">
          <a:xfrm>
            <a:off x="2627313" y="479742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Accounting</a:t>
            </a:r>
          </a:p>
        </p:txBody>
      </p:sp>
      <p:sp>
        <p:nvSpPr>
          <p:cNvPr id="13332" name="Rounded Rectangle 14"/>
          <p:cNvSpPr>
            <a:spLocks noChangeArrowheads="1"/>
          </p:cNvSpPr>
          <p:nvPr/>
        </p:nvSpPr>
        <p:spPr bwMode="auto">
          <a:xfrm>
            <a:off x="4572000" y="4941888"/>
            <a:ext cx="1439863" cy="503237"/>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HR</a:t>
            </a:r>
          </a:p>
        </p:txBody>
      </p:sp>
      <p:sp>
        <p:nvSpPr>
          <p:cNvPr id="16" name="Rounded Rectangle 15"/>
          <p:cNvSpPr/>
          <p:nvPr/>
        </p:nvSpPr>
        <p:spPr bwMode="auto">
          <a:xfrm>
            <a:off x="6084888" y="2060575"/>
            <a:ext cx="1439862" cy="504825"/>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Marketing</a:t>
            </a:r>
          </a:p>
        </p:txBody>
      </p:sp>
      <p:sp>
        <p:nvSpPr>
          <p:cNvPr id="17" name="Rounded Rectangle 16"/>
          <p:cNvSpPr/>
          <p:nvPr/>
        </p:nvSpPr>
        <p:spPr bwMode="auto">
          <a:xfrm>
            <a:off x="7380288" y="3500438"/>
            <a:ext cx="1439862" cy="504825"/>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Planning</a:t>
            </a:r>
          </a:p>
        </p:txBody>
      </p:sp>
      <p:sp>
        <p:nvSpPr>
          <p:cNvPr id="13335" name="Rounded Rectangle 17"/>
          <p:cNvSpPr>
            <a:spLocks noChangeArrowheads="1"/>
          </p:cNvSpPr>
          <p:nvPr/>
        </p:nvSpPr>
        <p:spPr bwMode="auto">
          <a:xfrm>
            <a:off x="2627313" y="4149725"/>
            <a:ext cx="1439862" cy="503238"/>
          </a:xfrm>
          <a:prstGeom prst="roundRect">
            <a:avLst>
              <a:gd name="adj" fmla="val 16667"/>
            </a:avLst>
          </a:prstGeom>
          <a:solidFill>
            <a:schemeClr val="accent1"/>
          </a:solidFill>
          <a:ln w="9525" algn="ctr">
            <a:solidFill>
              <a:schemeClr val="tx1"/>
            </a:solidFill>
            <a:round/>
            <a:headEnd/>
            <a:tailEnd/>
          </a:ln>
        </p:spPr>
        <p:txBody>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ctr" eaLnBrk="1" hangingPunct="1"/>
            <a:r>
              <a:rPr lang="en-IE" sz="1600" dirty="0"/>
              <a:t>Assets</a:t>
            </a:r>
          </a:p>
        </p:txBody>
      </p:sp>
      <p:sp>
        <p:nvSpPr>
          <p:cNvPr id="19" name="Rounded Rectangle 18"/>
          <p:cNvSpPr/>
          <p:nvPr/>
        </p:nvSpPr>
        <p:spPr bwMode="auto">
          <a:xfrm>
            <a:off x="7308850" y="4221163"/>
            <a:ext cx="1574800" cy="711200"/>
          </a:xfrm>
          <a:prstGeom prst="roundRect">
            <a:avLst/>
          </a:prstGeom>
          <a:solidFill>
            <a:schemeClr val="accent1"/>
          </a:solidFill>
          <a:ln w="38100" cap="flat" cmpd="sng" algn="ctr">
            <a:solidFill>
              <a:schemeClr val="tx2">
                <a:lumMod val="50000"/>
              </a:schemeClr>
            </a:solidFill>
            <a:prstDash val="dash"/>
            <a:round/>
            <a:headEnd type="none" w="med" len="med"/>
            <a:tailEnd type="none" w="med" len="med"/>
          </a:ln>
          <a:effectLst/>
        </p:spPr>
        <p:txBody>
          <a:bodyPr/>
          <a:lstStyle/>
          <a:p>
            <a:pPr algn="ctr">
              <a:defRPr/>
            </a:pPr>
            <a:r>
              <a:rPr lang="en-IE" sz="1600" dirty="0">
                <a:latin typeface="Arial" charset="0"/>
              </a:rPr>
              <a:t>Project management</a:t>
            </a:r>
          </a:p>
        </p:txBody>
      </p:sp>
      <p:sp>
        <p:nvSpPr>
          <p:cNvPr id="13337" name="TextBox 23"/>
          <p:cNvSpPr txBox="1">
            <a:spLocks noChangeArrowheads="1"/>
          </p:cNvSpPr>
          <p:nvPr/>
        </p:nvSpPr>
        <p:spPr bwMode="auto">
          <a:xfrm>
            <a:off x="179388" y="4437063"/>
            <a:ext cx="12239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dirty="0"/>
              <a:t>Finance </a:t>
            </a:r>
          </a:p>
          <a:p>
            <a:pPr eaLnBrk="1" hangingPunct="1"/>
            <a:r>
              <a:rPr lang="en-IE" dirty="0" err="1"/>
              <a:t>dept</a:t>
            </a:r>
            <a:endParaRPr lang="en-IE"/>
          </a:p>
        </p:txBody>
      </p:sp>
      <p:sp>
        <p:nvSpPr>
          <p:cNvPr id="13338" name="TextBox 26"/>
          <p:cNvSpPr txBox="1">
            <a:spLocks noChangeArrowheads="1"/>
          </p:cNvSpPr>
          <p:nvPr/>
        </p:nvSpPr>
        <p:spPr bwMode="auto">
          <a:xfrm>
            <a:off x="395288" y="3573463"/>
            <a:ext cx="1558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Warehouse</a:t>
            </a:r>
          </a:p>
        </p:txBody>
      </p:sp>
      <p:sp>
        <p:nvSpPr>
          <p:cNvPr id="13339" name="TextBox 28"/>
          <p:cNvSpPr txBox="1">
            <a:spLocks noChangeArrowheads="1"/>
          </p:cNvSpPr>
          <p:nvPr/>
        </p:nvSpPr>
        <p:spPr bwMode="auto">
          <a:xfrm>
            <a:off x="598488" y="2565400"/>
            <a:ext cx="1309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Logistics</a:t>
            </a:r>
          </a:p>
        </p:txBody>
      </p:sp>
      <p:sp>
        <p:nvSpPr>
          <p:cNvPr id="13340" name="TextBox 29"/>
          <p:cNvSpPr txBox="1">
            <a:spLocks noChangeArrowheads="1"/>
          </p:cNvSpPr>
          <p:nvPr/>
        </p:nvSpPr>
        <p:spPr bwMode="auto">
          <a:xfrm>
            <a:off x="3492500" y="1989138"/>
            <a:ext cx="854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Sales</a:t>
            </a:r>
          </a:p>
        </p:txBody>
      </p:sp>
      <p:sp>
        <p:nvSpPr>
          <p:cNvPr id="13341" name="TextBox 32"/>
          <p:cNvSpPr txBox="1">
            <a:spLocks noChangeArrowheads="1"/>
          </p:cNvSpPr>
          <p:nvPr/>
        </p:nvSpPr>
        <p:spPr bwMode="auto">
          <a:xfrm>
            <a:off x="7667625" y="2060575"/>
            <a:ext cx="1395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Marketing</a:t>
            </a:r>
          </a:p>
        </p:txBody>
      </p:sp>
      <p:sp>
        <p:nvSpPr>
          <p:cNvPr id="13342" name="TextBox 34"/>
          <p:cNvSpPr txBox="1">
            <a:spLocks noChangeArrowheads="1"/>
          </p:cNvSpPr>
          <p:nvPr/>
        </p:nvSpPr>
        <p:spPr bwMode="auto">
          <a:xfrm>
            <a:off x="6011863" y="4581525"/>
            <a:ext cx="557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HR</a:t>
            </a:r>
          </a:p>
        </p:txBody>
      </p:sp>
      <p:sp>
        <p:nvSpPr>
          <p:cNvPr id="13343" name="TextBox 35"/>
          <p:cNvSpPr txBox="1">
            <a:spLocks noChangeArrowheads="1"/>
          </p:cNvSpPr>
          <p:nvPr/>
        </p:nvSpPr>
        <p:spPr bwMode="auto">
          <a:xfrm>
            <a:off x="4284663" y="2492375"/>
            <a:ext cx="1493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IE"/>
              <a:t>Call centre</a:t>
            </a:r>
          </a:p>
        </p:txBody>
      </p:sp>
    </p:spTree>
    <p:extLst>
      <p:ext uri="{BB962C8B-B14F-4D97-AF65-F5344CB8AC3E}">
        <p14:creationId xmlns:p14="http://schemas.microsoft.com/office/powerpoint/2010/main" val="28411504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ounded Rectangle 237"/>
          <p:cNvSpPr/>
          <p:nvPr/>
        </p:nvSpPr>
        <p:spPr>
          <a:xfrm>
            <a:off x="7239000" y="1920875"/>
            <a:ext cx="1520825" cy="3946525"/>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7" name="Rounded Rectangle 236"/>
          <p:cNvSpPr/>
          <p:nvPr/>
        </p:nvSpPr>
        <p:spPr>
          <a:xfrm>
            <a:off x="249238" y="1600200"/>
            <a:ext cx="5526087" cy="4375150"/>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smtClean="0"/>
              <a:t>Anatomy of Enterprise</a:t>
            </a:r>
            <a:endParaRPr lang="en-US" dirty="0"/>
          </a:p>
        </p:txBody>
      </p:sp>
      <p:sp>
        <p:nvSpPr>
          <p:cNvPr id="3" name="Content Placeholder 2"/>
          <p:cNvSpPr>
            <a:spLocks noGrp="1"/>
          </p:cNvSpPr>
          <p:nvPr>
            <p:ph idx="1"/>
          </p:nvPr>
        </p:nvSpPr>
        <p:spPr/>
        <p:txBody>
          <a:bodyPr/>
          <a:lstStyle/>
          <a:p>
            <a:endParaRPr lang="en-US" dirty="0"/>
          </a:p>
        </p:txBody>
      </p:sp>
      <p:grpSp>
        <p:nvGrpSpPr>
          <p:cNvPr id="9" name="Group 5"/>
          <p:cNvGrpSpPr>
            <a:grpSpLocks/>
          </p:cNvGrpSpPr>
          <p:nvPr/>
        </p:nvGrpSpPr>
        <p:grpSpPr bwMode="auto">
          <a:xfrm>
            <a:off x="6056313" y="3659188"/>
            <a:ext cx="682625" cy="2001837"/>
            <a:chOff x="1325" y="1463"/>
            <a:chExt cx="430" cy="1261"/>
          </a:xfrm>
        </p:grpSpPr>
        <p:sp>
          <p:nvSpPr>
            <p:cNvPr id="10" name="Rectangle 6"/>
            <p:cNvSpPr>
              <a:spLocks noChangeArrowheads="1"/>
            </p:cNvSpPr>
            <p:nvPr/>
          </p:nvSpPr>
          <p:spPr bwMode="auto">
            <a:xfrm>
              <a:off x="1325" y="1752"/>
              <a:ext cx="76" cy="972"/>
            </a:xfrm>
            <a:prstGeom prst="rect">
              <a:avLst/>
            </a:prstGeom>
            <a:solidFill>
              <a:srgbClr val="CC6600"/>
            </a:solidFill>
            <a:ln w="9525">
              <a:miter lim="800000"/>
              <a:headEnd/>
              <a:tailEnd/>
            </a:ln>
            <a:effectLst/>
            <a:scene3d>
              <a:camera prst="legacyObliqueTopRight"/>
              <a:lightRig rig="legacyFlat2" dir="b"/>
            </a:scene3d>
            <a:sp3d extrusionH="1547800" prstMaterial="legacyMatte">
              <a:bevelT w="13500" h="13500" prst="angle"/>
              <a:bevelB w="13500" h="13500" prst="angle"/>
              <a:extrusionClr>
                <a:srgbClr val="9933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dirty="0"/>
            </a:p>
          </p:txBody>
        </p:sp>
        <p:sp>
          <p:nvSpPr>
            <p:cNvPr id="11" name="Line 7"/>
            <p:cNvSpPr>
              <a:spLocks noChangeShapeType="1"/>
            </p:cNvSpPr>
            <p:nvPr/>
          </p:nvSpPr>
          <p:spPr bwMode="auto">
            <a:xfrm flipV="1">
              <a:off x="1403" y="1477"/>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 name="Line 8"/>
            <p:cNvSpPr>
              <a:spLocks noChangeShapeType="1"/>
            </p:cNvSpPr>
            <p:nvPr/>
          </p:nvSpPr>
          <p:spPr bwMode="auto">
            <a:xfrm flipV="1">
              <a:off x="1403" y="1560"/>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 name="Line 9"/>
            <p:cNvSpPr>
              <a:spLocks noChangeShapeType="1"/>
            </p:cNvSpPr>
            <p:nvPr/>
          </p:nvSpPr>
          <p:spPr bwMode="auto">
            <a:xfrm flipV="1">
              <a:off x="1405" y="1643"/>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 name="Line 10"/>
            <p:cNvSpPr>
              <a:spLocks noChangeShapeType="1"/>
            </p:cNvSpPr>
            <p:nvPr/>
          </p:nvSpPr>
          <p:spPr bwMode="auto">
            <a:xfrm flipV="1">
              <a:off x="1403" y="1726"/>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 name="Line 11"/>
            <p:cNvSpPr>
              <a:spLocks noChangeShapeType="1"/>
            </p:cNvSpPr>
            <p:nvPr/>
          </p:nvSpPr>
          <p:spPr bwMode="auto">
            <a:xfrm flipV="1">
              <a:off x="1402" y="1809"/>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 name="Line 12"/>
            <p:cNvSpPr>
              <a:spLocks noChangeShapeType="1"/>
            </p:cNvSpPr>
            <p:nvPr/>
          </p:nvSpPr>
          <p:spPr bwMode="auto">
            <a:xfrm flipV="1">
              <a:off x="1402" y="1893"/>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7" name="Line 13"/>
            <p:cNvSpPr>
              <a:spLocks noChangeShapeType="1"/>
            </p:cNvSpPr>
            <p:nvPr/>
          </p:nvSpPr>
          <p:spPr bwMode="auto">
            <a:xfrm flipV="1">
              <a:off x="1400" y="1976"/>
              <a:ext cx="355" cy="35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8" name="Line 14"/>
            <p:cNvSpPr>
              <a:spLocks noChangeShapeType="1"/>
            </p:cNvSpPr>
            <p:nvPr/>
          </p:nvSpPr>
          <p:spPr bwMode="auto">
            <a:xfrm flipV="1">
              <a:off x="1405" y="2059"/>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9" name="Line 15"/>
            <p:cNvSpPr>
              <a:spLocks noChangeShapeType="1"/>
            </p:cNvSpPr>
            <p:nvPr/>
          </p:nvSpPr>
          <p:spPr bwMode="auto">
            <a:xfrm flipV="1">
              <a:off x="1405" y="2142"/>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0" name="Line 16"/>
            <p:cNvSpPr>
              <a:spLocks noChangeShapeType="1"/>
            </p:cNvSpPr>
            <p:nvPr/>
          </p:nvSpPr>
          <p:spPr bwMode="auto">
            <a:xfrm flipV="1">
              <a:off x="1405" y="2220"/>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1" name="Line 17"/>
            <p:cNvSpPr>
              <a:spLocks noChangeShapeType="1"/>
            </p:cNvSpPr>
            <p:nvPr/>
          </p:nvSpPr>
          <p:spPr bwMode="auto">
            <a:xfrm flipV="1">
              <a:off x="1405" y="2294"/>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2" name="Line 18"/>
            <p:cNvSpPr>
              <a:spLocks noChangeShapeType="1"/>
            </p:cNvSpPr>
            <p:nvPr/>
          </p:nvSpPr>
          <p:spPr bwMode="auto">
            <a:xfrm flipH="1">
              <a:off x="1329" y="2646"/>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3" name="Line 19"/>
            <p:cNvSpPr>
              <a:spLocks noChangeShapeType="1"/>
            </p:cNvSpPr>
            <p:nvPr/>
          </p:nvSpPr>
          <p:spPr bwMode="auto">
            <a:xfrm flipH="1">
              <a:off x="1329" y="257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4" name="Line 20"/>
            <p:cNvSpPr>
              <a:spLocks noChangeShapeType="1"/>
            </p:cNvSpPr>
            <p:nvPr/>
          </p:nvSpPr>
          <p:spPr bwMode="auto">
            <a:xfrm flipH="1">
              <a:off x="1329" y="2494"/>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5" name="Line 21"/>
            <p:cNvSpPr>
              <a:spLocks noChangeShapeType="1"/>
            </p:cNvSpPr>
            <p:nvPr/>
          </p:nvSpPr>
          <p:spPr bwMode="auto">
            <a:xfrm flipH="1">
              <a:off x="1329" y="241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6" name="Line 22"/>
            <p:cNvSpPr>
              <a:spLocks noChangeShapeType="1"/>
            </p:cNvSpPr>
            <p:nvPr/>
          </p:nvSpPr>
          <p:spPr bwMode="auto">
            <a:xfrm flipH="1">
              <a:off x="1329" y="2331"/>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7" name="Line 23"/>
            <p:cNvSpPr>
              <a:spLocks noChangeShapeType="1"/>
            </p:cNvSpPr>
            <p:nvPr/>
          </p:nvSpPr>
          <p:spPr bwMode="auto">
            <a:xfrm flipH="1">
              <a:off x="1329" y="2244"/>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8" name="Line 24"/>
            <p:cNvSpPr>
              <a:spLocks noChangeShapeType="1"/>
            </p:cNvSpPr>
            <p:nvPr/>
          </p:nvSpPr>
          <p:spPr bwMode="auto">
            <a:xfrm flipH="1">
              <a:off x="1330" y="2161"/>
              <a:ext cx="77"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29" name="Line 25"/>
            <p:cNvSpPr>
              <a:spLocks noChangeShapeType="1"/>
            </p:cNvSpPr>
            <p:nvPr/>
          </p:nvSpPr>
          <p:spPr bwMode="auto">
            <a:xfrm flipH="1">
              <a:off x="1329" y="2078"/>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0" name="Line 26"/>
            <p:cNvSpPr>
              <a:spLocks noChangeShapeType="1"/>
            </p:cNvSpPr>
            <p:nvPr/>
          </p:nvSpPr>
          <p:spPr bwMode="auto">
            <a:xfrm flipH="1">
              <a:off x="1330" y="1995"/>
              <a:ext cx="77"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1" name="Line 27"/>
            <p:cNvSpPr>
              <a:spLocks noChangeShapeType="1"/>
            </p:cNvSpPr>
            <p:nvPr/>
          </p:nvSpPr>
          <p:spPr bwMode="auto">
            <a:xfrm flipH="1">
              <a:off x="1329" y="191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2" name="Line 28"/>
            <p:cNvSpPr>
              <a:spLocks noChangeShapeType="1"/>
            </p:cNvSpPr>
            <p:nvPr/>
          </p:nvSpPr>
          <p:spPr bwMode="auto">
            <a:xfrm flipH="1">
              <a:off x="1327" y="1830"/>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3" name="Line 29"/>
            <p:cNvSpPr>
              <a:spLocks noChangeShapeType="1"/>
            </p:cNvSpPr>
            <p:nvPr/>
          </p:nvSpPr>
          <p:spPr bwMode="auto">
            <a:xfrm>
              <a:off x="1477" y="2504"/>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4" name="Line 30"/>
            <p:cNvSpPr>
              <a:spLocks noChangeShapeType="1"/>
            </p:cNvSpPr>
            <p:nvPr/>
          </p:nvSpPr>
          <p:spPr bwMode="auto">
            <a:xfrm>
              <a:off x="1551" y="243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5" name="Line 31"/>
            <p:cNvSpPr>
              <a:spLocks noChangeShapeType="1"/>
            </p:cNvSpPr>
            <p:nvPr/>
          </p:nvSpPr>
          <p:spPr bwMode="auto">
            <a:xfrm>
              <a:off x="1622" y="2360"/>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6" name="Line 32"/>
            <p:cNvSpPr>
              <a:spLocks noChangeShapeType="1"/>
            </p:cNvSpPr>
            <p:nvPr/>
          </p:nvSpPr>
          <p:spPr bwMode="auto">
            <a:xfrm>
              <a:off x="1688" y="229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7" name="Line 33"/>
            <p:cNvSpPr>
              <a:spLocks noChangeShapeType="1"/>
            </p:cNvSpPr>
            <p:nvPr/>
          </p:nvSpPr>
          <p:spPr bwMode="auto">
            <a:xfrm>
              <a:off x="1477" y="235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8" name="Line 34"/>
            <p:cNvSpPr>
              <a:spLocks noChangeShapeType="1"/>
            </p:cNvSpPr>
            <p:nvPr/>
          </p:nvSpPr>
          <p:spPr bwMode="auto">
            <a:xfrm>
              <a:off x="1551" y="227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39" name="Line 35"/>
            <p:cNvSpPr>
              <a:spLocks noChangeShapeType="1"/>
            </p:cNvSpPr>
            <p:nvPr/>
          </p:nvSpPr>
          <p:spPr bwMode="auto">
            <a:xfrm>
              <a:off x="1622" y="220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0" name="Line 36"/>
            <p:cNvSpPr>
              <a:spLocks noChangeShapeType="1"/>
            </p:cNvSpPr>
            <p:nvPr/>
          </p:nvSpPr>
          <p:spPr bwMode="auto">
            <a:xfrm>
              <a:off x="1688" y="213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1" name="Line 37"/>
            <p:cNvSpPr>
              <a:spLocks noChangeShapeType="1"/>
            </p:cNvSpPr>
            <p:nvPr/>
          </p:nvSpPr>
          <p:spPr bwMode="auto">
            <a:xfrm>
              <a:off x="1477" y="2182"/>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2" name="Line 38"/>
            <p:cNvSpPr>
              <a:spLocks noChangeShapeType="1"/>
            </p:cNvSpPr>
            <p:nvPr/>
          </p:nvSpPr>
          <p:spPr bwMode="auto">
            <a:xfrm>
              <a:off x="1551" y="210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3" name="Line 39"/>
            <p:cNvSpPr>
              <a:spLocks noChangeShapeType="1"/>
            </p:cNvSpPr>
            <p:nvPr/>
          </p:nvSpPr>
          <p:spPr bwMode="auto">
            <a:xfrm>
              <a:off x="1622" y="203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4" name="Line 40"/>
            <p:cNvSpPr>
              <a:spLocks noChangeShapeType="1"/>
            </p:cNvSpPr>
            <p:nvPr/>
          </p:nvSpPr>
          <p:spPr bwMode="auto">
            <a:xfrm>
              <a:off x="1688" y="196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5" name="Line 41"/>
            <p:cNvSpPr>
              <a:spLocks noChangeShapeType="1"/>
            </p:cNvSpPr>
            <p:nvPr/>
          </p:nvSpPr>
          <p:spPr bwMode="auto">
            <a:xfrm>
              <a:off x="1477" y="201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6" name="Line 42"/>
            <p:cNvSpPr>
              <a:spLocks noChangeShapeType="1"/>
            </p:cNvSpPr>
            <p:nvPr/>
          </p:nvSpPr>
          <p:spPr bwMode="auto">
            <a:xfrm>
              <a:off x="1551" y="193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7" name="Line 43"/>
            <p:cNvSpPr>
              <a:spLocks noChangeShapeType="1"/>
            </p:cNvSpPr>
            <p:nvPr/>
          </p:nvSpPr>
          <p:spPr bwMode="auto">
            <a:xfrm>
              <a:off x="1622" y="186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8" name="Line 44"/>
            <p:cNvSpPr>
              <a:spLocks noChangeShapeType="1"/>
            </p:cNvSpPr>
            <p:nvPr/>
          </p:nvSpPr>
          <p:spPr bwMode="auto">
            <a:xfrm>
              <a:off x="1688" y="1799"/>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49" name="Line 45"/>
            <p:cNvSpPr>
              <a:spLocks noChangeShapeType="1"/>
            </p:cNvSpPr>
            <p:nvPr/>
          </p:nvSpPr>
          <p:spPr bwMode="auto">
            <a:xfrm>
              <a:off x="1477" y="184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0" name="Line 46"/>
            <p:cNvSpPr>
              <a:spLocks noChangeShapeType="1"/>
            </p:cNvSpPr>
            <p:nvPr/>
          </p:nvSpPr>
          <p:spPr bwMode="auto">
            <a:xfrm>
              <a:off x="1551" y="176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1" name="Line 47"/>
            <p:cNvSpPr>
              <a:spLocks noChangeShapeType="1"/>
            </p:cNvSpPr>
            <p:nvPr/>
          </p:nvSpPr>
          <p:spPr bwMode="auto">
            <a:xfrm>
              <a:off x="1622" y="169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2" name="Line 48"/>
            <p:cNvSpPr>
              <a:spLocks noChangeShapeType="1"/>
            </p:cNvSpPr>
            <p:nvPr/>
          </p:nvSpPr>
          <p:spPr bwMode="auto">
            <a:xfrm>
              <a:off x="1688" y="1629"/>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3" name="Line 49"/>
            <p:cNvSpPr>
              <a:spLocks noChangeShapeType="1"/>
            </p:cNvSpPr>
            <p:nvPr/>
          </p:nvSpPr>
          <p:spPr bwMode="auto">
            <a:xfrm>
              <a:off x="1477" y="167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4" name="Line 50"/>
            <p:cNvSpPr>
              <a:spLocks noChangeShapeType="1"/>
            </p:cNvSpPr>
            <p:nvPr/>
          </p:nvSpPr>
          <p:spPr bwMode="auto">
            <a:xfrm>
              <a:off x="1551" y="1602"/>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5" name="Line 51"/>
            <p:cNvSpPr>
              <a:spLocks noChangeShapeType="1"/>
            </p:cNvSpPr>
            <p:nvPr/>
          </p:nvSpPr>
          <p:spPr bwMode="auto">
            <a:xfrm>
              <a:off x="1622" y="153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6" name="Line 52"/>
            <p:cNvSpPr>
              <a:spLocks noChangeShapeType="1"/>
            </p:cNvSpPr>
            <p:nvPr/>
          </p:nvSpPr>
          <p:spPr bwMode="auto">
            <a:xfrm>
              <a:off x="1688" y="1463"/>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7" name="Line 53"/>
            <p:cNvSpPr>
              <a:spLocks noChangeShapeType="1"/>
            </p:cNvSpPr>
            <p:nvPr/>
          </p:nvSpPr>
          <p:spPr bwMode="auto">
            <a:xfrm>
              <a:off x="1517" y="172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8" name="Line 54"/>
            <p:cNvSpPr>
              <a:spLocks noChangeShapeType="1"/>
            </p:cNvSpPr>
            <p:nvPr/>
          </p:nvSpPr>
          <p:spPr bwMode="auto">
            <a:xfrm>
              <a:off x="1591" y="164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59" name="Line 55"/>
            <p:cNvSpPr>
              <a:spLocks noChangeShapeType="1"/>
            </p:cNvSpPr>
            <p:nvPr/>
          </p:nvSpPr>
          <p:spPr bwMode="auto">
            <a:xfrm>
              <a:off x="1662" y="157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0" name="Line 56"/>
            <p:cNvSpPr>
              <a:spLocks noChangeShapeType="1"/>
            </p:cNvSpPr>
            <p:nvPr/>
          </p:nvSpPr>
          <p:spPr bwMode="auto">
            <a:xfrm>
              <a:off x="1728" y="150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1" name="Line 57"/>
            <p:cNvSpPr>
              <a:spLocks noChangeShapeType="1"/>
            </p:cNvSpPr>
            <p:nvPr/>
          </p:nvSpPr>
          <p:spPr bwMode="auto">
            <a:xfrm>
              <a:off x="1442" y="179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2" name="Line 58"/>
            <p:cNvSpPr>
              <a:spLocks noChangeShapeType="1"/>
            </p:cNvSpPr>
            <p:nvPr/>
          </p:nvSpPr>
          <p:spPr bwMode="auto">
            <a:xfrm>
              <a:off x="1513" y="1893"/>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3" name="Line 59"/>
            <p:cNvSpPr>
              <a:spLocks noChangeShapeType="1"/>
            </p:cNvSpPr>
            <p:nvPr/>
          </p:nvSpPr>
          <p:spPr bwMode="auto">
            <a:xfrm>
              <a:off x="1588" y="181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4" name="Line 60"/>
            <p:cNvSpPr>
              <a:spLocks noChangeShapeType="1"/>
            </p:cNvSpPr>
            <p:nvPr/>
          </p:nvSpPr>
          <p:spPr bwMode="auto">
            <a:xfrm>
              <a:off x="1659" y="174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5" name="Line 61"/>
            <p:cNvSpPr>
              <a:spLocks noChangeShapeType="1"/>
            </p:cNvSpPr>
            <p:nvPr/>
          </p:nvSpPr>
          <p:spPr bwMode="auto">
            <a:xfrm>
              <a:off x="1725" y="168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6" name="Line 62"/>
            <p:cNvSpPr>
              <a:spLocks noChangeShapeType="1"/>
            </p:cNvSpPr>
            <p:nvPr/>
          </p:nvSpPr>
          <p:spPr bwMode="auto">
            <a:xfrm>
              <a:off x="1439" y="196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7" name="Line 63"/>
            <p:cNvSpPr>
              <a:spLocks noChangeShapeType="1"/>
            </p:cNvSpPr>
            <p:nvPr/>
          </p:nvSpPr>
          <p:spPr bwMode="auto">
            <a:xfrm>
              <a:off x="1513" y="2061"/>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8" name="Line 64"/>
            <p:cNvSpPr>
              <a:spLocks noChangeShapeType="1"/>
            </p:cNvSpPr>
            <p:nvPr/>
          </p:nvSpPr>
          <p:spPr bwMode="auto">
            <a:xfrm>
              <a:off x="1588" y="198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69" name="Line 65"/>
            <p:cNvSpPr>
              <a:spLocks noChangeShapeType="1"/>
            </p:cNvSpPr>
            <p:nvPr/>
          </p:nvSpPr>
          <p:spPr bwMode="auto">
            <a:xfrm>
              <a:off x="1659" y="191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0" name="Line 66"/>
            <p:cNvSpPr>
              <a:spLocks noChangeShapeType="1"/>
            </p:cNvSpPr>
            <p:nvPr/>
          </p:nvSpPr>
          <p:spPr bwMode="auto">
            <a:xfrm>
              <a:off x="1725" y="184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1" name="Line 67"/>
            <p:cNvSpPr>
              <a:spLocks noChangeShapeType="1"/>
            </p:cNvSpPr>
            <p:nvPr/>
          </p:nvSpPr>
          <p:spPr bwMode="auto">
            <a:xfrm>
              <a:off x="1439" y="213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2" name="Line 68"/>
            <p:cNvSpPr>
              <a:spLocks noChangeShapeType="1"/>
            </p:cNvSpPr>
            <p:nvPr/>
          </p:nvSpPr>
          <p:spPr bwMode="auto">
            <a:xfrm>
              <a:off x="1513" y="222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3" name="Line 69"/>
            <p:cNvSpPr>
              <a:spLocks noChangeShapeType="1"/>
            </p:cNvSpPr>
            <p:nvPr/>
          </p:nvSpPr>
          <p:spPr bwMode="auto">
            <a:xfrm>
              <a:off x="1588" y="2151"/>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4" name="Line 70"/>
            <p:cNvSpPr>
              <a:spLocks noChangeShapeType="1"/>
            </p:cNvSpPr>
            <p:nvPr/>
          </p:nvSpPr>
          <p:spPr bwMode="auto">
            <a:xfrm>
              <a:off x="1659" y="208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5" name="Line 71"/>
            <p:cNvSpPr>
              <a:spLocks noChangeShapeType="1"/>
            </p:cNvSpPr>
            <p:nvPr/>
          </p:nvSpPr>
          <p:spPr bwMode="auto">
            <a:xfrm>
              <a:off x="1725" y="201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6" name="Line 72"/>
            <p:cNvSpPr>
              <a:spLocks noChangeShapeType="1"/>
            </p:cNvSpPr>
            <p:nvPr/>
          </p:nvSpPr>
          <p:spPr bwMode="auto">
            <a:xfrm>
              <a:off x="1439" y="230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7" name="Line 73"/>
            <p:cNvSpPr>
              <a:spLocks noChangeShapeType="1"/>
            </p:cNvSpPr>
            <p:nvPr/>
          </p:nvSpPr>
          <p:spPr bwMode="auto">
            <a:xfrm>
              <a:off x="1513" y="239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8" name="Line 74"/>
            <p:cNvSpPr>
              <a:spLocks noChangeShapeType="1"/>
            </p:cNvSpPr>
            <p:nvPr/>
          </p:nvSpPr>
          <p:spPr bwMode="auto">
            <a:xfrm>
              <a:off x="1588" y="231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79" name="Line 75"/>
            <p:cNvSpPr>
              <a:spLocks noChangeShapeType="1"/>
            </p:cNvSpPr>
            <p:nvPr/>
          </p:nvSpPr>
          <p:spPr bwMode="auto">
            <a:xfrm>
              <a:off x="1659" y="224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0" name="Line 76"/>
            <p:cNvSpPr>
              <a:spLocks noChangeShapeType="1"/>
            </p:cNvSpPr>
            <p:nvPr/>
          </p:nvSpPr>
          <p:spPr bwMode="auto">
            <a:xfrm>
              <a:off x="1725" y="217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1" name="Line 77"/>
            <p:cNvSpPr>
              <a:spLocks noChangeShapeType="1"/>
            </p:cNvSpPr>
            <p:nvPr/>
          </p:nvSpPr>
          <p:spPr bwMode="auto">
            <a:xfrm>
              <a:off x="1439" y="246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2" name="Line 78"/>
            <p:cNvSpPr>
              <a:spLocks noChangeShapeType="1"/>
            </p:cNvSpPr>
            <p:nvPr/>
          </p:nvSpPr>
          <p:spPr bwMode="auto">
            <a:xfrm>
              <a:off x="1513" y="2540"/>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3" name="Line 79"/>
            <p:cNvSpPr>
              <a:spLocks noChangeShapeType="1"/>
            </p:cNvSpPr>
            <p:nvPr/>
          </p:nvSpPr>
          <p:spPr bwMode="auto">
            <a:xfrm>
              <a:off x="1588" y="246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4" name="Line 80"/>
            <p:cNvSpPr>
              <a:spLocks noChangeShapeType="1"/>
            </p:cNvSpPr>
            <p:nvPr/>
          </p:nvSpPr>
          <p:spPr bwMode="auto">
            <a:xfrm>
              <a:off x="1659" y="239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5" name="Line 81"/>
            <p:cNvSpPr>
              <a:spLocks noChangeShapeType="1"/>
            </p:cNvSpPr>
            <p:nvPr/>
          </p:nvSpPr>
          <p:spPr bwMode="auto">
            <a:xfrm>
              <a:off x="1725" y="232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86" name="Line 82"/>
            <p:cNvSpPr>
              <a:spLocks noChangeShapeType="1"/>
            </p:cNvSpPr>
            <p:nvPr/>
          </p:nvSpPr>
          <p:spPr bwMode="auto">
            <a:xfrm>
              <a:off x="1439" y="261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grpSp>
      <p:grpSp>
        <p:nvGrpSpPr>
          <p:cNvPr id="87" name="Group 83"/>
          <p:cNvGrpSpPr>
            <a:grpSpLocks/>
          </p:cNvGrpSpPr>
          <p:nvPr/>
        </p:nvGrpSpPr>
        <p:grpSpPr bwMode="auto">
          <a:xfrm>
            <a:off x="6056313" y="2122488"/>
            <a:ext cx="682625" cy="2001837"/>
            <a:chOff x="1325" y="1463"/>
            <a:chExt cx="430" cy="1261"/>
          </a:xfrm>
        </p:grpSpPr>
        <p:sp>
          <p:nvSpPr>
            <p:cNvPr id="88" name="Rectangle 84"/>
            <p:cNvSpPr>
              <a:spLocks noChangeArrowheads="1"/>
            </p:cNvSpPr>
            <p:nvPr/>
          </p:nvSpPr>
          <p:spPr bwMode="auto">
            <a:xfrm>
              <a:off x="1325" y="1752"/>
              <a:ext cx="76" cy="972"/>
            </a:xfrm>
            <a:prstGeom prst="rect">
              <a:avLst/>
            </a:prstGeom>
            <a:solidFill>
              <a:srgbClr val="CC6600"/>
            </a:solidFill>
            <a:ln w="9525">
              <a:miter lim="800000"/>
              <a:headEnd/>
              <a:tailEnd/>
            </a:ln>
            <a:effectLst/>
            <a:scene3d>
              <a:camera prst="legacyObliqueTopRight"/>
              <a:lightRig rig="legacyFlat2" dir="b"/>
            </a:scene3d>
            <a:sp3d extrusionH="1547800" prstMaterial="legacyMatte">
              <a:bevelT w="13500" h="13500" prst="angle"/>
              <a:bevelB w="13500" h="13500" prst="angle"/>
              <a:extrusionClr>
                <a:srgbClr val="9933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dirty="0"/>
            </a:p>
          </p:txBody>
        </p:sp>
        <p:sp>
          <p:nvSpPr>
            <p:cNvPr id="89" name="Line 85"/>
            <p:cNvSpPr>
              <a:spLocks noChangeShapeType="1"/>
            </p:cNvSpPr>
            <p:nvPr/>
          </p:nvSpPr>
          <p:spPr bwMode="auto">
            <a:xfrm flipV="1">
              <a:off x="1403" y="1477"/>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0" name="Line 86"/>
            <p:cNvSpPr>
              <a:spLocks noChangeShapeType="1"/>
            </p:cNvSpPr>
            <p:nvPr/>
          </p:nvSpPr>
          <p:spPr bwMode="auto">
            <a:xfrm flipV="1">
              <a:off x="1403" y="1560"/>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1" name="Line 87"/>
            <p:cNvSpPr>
              <a:spLocks noChangeShapeType="1"/>
            </p:cNvSpPr>
            <p:nvPr/>
          </p:nvSpPr>
          <p:spPr bwMode="auto">
            <a:xfrm flipV="1">
              <a:off x="1405" y="1643"/>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2" name="Line 88"/>
            <p:cNvSpPr>
              <a:spLocks noChangeShapeType="1"/>
            </p:cNvSpPr>
            <p:nvPr/>
          </p:nvSpPr>
          <p:spPr bwMode="auto">
            <a:xfrm flipV="1">
              <a:off x="1403" y="1726"/>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3" name="Line 89"/>
            <p:cNvSpPr>
              <a:spLocks noChangeShapeType="1"/>
            </p:cNvSpPr>
            <p:nvPr/>
          </p:nvSpPr>
          <p:spPr bwMode="auto">
            <a:xfrm flipV="1">
              <a:off x="1402" y="1809"/>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4" name="Line 90"/>
            <p:cNvSpPr>
              <a:spLocks noChangeShapeType="1"/>
            </p:cNvSpPr>
            <p:nvPr/>
          </p:nvSpPr>
          <p:spPr bwMode="auto">
            <a:xfrm flipV="1">
              <a:off x="1402" y="1893"/>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5" name="Line 91"/>
            <p:cNvSpPr>
              <a:spLocks noChangeShapeType="1"/>
            </p:cNvSpPr>
            <p:nvPr/>
          </p:nvSpPr>
          <p:spPr bwMode="auto">
            <a:xfrm flipV="1">
              <a:off x="1400" y="1976"/>
              <a:ext cx="355" cy="35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6" name="Line 92"/>
            <p:cNvSpPr>
              <a:spLocks noChangeShapeType="1"/>
            </p:cNvSpPr>
            <p:nvPr/>
          </p:nvSpPr>
          <p:spPr bwMode="auto">
            <a:xfrm flipV="1">
              <a:off x="1405" y="2059"/>
              <a:ext cx="350" cy="351"/>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7" name="Line 93"/>
            <p:cNvSpPr>
              <a:spLocks noChangeShapeType="1"/>
            </p:cNvSpPr>
            <p:nvPr/>
          </p:nvSpPr>
          <p:spPr bwMode="auto">
            <a:xfrm flipV="1">
              <a:off x="1405" y="2142"/>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8" name="Line 94"/>
            <p:cNvSpPr>
              <a:spLocks noChangeShapeType="1"/>
            </p:cNvSpPr>
            <p:nvPr/>
          </p:nvSpPr>
          <p:spPr bwMode="auto">
            <a:xfrm flipV="1">
              <a:off x="1405" y="2220"/>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99" name="Line 95"/>
            <p:cNvSpPr>
              <a:spLocks noChangeShapeType="1"/>
            </p:cNvSpPr>
            <p:nvPr/>
          </p:nvSpPr>
          <p:spPr bwMode="auto">
            <a:xfrm flipV="1">
              <a:off x="1405" y="2294"/>
              <a:ext cx="350" cy="352"/>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0" name="Line 96"/>
            <p:cNvSpPr>
              <a:spLocks noChangeShapeType="1"/>
            </p:cNvSpPr>
            <p:nvPr/>
          </p:nvSpPr>
          <p:spPr bwMode="auto">
            <a:xfrm flipH="1">
              <a:off x="1329" y="2646"/>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1" name="Line 97"/>
            <p:cNvSpPr>
              <a:spLocks noChangeShapeType="1"/>
            </p:cNvSpPr>
            <p:nvPr/>
          </p:nvSpPr>
          <p:spPr bwMode="auto">
            <a:xfrm flipH="1">
              <a:off x="1329" y="257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2" name="Line 98"/>
            <p:cNvSpPr>
              <a:spLocks noChangeShapeType="1"/>
            </p:cNvSpPr>
            <p:nvPr/>
          </p:nvSpPr>
          <p:spPr bwMode="auto">
            <a:xfrm flipH="1">
              <a:off x="1329" y="2494"/>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3" name="Line 99"/>
            <p:cNvSpPr>
              <a:spLocks noChangeShapeType="1"/>
            </p:cNvSpPr>
            <p:nvPr/>
          </p:nvSpPr>
          <p:spPr bwMode="auto">
            <a:xfrm flipH="1">
              <a:off x="1329" y="241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4" name="Line 100"/>
            <p:cNvSpPr>
              <a:spLocks noChangeShapeType="1"/>
            </p:cNvSpPr>
            <p:nvPr/>
          </p:nvSpPr>
          <p:spPr bwMode="auto">
            <a:xfrm flipH="1">
              <a:off x="1329" y="2331"/>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5" name="Line 101"/>
            <p:cNvSpPr>
              <a:spLocks noChangeShapeType="1"/>
            </p:cNvSpPr>
            <p:nvPr/>
          </p:nvSpPr>
          <p:spPr bwMode="auto">
            <a:xfrm flipH="1">
              <a:off x="1329" y="2244"/>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6" name="Line 102"/>
            <p:cNvSpPr>
              <a:spLocks noChangeShapeType="1"/>
            </p:cNvSpPr>
            <p:nvPr/>
          </p:nvSpPr>
          <p:spPr bwMode="auto">
            <a:xfrm flipH="1">
              <a:off x="1330" y="2161"/>
              <a:ext cx="77"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7" name="Line 103"/>
            <p:cNvSpPr>
              <a:spLocks noChangeShapeType="1"/>
            </p:cNvSpPr>
            <p:nvPr/>
          </p:nvSpPr>
          <p:spPr bwMode="auto">
            <a:xfrm flipH="1">
              <a:off x="1329" y="2078"/>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8" name="Line 104"/>
            <p:cNvSpPr>
              <a:spLocks noChangeShapeType="1"/>
            </p:cNvSpPr>
            <p:nvPr/>
          </p:nvSpPr>
          <p:spPr bwMode="auto">
            <a:xfrm flipH="1">
              <a:off x="1330" y="1995"/>
              <a:ext cx="77"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09" name="Line 105"/>
            <p:cNvSpPr>
              <a:spLocks noChangeShapeType="1"/>
            </p:cNvSpPr>
            <p:nvPr/>
          </p:nvSpPr>
          <p:spPr bwMode="auto">
            <a:xfrm flipH="1">
              <a:off x="1329" y="1912"/>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0" name="Line 106"/>
            <p:cNvSpPr>
              <a:spLocks noChangeShapeType="1"/>
            </p:cNvSpPr>
            <p:nvPr/>
          </p:nvSpPr>
          <p:spPr bwMode="auto">
            <a:xfrm flipH="1">
              <a:off x="1327" y="1830"/>
              <a:ext cx="76" cy="0"/>
            </a:xfrm>
            <a:prstGeom prst="line">
              <a:avLst/>
            </a:prstGeom>
            <a:noFill/>
            <a:ln w="1270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1" name="Line 107"/>
            <p:cNvSpPr>
              <a:spLocks noChangeShapeType="1"/>
            </p:cNvSpPr>
            <p:nvPr/>
          </p:nvSpPr>
          <p:spPr bwMode="auto">
            <a:xfrm>
              <a:off x="1477" y="2504"/>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2" name="Line 108"/>
            <p:cNvSpPr>
              <a:spLocks noChangeShapeType="1"/>
            </p:cNvSpPr>
            <p:nvPr/>
          </p:nvSpPr>
          <p:spPr bwMode="auto">
            <a:xfrm>
              <a:off x="1551" y="243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3" name="Line 109"/>
            <p:cNvSpPr>
              <a:spLocks noChangeShapeType="1"/>
            </p:cNvSpPr>
            <p:nvPr/>
          </p:nvSpPr>
          <p:spPr bwMode="auto">
            <a:xfrm>
              <a:off x="1622" y="2360"/>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4" name="Line 110"/>
            <p:cNvSpPr>
              <a:spLocks noChangeShapeType="1"/>
            </p:cNvSpPr>
            <p:nvPr/>
          </p:nvSpPr>
          <p:spPr bwMode="auto">
            <a:xfrm>
              <a:off x="1688" y="229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5" name="Line 111"/>
            <p:cNvSpPr>
              <a:spLocks noChangeShapeType="1"/>
            </p:cNvSpPr>
            <p:nvPr/>
          </p:nvSpPr>
          <p:spPr bwMode="auto">
            <a:xfrm>
              <a:off x="1477" y="235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6" name="Line 112"/>
            <p:cNvSpPr>
              <a:spLocks noChangeShapeType="1"/>
            </p:cNvSpPr>
            <p:nvPr/>
          </p:nvSpPr>
          <p:spPr bwMode="auto">
            <a:xfrm>
              <a:off x="1551" y="227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7" name="Line 113"/>
            <p:cNvSpPr>
              <a:spLocks noChangeShapeType="1"/>
            </p:cNvSpPr>
            <p:nvPr/>
          </p:nvSpPr>
          <p:spPr bwMode="auto">
            <a:xfrm>
              <a:off x="1622" y="220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8" name="Line 114"/>
            <p:cNvSpPr>
              <a:spLocks noChangeShapeType="1"/>
            </p:cNvSpPr>
            <p:nvPr/>
          </p:nvSpPr>
          <p:spPr bwMode="auto">
            <a:xfrm>
              <a:off x="1688" y="213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19" name="Line 115"/>
            <p:cNvSpPr>
              <a:spLocks noChangeShapeType="1"/>
            </p:cNvSpPr>
            <p:nvPr/>
          </p:nvSpPr>
          <p:spPr bwMode="auto">
            <a:xfrm>
              <a:off x="1477" y="2182"/>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0" name="Line 116"/>
            <p:cNvSpPr>
              <a:spLocks noChangeShapeType="1"/>
            </p:cNvSpPr>
            <p:nvPr/>
          </p:nvSpPr>
          <p:spPr bwMode="auto">
            <a:xfrm>
              <a:off x="1551" y="210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1" name="Line 117"/>
            <p:cNvSpPr>
              <a:spLocks noChangeShapeType="1"/>
            </p:cNvSpPr>
            <p:nvPr/>
          </p:nvSpPr>
          <p:spPr bwMode="auto">
            <a:xfrm>
              <a:off x="1622" y="203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2" name="Line 118"/>
            <p:cNvSpPr>
              <a:spLocks noChangeShapeType="1"/>
            </p:cNvSpPr>
            <p:nvPr/>
          </p:nvSpPr>
          <p:spPr bwMode="auto">
            <a:xfrm>
              <a:off x="1688" y="196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3" name="Line 119"/>
            <p:cNvSpPr>
              <a:spLocks noChangeShapeType="1"/>
            </p:cNvSpPr>
            <p:nvPr/>
          </p:nvSpPr>
          <p:spPr bwMode="auto">
            <a:xfrm>
              <a:off x="1477" y="201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4" name="Line 120"/>
            <p:cNvSpPr>
              <a:spLocks noChangeShapeType="1"/>
            </p:cNvSpPr>
            <p:nvPr/>
          </p:nvSpPr>
          <p:spPr bwMode="auto">
            <a:xfrm>
              <a:off x="1551" y="193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5" name="Line 121"/>
            <p:cNvSpPr>
              <a:spLocks noChangeShapeType="1"/>
            </p:cNvSpPr>
            <p:nvPr/>
          </p:nvSpPr>
          <p:spPr bwMode="auto">
            <a:xfrm>
              <a:off x="1622" y="186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6" name="Line 122"/>
            <p:cNvSpPr>
              <a:spLocks noChangeShapeType="1"/>
            </p:cNvSpPr>
            <p:nvPr/>
          </p:nvSpPr>
          <p:spPr bwMode="auto">
            <a:xfrm>
              <a:off x="1688" y="1799"/>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7" name="Line 123"/>
            <p:cNvSpPr>
              <a:spLocks noChangeShapeType="1"/>
            </p:cNvSpPr>
            <p:nvPr/>
          </p:nvSpPr>
          <p:spPr bwMode="auto">
            <a:xfrm>
              <a:off x="1477" y="184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8" name="Line 124"/>
            <p:cNvSpPr>
              <a:spLocks noChangeShapeType="1"/>
            </p:cNvSpPr>
            <p:nvPr/>
          </p:nvSpPr>
          <p:spPr bwMode="auto">
            <a:xfrm>
              <a:off x="1551" y="176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29" name="Line 125"/>
            <p:cNvSpPr>
              <a:spLocks noChangeShapeType="1"/>
            </p:cNvSpPr>
            <p:nvPr/>
          </p:nvSpPr>
          <p:spPr bwMode="auto">
            <a:xfrm>
              <a:off x="1622" y="169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0" name="Line 126"/>
            <p:cNvSpPr>
              <a:spLocks noChangeShapeType="1"/>
            </p:cNvSpPr>
            <p:nvPr/>
          </p:nvSpPr>
          <p:spPr bwMode="auto">
            <a:xfrm>
              <a:off x="1688" y="1629"/>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1" name="Line 127"/>
            <p:cNvSpPr>
              <a:spLocks noChangeShapeType="1"/>
            </p:cNvSpPr>
            <p:nvPr/>
          </p:nvSpPr>
          <p:spPr bwMode="auto">
            <a:xfrm>
              <a:off x="1477" y="167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2" name="Line 128"/>
            <p:cNvSpPr>
              <a:spLocks noChangeShapeType="1"/>
            </p:cNvSpPr>
            <p:nvPr/>
          </p:nvSpPr>
          <p:spPr bwMode="auto">
            <a:xfrm>
              <a:off x="1551" y="1602"/>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3" name="Line 129"/>
            <p:cNvSpPr>
              <a:spLocks noChangeShapeType="1"/>
            </p:cNvSpPr>
            <p:nvPr/>
          </p:nvSpPr>
          <p:spPr bwMode="auto">
            <a:xfrm>
              <a:off x="1622" y="153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4" name="Line 130"/>
            <p:cNvSpPr>
              <a:spLocks noChangeShapeType="1"/>
            </p:cNvSpPr>
            <p:nvPr/>
          </p:nvSpPr>
          <p:spPr bwMode="auto">
            <a:xfrm>
              <a:off x="1688" y="1463"/>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5" name="Line 131"/>
            <p:cNvSpPr>
              <a:spLocks noChangeShapeType="1"/>
            </p:cNvSpPr>
            <p:nvPr/>
          </p:nvSpPr>
          <p:spPr bwMode="auto">
            <a:xfrm>
              <a:off x="1517" y="172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6" name="Line 132"/>
            <p:cNvSpPr>
              <a:spLocks noChangeShapeType="1"/>
            </p:cNvSpPr>
            <p:nvPr/>
          </p:nvSpPr>
          <p:spPr bwMode="auto">
            <a:xfrm>
              <a:off x="1591" y="164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7" name="Line 133"/>
            <p:cNvSpPr>
              <a:spLocks noChangeShapeType="1"/>
            </p:cNvSpPr>
            <p:nvPr/>
          </p:nvSpPr>
          <p:spPr bwMode="auto">
            <a:xfrm>
              <a:off x="1662" y="157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8" name="Line 134"/>
            <p:cNvSpPr>
              <a:spLocks noChangeShapeType="1"/>
            </p:cNvSpPr>
            <p:nvPr/>
          </p:nvSpPr>
          <p:spPr bwMode="auto">
            <a:xfrm>
              <a:off x="1728" y="150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39" name="Line 135"/>
            <p:cNvSpPr>
              <a:spLocks noChangeShapeType="1"/>
            </p:cNvSpPr>
            <p:nvPr/>
          </p:nvSpPr>
          <p:spPr bwMode="auto">
            <a:xfrm>
              <a:off x="1442" y="179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0" name="Line 136"/>
            <p:cNvSpPr>
              <a:spLocks noChangeShapeType="1"/>
            </p:cNvSpPr>
            <p:nvPr/>
          </p:nvSpPr>
          <p:spPr bwMode="auto">
            <a:xfrm>
              <a:off x="1513" y="1893"/>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1" name="Line 137"/>
            <p:cNvSpPr>
              <a:spLocks noChangeShapeType="1"/>
            </p:cNvSpPr>
            <p:nvPr/>
          </p:nvSpPr>
          <p:spPr bwMode="auto">
            <a:xfrm>
              <a:off x="1588" y="1818"/>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2" name="Line 138"/>
            <p:cNvSpPr>
              <a:spLocks noChangeShapeType="1"/>
            </p:cNvSpPr>
            <p:nvPr/>
          </p:nvSpPr>
          <p:spPr bwMode="auto">
            <a:xfrm>
              <a:off x="1659" y="174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3" name="Line 139"/>
            <p:cNvSpPr>
              <a:spLocks noChangeShapeType="1"/>
            </p:cNvSpPr>
            <p:nvPr/>
          </p:nvSpPr>
          <p:spPr bwMode="auto">
            <a:xfrm>
              <a:off x="1725" y="168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4" name="Line 140"/>
            <p:cNvSpPr>
              <a:spLocks noChangeShapeType="1"/>
            </p:cNvSpPr>
            <p:nvPr/>
          </p:nvSpPr>
          <p:spPr bwMode="auto">
            <a:xfrm>
              <a:off x="1439" y="1969"/>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5" name="Line 141"/>
            <p:cNvSpPr>
              <a:spLocks noChangeShapeType="1"/>
            </p:cNvSpPr>
            <p:nvPr/>
          </p:nvSpPr>
          <p:spPr bwMode="auto">
            <a:xfrm>
              <a:off x="1513" y="2061"/>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6" name="Line 142"/>
            <p:cNvSpPr>
              <a:spLocks noChangeShapeType="1"/>
            </p:cNvSpPr>
            <p:nvPr/>
          </p:nvSpPr>
          <p:spPr bwMode="auto">
            <a:xfrm>
              <a:off x="1588" y="1986"/>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7" name="Line 143"/>
            <p:cNvSpPr>
              <a:spLocks noChangeShapeType="1"/>
            </p:cNvSpPr>
            <p:nvPr/>
          </p:nvSpPr>
          <p:spPr bwMode="auto">
            <a:xfrm>
              <a:off x="1659" y="191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8" name="Line 144"/>
            <p:cNvSpPr>
              <a:spLocks noChangeShapeType="1"/>
            </p:cNvSpPr>
            <p:nvPr/>
          </p:nvSpPr>
          <p:spPr bwMode="auto">
            <a:xfrm>
              <a:off x="1725" y="1848"/>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49" name="Line 145"/>
            <p:cNvSpPr>
              <a:spLocks noChangeShapeType="1"/>
            </p:cNvSpPr>
            <p:nvPr/>
          </p:nvSpPr>
          <p:spPr bwMode="auto">
            <a:xfrm>
              <a:off x="1439" y="213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0" name="Line 146"/>
            <p:cNvSpPr>
              <a:spLocks noChangeShapeType="1"/>
            </p:cNvSpPr>
            <p:nvPr/>
          </p:nvSpPr>
          <p:spPr bwMode="auto">
            <a:xfrm>
              <a:off x="1513" y="222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1" name="Line 147"/>
            <p:cNvSpPr>
              <a:spLocks noChangeShapeType="1"/>
            </p:cNvSpPr>
            <p:nvPr/>
          </p:nvSpPr>
          <p:spPr bwMode="auto">
            <a:xfrm>
              <a:off x="1588" y="2151"/>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2" name="Line 148"/>
            <p:cNvSpPr>
              <a:spLocks noChangeShapeType="1"/>
            </p:cNvSpPr>
            <p:nvPr/>
          </p:nvSpPr>
          <p:spPr bwMode="auto">
            <a:xfrm>
              <a:off x="1659" y="208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3" name="Line 149"/>
            <p:cNvSpPr>
              <a:spLocks noChangeShapeType="1"/>
            </p:cNvSpPr>
            <p:nvPr/>
          </p:nvSpPr>
          <p:spPr bwMode="auto">
            <a:xfrm>
              <a:off x="1725" y="2012"/>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4" name="Line 150"/>
            <p:cNvSpPr>
              <a:spLocks noChangeShapeType="1"/>
            </p:cNvSpPr>
            <p:nvPr/>
          </p:nvSpPr>
          <p:spPr bwMode="auto">
            <a:xfrm>
              <a:off x="1439" y="2301"/>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5" name="Line 151"/>
            <p:cNvSpPr>
              <a:spLocks noChangeShapeType="1"/>
            </p:cNvSpPr>
            <p:nvPr/>
          </p:nvSpPr>
          <p:spPr bwMode="auto">
            <a:xfrm>
              <a:off x="1513" y="2390"/>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6" name="Line 152"/>
            <p:cNvSpPr>
              <a:spLocks noChangeShapeType="1"/>
            </p:cNvSpPr>
            <p:nvPr/>
          </p:nvSpPr>
          <p:spPr bwMode="auto">
            <a:xfrm>
              <a:off x="1588" y="2315"/>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7" name="Line 153"/>
            <p:cNvSpPr>
              <a:spLocks noChangeShapeType="1"/>
            </p:cNvSpPr>
            <p:nvPr/>
          </p:nvSpPr>
          <p:spPr bwMode="auto">
            <a:xfrm>
              <a:off x="1659" y="224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8" name="Line 154"/>
            <p:cNvSpPr>
              <a:spLocks noChangeShapeType="1"/>
            </p:cNvSpPr>
            <p:nvPr/>
          </p:nvSpPr>
          <p:spPr bwMode="auto">
            <a:xfrm>
              <a:off x="1725" y="217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59" name="Line 155"/>
            <p:cNvSpPr>
              <a:spLocks noChangeShapeType="1"/>
            </p:cNvSpPr>
            <p:nvPr/>
          </p:nvSpPr>
          <p:spPr bwMode="auto">
            <a:xfrm>
              <a:off x="1439" y="246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0" name="Line 156"/>
            <p:cNvSpPr>
              <a:spLocks noChangeShapeType="1"/>
            </p:cNvSpPr>
            <p:nvPr/>
          </p:nvSpPr>
          <p:spPr bwMode="auto">
            <a:xfrm>
              <a:off x="1513" y="2540"/>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1" name="Line 157"/>
            <p:cNvSpPr>
              <a:spLocks noChangeShapeType="1"/>
            </p:cNvSpPr>
            <p:nvPr/>
          </p:nvSpPr>
          <p:spPr bwMode="auto">
            <a:xfrm>
              <a:off x="1588" y="2466"/>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2" name="Line 158"/>
            <p:cNvSpPr>
              <a:spLocks noChangeShapeType="1"/>
            </p:cNvSpPr>
            <p:nvPr/>
          </p:nvSpPr>
          <p:spPr bwMode="auto">
            <a:xfrm>
              <a:off x="1659" y="239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3" name="Line 159"/>
            <p:cNvSpPr>
              <a:spLocks noChangeShapeType="1"/>
            </p:cNvSpPr>
            <p:nvPr/>
          </p:nvSpPr>
          <p:spPr bwMode="auto">
            <a:xfrm>
              <a:off x="1725" y="2327"/>
              <a:ext cx="0" cy="68"/>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sp>
          <p:nvSpPr>
            <p:cNvPr id="164" name="Line 160"/>
            <p:cNvSpPr>
              <a:spLocks noChangeShapeType="1"/>
            </p:cNvSpPr>
            <p:nvPr/>
          </p:nvSpPr>
          <p:spPr bwMode="auto">
            <a:xfrm>
              <a:off x="1439" y="2617"/>
              <a:ext cx="0" cy="67"/>
            </a:xfrm>
            <a:prstGeom prst="line">
              <a:avLst/>
            </a:prstGeom>
            <a:noFill/>
            <a:ln w="127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dirty="0"/>
            </a:p>
          </p:txBody>
        </p:sp>
      </p:grpSp>
      <p:sp>
        <p:nvSpPr>
          <p:cNvPr id="165" name="Line 173"/>
          <p:cNvSpPr>
            <a:spLocks noChangeShapeType="1"/>
          </p:cNvSpPr>
          <p:nvPr/>
        </p:nvSpPr>
        <p:spPr bwMode="auto">
          <a:xfrm flipV="1">
            <a:off x="6535738" y="2647950"/>
            <a:ext cx="755650" cy="1260475"/>
          </a:xfrm>
          <a:prstGeom prst="line">
            <a:avLst/>
          </a:prstGeom>
          <a:noFill/>
          <a:ln w="19050">
            <a:solidFill>
              <a:srgbClr val="FFFFD9"/>
            </a:solidFill>
            <a:round/>
            <a:headEnd/>
            <a:tailEnd/>
          </a:ln>
          <a:effectLst>
            <a:prstShdw prst="shdw17" dist="17961" dir="2700000">
              <a:srgbClr val="999982"/>
            </a:prstShdw>
          </a:effectLst>
          <a:extLst>
            <a:ext uri="{909E8E84-426E-40DD-AFC4-6F175D3DCCD1}">
              <a14:hiddenFill xmlns:a14="http://schemas.microsoft.com/office/drawing/2010/main">
                <a:noFill/>
              </a14:hiddenFill>
            </a:ext>
          </a:extLst>
        </p:spPr>
        <p:txBody>
          <a:bodyPr/>
          <a:lstStyle/>
          <a:p>
            <a:endParaRPr lang="en-US" dirty="0"/>
          </a:p>
        </p:txBody>
      </p:sp>
      <p:sp>
        <p:nvSpPr>
          <p:cNvPr id="166" name="Line 174"/>
          <p:cNvSpPr>
            <a:spLocks noChangeShapeType="1"/>
          </p:cNvSpPr>
          <p:nvPr/>
        </p:nvSpPr>
        <p:spPr bwMode="auto">
          <a:xfrm flipV="1">
            <a:off x="6492875" y="3905250"/>
            <a:ext cx="841375" cy="3175"/>
          </a:xfrm>
          <a:prstGeom prst="line">
            <a:avLst/>
          </a:prstGeom>
          <a:noFill/>
          <a:ln w="19050">
            <a:solidFill>
              <a:srgbClr val="FFFFD9"/>
            </a:solidFill>
            <a:round/>
            <a:headEnd/>
            <a:tailEnd/>
          </a:ln>
          <a:effectLst>
            <a:prstShdw prst="shdw17" dist="17961" dir="2700000">
              <a:srgbClr val="999982"/>
            </a:prstShdw>
          </a:effectLst>
          <a:extLst>
            <a:ext uri="{909E8E84-426E-40DD-AFC4-6F175D3DCCD1}">
              <a14:hiddenFill xmlns:a14="http://schemas.microsoft.com/office/drawing/2010/main">
                <a:noFill/>
              </a14:hiddenFill>
            </a:ext>
          </a:extLst>
        </p:spPr>
        <p:txBody>
          <a:bodyPr/>
          <a:lstStyle/>
          <a:p>
            <a:endParaRPr lang="en-US" dirty="0"/>
          </a:p>
        </p:txBody>
      </p:sp>
      <p:sp>
        <p:nvSpPr>
          <p:cNvPr id="167" name="Line 175"/>
          <p:cNvSpPr>
            <a:spLocks noChangeShapeType="1"/>
          </p:cNvSpPr>
          <p:nvPr/>
        </p:nvSpPr>
        <p:spPr bwMode="auto">
          <a:xfrm>
            <a:off x="6530975" y="3921125"/>
            <a:ext cx="793750" cy="1101725"/>
          </a:xfrm>
          <a:prstGeom prst="line">
            <a:avLst/>
          </a:prstGeom>
          <a:noFill/>
          <a:ln w="19050">
            <a:solidFill>
              <a:srgbClr val="FFFFD9"/>
            </a:solidFill>
            <a:round/>
            <a:headEnd/>
            <a:tailEnd/>
          </a:ln>
          <a:effectLst>
            <a:prstShdw prst="shdw17" dist="17961" dir="2700000">
              <a:srgbClr val="999982"/>
            </a:prstShdw>
          </a:effectLst>
          <a:extLst>
            <a:ext uri="{909E8E84-426E-40DD-AFC4-6F175D3DCCD1}">
              <a14:hiddenFill xmlns:a14="http://schemas.microsoft.com/office/drawing/2010/main">
                <a:noFill/>
              </a14:hiddenFill>
            </a:ext>
          </a:extLst>
        </p:spPr>
        <p:txBody>
          <a:bodyPr/>
          <a:lstStyle/>
          <a:p>
            <a:endParaRPr lang="en-US" dirty="0"/>
          </a:p>
        </p:txBody>
      </p:sp>
      <p:sp>
        <p:nvSpPr>
          <p:cNvPr id="168" name="Text Box 176"/>
          <p:cNvSpPr txBox="1">
            <a:spLocks noChangeArrowheads="1"/>
          </p:cNvSpPr>
          <p:nvPr/>
        </p:nvSpPr>
        <p:spPr bwMode="auto">
          <a:xfrm>
            <a:off x="6642100" y="3001963"/>
            <a:ext cx="706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1400" dirty="0">
                <a:effectLst>
                  <a:outerShdw blurRad="38100" dist="38100" dir="2700000" algn="tl">
                    <a:srgbClr val="000000"/>
                  </a:outerShdw>
                </a:effectLst>
              </a:rPr>
              <a:t>EDI</a:t>
            </a:r>
          </a:p>
        </p:txBody>
      </p:sp>
      <p:sp>
        <p:nvSpPr>
          <p:cNvPr id="169" name="Text Box 177"/>
          <p:cNvSpPr txBox="1">
            <a:spLocks noChangeArrowheads="1"/>
          </p:cNvSpPr>
          <p:nvPr/>
        </p:nvSpPr>
        <p:spPr bwMode="auto">
          <a:xfrm>
            <a:off x="6680200" y="3636963"/>
            <a:ext cx="706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1400" dirty="0">
                <a:effectLst>
                  <a:outerShdw blurRad="38100" dist="38100" dir="2700000" algn="tl">
                    <a:srgbClr val="000000"/>
                  </a:outerShdw>
                </a:effectLst>
              </a:rPr>
              <a:t>XML</a:t>
            </a:r>
          </a:p>
        </p:txBody>
      </p:sp>
      <p:sp>
        <p:nvSpPr>
          <p:cNvPr id="170" name="Text Box 178"/>
          <p:cNvSpPr txBox="1">
            <a:spLocks noChangeArrowheads="1"/>
          </p:cNvSpPr>
          <p:nvPr/>
        </p:nvSpPr>
        <p:spPr bwMode="auto">
          <a:xfrm>
            <a:off x="6692900" y="4437063"/>
            <a:ext cx="706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1400" dirty="0" err="1">
                <a:effectLst>
                  <a:outerShdw blurRad="38100" dist="38100" dir="2700000" algn="tl">
                    <a:srgbClr val="000000"/>
                  </a:outerShdw>
                </a:effectLst>
              </a:rPr>
              <a:t>xCBL</a:t>
            </a:r>
            <a:endParaRPr lang="en-US" sz="1400">
              <a:effectLst>
                <a:outerShdw blurRad="38100" dist="38100" dir="2700000" algn="tl">
                  <a:srgbClr val="000000"/>
                </a:outerShdw>
              </a:effectLst>
            </a:endParaRPr>
          </a:p>
        </p:txBody>
      </p:sp>
      <p:sp>
        <p:nvSpPr>
          <p:cNvPr id="171" name="Text Box 179"/>
          <p:cNvSpPr txBox="1">
            <a:spLocks noChangeArrowheads="1"/>
          </p:cNvSpPr>
          <p:nvPr/>
        </p:nvSpPr>
        <p:spPr bwMode="auto">
          <a:xfrm>
            <a:off x="5583238" y="2698750"/>
            <a:ext cx="154463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1400">
                <a:effectLst>
                  <a:outerShdw blurRad="38100" dist="38100" dir="2700000" algn="tl">
                    <a:srgbClr val="000000"/>
                  </a:outerShdw>
                </a:effectLst>
              </a:rPr>
              <a:t>Security Firewall</a:t>
            </a:r>
          </a:p>
        </p:txBody>
      </p:sp>
      <p:sp>
        <p:nvSpPr>
          <p:cNvPr id="172" name="Rectangle 180"/>
          <p:cNvSpPr>
            <a:spLocks noChangeArrowheads="1"/>
          </p:cNvSpPr>
          <p:nvPr/>
        </p:nvSpPr>
        <p:spPr bwMode="auto">
          <a:xfrm>
            <a:off x="304800" y="1143000"/>
            <a:ext cx="5257800" cy="445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spcBef>
                <a:spcPct val="30000"/>
              </a:spcBef>
              <a:buClr>
                <a:schemeClr val="tx2"/>
              </a:buClr>
              <a:buSzPct val="75000"/>
              <a:buFont typeface="Wingdings" pitchFamily="2" charset="2"/>
              <a:buNone/>
              <a:defRPr/>
            </a:pPr>
            <a:r>
              <a:rPr lang="en-US" sz="2800" dirty="0" smtClean="0">
                <a:effectLst>
                  <a:outerShdw blurRad="38100" dist="38100" dir="2700000" algn="tl">
                    <a:srgbClr val="000000"/>
                  </a:outerShdw>
                </a:effectLst>
              </a:rPr>
              <a:t>Enterprise</a:t>
            </a:r>
            <a:endParaRPr lang="en-US" sz="2800" dirty="0">
              <a:effectLst>
                <a:outerShdw blurRad="38100" dist="38100" dir="2700000" algn="tl">
                  <a:srgbClr val="000000"/>
                </a:outerShdw>
              </a:effectLst>
            </a:endParaRPr>
          </a:p>
        </p:txBody>
      </p:sp>
      <p:sp>
        <p:nvSpPr>
          <p:cNvPr id="173" name="Rectangle 196"/>
          <p:cNvSpPr>
            <a:spLocks noChangeArrowheads="1"/>
          </p:cNvSpPr>
          <p:nvPr/>
        </p:nvSpPr>
        <p:spPr bwMode="auto">
          <a:xfrm>
            <a:off x="2982913" y="2144713"/>
            <a:ext cx="24272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30000"/>
              </a:spcBef>
              <a:buClr>
                <a:schemeClr val="tx2"/>
              </a:buClr>
              <a:buSzPct val="75000"/>
              <a:buFont typeface="Wingdings" pitchFamily="2" charset="2"/>
              <a:buNone/>
              <a:defRPr/>
            </a:pPr>
            <a:r>
              <a:rPr lang="en-US" dirty="0">
                <a:effectLst>
                  <a:outerShdw blurRad="38100" dist="38100" dir="2700000" algn="tl">
                    <a:srgbClr val="000000"/>
                  </a:outerShdw>
                </a:effectLst>
              </a:rPr>
              <a:t>Custom Business Applications</a:t>
            </a:r>
          </a:p>
        </p:txBody>
      </p:sp>
      <p:sp>
        <p:nvSpPr>
          <p:cNvPr id="174" name="Rectangle 198"/>
          <p:cNvSpPr>
            <a:spLocks noChangeArrowheads="1"/>
          </p:cNvSpPr>
          <p:nvPr/>
        </p:nvSpPr>
        <p:spPr bwMode="auto">
          <a:xfrm>
            <a:off x="3600450" y="4894263"/>
            <a:ext cx="135572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30000"/>
              </a:spcBef>
              <a:buClr>
                <a:schemeClr val="tx2"/>
              </a:buClr>
              <a:buSzPct val="75000"/>
              <a:buFont typeface="Wingdings" pitchFamily="2" charset="2"/>
              <a:buNone/>
              <a:defRPr/>
            </a:pPr>
            <a:r>
              <a:rPr lang="en-US" dirty="0">
                <a:effectLst>
                  <a:outerShdw blurRad="38100" dist="38100" dir="2700000" algn="tl">
                    <a:srgbClr val="000000"/>
                  </a:outerShdw>
                </a:effectLst>
              </a:rPr>
              <a:t>Enterprise Resource Planning</a:t>
            </a:r>
          </a:p>
        </p:txBody>
      </p:sp>
      <p:sp>
        <p:nvSpPr>
          <p:cNvPr id="175" name="Rectangle 208"/>
          <p:cNvSpPr>
            <a:spLocks noChangeArrowheads="1"/>
          </p:cNvSpPr>
          <p:nvPr/>
        </p:nvSpPr>
        <p:spPr bwMode="auto">
          <a:xfrm>
            <a:off x="249238" y="4849813"/>
            <a:ext cx="278923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30000"/>
              </a:spcBef>
              <a:buClr>
                <a:schemeClr val="tx2"/>
              </a:buClr>
              <a:buSzPct val="75000"/>
              <a:buFont typeface="Wingdings" pitchFamily="2" charset="2"/>
              <a:buNone/>
              <a:defRPr/>
            </a:pPr>
            <a:r>
              <a:rPr lang="en-US" dirty="0">
                <a:effectLst>
                  <a:outerShdw blurRad="38100" dist="38100" dir="2700000" algn="tl">
                    <a:srgbClr val="000000"/>
                  </a:outerShdw>
                </a:effectLst>
              </a:rPr>
              <a:t>Customer </a:t>
            </a:r>
            <a:br>
              <a:rPr lang="en-US" dirty="0">
                <a:effectLst>
                  <a:outerShdw blurRad="38100" dist="38100" dir="2700000" algn="tl">
                    <a:srgbClr val="000000"/>
                  </a:outerShdw>
                </a:effectLst>
              </a:rPr>
            </a:br>
            <a:r>
              <a:rPr lang="en-US" dirty="0">
                <a:effectLst>
                  <a:outerShdw blurRad="38100" dist="38100" dir="2700000" algn="tl">
                    <a:srgbClr val="000000"/>
                  </a:outerShdw>
                </a:effectLst>
              </a:rPr>
              <a:t>Relationship Management</a:t>
            </a:r>
          </a:p>
        </p:txBody>
      </p:sp>
      <p:sp>
        <p:nvSpPr>
          <p:cNvPr id="176" name="Rectangle 218"/>
          <p:cNvSpPr>
            <a:spLocks noChangeArrowheads="1"/>
          </p:cNvSpPr>
          <p:nvPr/>
        </p:nvSpPr>
        <p:spPr bwMode="auto">
          <a:xfrm>
            <a:off x="346075" y="2205038"/>
            <a:ext cx="13636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30000"/>
              </a:spcBef>
              <a:buClr>
                <a:schemeClr val="tx2"/>
              </a:buClr>
              <a:buSzPct val="75000"/>
              <a:buFont typeface="Wingdings" pitchFamily="2" charset="2"/>
              <a:buNone/>
              <a:defRPr/>
            </a:pPr>
            <a:r>
              <a:rPr lang="en-US">
                <a:effectLst>
                  <a:outerShdw blurRad="38100" dist="38100" dir="2700000" algn="tl">
                    <a:srgbClr val="000000"/>
                  </a:outerShdw>
                </a:effectLst>
              </a:rPr>
              <a:t>Inventory/</a:t>
            </a:r>
            <a:br>
              <a:rPr lang="en-US">
                <a:effectLst>
                  <a:outerShdw blurRad="38100" dist="38100" dir="2700000" algn="tl">
                    <a:srgbClr val="000000"/>
                  </a:outerShdw>
                </a:effectLst>
              </a:rPr>
            </a:br>
            <a:r>
              <a:rPr lang="en-US">
                <a:effectLst>
                  <a:outerShdw blurRad="38100" dist="38100" dir="2700000" algn="tl">
                    <a:srgbClr val="000000"/>
                  </a:outerShdw>
                </a:effectLst>
              </a:rPr>
              <a:t>Logistics</a:t>
            </a:r>
          </a:p>
        </p:txBody>
      </p:sp>
      <p:sp>
        <p:nvSpPr>
          <p:cNvPr id="177" name="Line 219"/>
          <p:cNvSpPr>
            <a:spLocks noChangeShapeType="1"/>
          </p:cNvSpPr>
          <p:nvPr/>
        </p:nvSpPr>
        <p:spPr bwMode="auto">
          <a:xfrm flipV="1">
            <a:off x="3362325" y="3917950"/>
            <a:ext cx="2679700" cy="3175"/>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78" name="Line 220"/>
          <p:cNvSpPr>
            <a:spLocks noChangeShapeType="1"/>
          </p:cNvSpPr>
          <p:nvPr/>
        </p:nvSpPr>
        <p:spPr bwMode="auto">
          <a:xfrm flipV="1">
            <a:off x="3405188" y="2979738"/>
            <a:ext cx="1411287" cy="739775"/>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79" name="Line 221"/>
          <p:cNvSpPr>
            <a:spLocks noChangeShapeType="1"/>
          </p:cNvSpPr>
          <p:nvPr/>
        </p:nvSpPr>
        <p:spPr bwMode="auto">
          <a:xfrm flipV="1">
            <a:off x="2621756" y="5068887"/>
            <a:ext cx="2375694" cy="3175"/>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80" name="Line 222"/>
          <p:cNvSpPr>
            <a:spLocks noChangeShapeType="1"/>
          </p:cNvSpPr>
          <p:nvPr/>
        </p:nvSpPr>
        <p:spPr bwMode="auto">
          <a:xfrm flipH="1" flipV="1">
            <a:off x="2222500" y="3151188"/>
            <a:ext cx="798513" cy="492125"/>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81" name="Line 223"/>
          <p:cNvSpPr>
            <a:spLocks noChangeShapeType="1"/>
          </p:cNvSpPr>
          <p:nvPr/>
        </p:nvSpPr>
        <p:spPr bwMode="auto">
          <a:xfrm flipH="1" flipV="1">
            <a:off x="1262063" y="3897313"/>
            <a:ext cx="1781175" cy="0"/>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82" name="Line 224"/>
          <p:cNvSpPr>
            <a:spLocks noChangeShapeType="1"/>
          </p:cNvSpPr>
          <p:nvPr/>
        </p:nvSpPr>
        <p:spPr bwMode="auto">
          <a:xfrm>
            <a:off x="1371599" y="4437062"/>
            <a:ext cx="430213" cy="274167"/>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183" name="Rectangle 225"/>
          <p:cNvSpPr>
            <a:spLocks noChangeArrowheads="1"/>
          </p:cNvSpPr>
          <p:nvPr/>
        </p:nvSpPr>
        <p:spPr bwMode="auto">
          <a:xfrm>
            <a:off x="2660650" y="5961063"/>
            <a:ext cx="7699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spAutoFit/>
          </a:bodyPr>
          <a:lstStyle/>
          <a:p>
            <a:pPr algn="ctr">
              <a:defRPr/>
            </a:pPr>
            <a:r>
              <a:rPr lang="en-US" sz="3200">
                <a:solidFill>
                  <a:schemeClr val="accent1"/>
                </a:solidFill>
                <a:effectLst>
                  <a:outerShdw blurRad="38100" dist="38100" dir="2700000" algn="tl">
                    <a:srgbClr val="000000"/>
                  </a:outerShdw>
                </a:effectLst>
              </a:rPr>
              <a:t>EAI</a:t>
            </a:r>
          </a:p>
        </p:txBody>
      </p:sp>
      <p:sp>
        <p:nvSpPr>
          <p:cNvPr id="184" name="Rectangle 226"/>
          <p:cNvSpPr>
            <a:spLocks noChangeArrowheads="1"/>
          </p:cNvSpPr>
          <p:nvPr/>
        </p:nvSpPr>
        <p:spPr bwMode="auto">
          <a:xfrm>
            <a:off x="4468813" y="5975350"/>
            <a:ext cx="377825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18288" rIns="45720" bIns="18288">
            <a:spAutoFit/>
          </a:bodyPr>
          <a:lstStyle/>
          <a:p>
            <a:pPr algn="ctr">
              <a:defRPr/>
            </a:pPr>
            <a:r>
              <a:rPr lang="en-US" sz="3200">
                <a:solidFill>
                  <a:schemeClr val="accent1"/>
                </a:solidFill>
                <a:effectLst>
                  <a:outerShdw blurRad="38100" dist="38100" dir="2700000" algn="tl">
                    <a:srgbClr val="000000"/>
                  </a:outerShdw>
                </a:effectLst>
              </a:rPr>
              <a:t>B2B</a:t>
            </a:r>
          </a:p>
        </p:txBody>
      </p:sp>
      <p:sp>
        <p:nvSpPr>
          <p:cNvPr id="185" name="Rectangle 227"/>
          <p:cNvSpPr>
            <a:spLocks noChangeArrowheads="1"/>
          </p:cNvSpPr>
          <p:nvPr/>
        </p:nvSpPr>
        <p:spPr bwMode="auto">
          <a:xfrm>
            <a:off x="5927725" y="1143000"/>
            <a:ext cx="3368675"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30000"/>
              </a:spcBef>
              <a:buClr>
                <a:schemeClr val="tx2"/>
              </a:buClr>
              <a:buSzPct val="75000"/>
              <a:buFont typeface="Wingdings" pitchFamily="2" charset="2"/>
              <a:buNone/>
              <a:defRPr/>
            </a:pPr>
            <a:r>
              <a:rPr lang="en-US" sz="2800" dirty="0">
                <a:effectLst>
                  <a:outerShdw blurRad="38100" dist="38100" dir="2700000" algn="tl">
                    <a:srgbClr val="000000"/>
                  </a:outerShdw>
                </a:effectLst>
              </a:rPr>
              <a:t>Business Partners</a:t>
            </a:r>
          </a:p>
        </p:txBody>
      </p:sp>
      <p:pic>
        <p:nvPicPr>
          <p:cNvPr id="186" name="Picture 197" descr="Proliant2 copy"/>
          <p:cNvPicPr>
            <a:picLocks noChangeAspect="1" noChangeArrowheads="1"/>
          </p:cNvPicPr>
          <p:nvPr/>
        </p:nvPicPr>
        <p:blipFill>
          <a:blip r:embed="rId2">
            <a:extLst>
              <a:ext uri="{28A0092B-C50C-407E-A947-70E740481C1C}">
                <a14:useLocalDpi xmlns:a14="http://schemas.microsoft.com/office/drawing/2010/main" val="0"/>
              </a:ext>
            </a:extLst>
          </a:blip>
          <a:srcRect t="56160" r="35185"/>
          <a:stretch>
            <a:fillRect/>
          </a:stretch>
        </p:blipFill>
        <p:spPr bwMode="auto">
          <a:xfrm>
            <a:off x="2982913" y="3252788"/>
            <a:ext cx="731837"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7" name="Group 199"/>
          <p:cNvGrpSpPr>
            <a:grpSpLocks/>
          </p:cNvGrpSpPr>
          <p:nvPr/>
        </p:nvGrpSpPr>
        <p:grpSpPr bwMode="auto">
          <a:xfrm>
            <a:off x="1801813" y="4640263"/>
            <a:ext cx="298450" cy="958850"/>
            <a:chOff x="3505" y="970"/>
            <a:chExt cx="211" cy="663"/>
          </a:xfrm>
        </p:grpSpPr>
        <p:sp>
          <p:nvSpPr>
            <p:cNvPr id="188" name="Rectangle 200"/>
            <p:cNvSpPr>
              <a:spLocks noChangeArrowheads="1"/>
            </p:cNvSpPr>
            <p:nvPr/>
          </p:nvSpPr>
          <p:spPr bwMode="auto">
            <a:xfrm>
              <a:off x="3505" y="970"/>
              <a:ext cx="211" cy="663"/>
            </a:xfrm>
            <a:prstGeom prst="rect">
              <a:avLst/>
            </a:prstGeom>
            <a:solidFill>
              <a:srgbClr val="FFFFCC"/>
            </a:solidFill>
            <a:ln w="9525">
              <a:miter lim="800000"/>
              <a:headEnd/>
              <a:tailEnd/>
            </a:ln>
            <a:effectLst/>
            <a:scene3d>
              <a:camera prst="legacyObliqueTopRight"/>
              <a:lightRig rig="legacyFlat3" dir="b"/>
            </a:scene3d>
            <a:sp3d extrusionH="658800" prstMaterial="legacyMatte">
              <a:bevelT w="13500" h="13500" prst="angle"/>
              <a:bevelB w="13500" h="13500" prst="angle"/>
              <a:extrusionClr>
                <a:srgbClr val="FFFFCC"/>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a:p>
          </p:txBody>
        </p:sp>
        <p:sp>
          <p:nvSpPr>
            <p:cNvPr id="189" name="Line 201"/>
            <p:cNvSpPr>
              <a:spLocks noChangeShapeType="1"/>
            </p:cNvSpPr>
            <p:nvPr/>
          </p:nvSpPr>
          <p:spPr bwMode="auto">
            <a:xfrm>
              <a:off x="3534" y="136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0" name="Line 202"/>
            <p:cNvSpPr>
              <a:spLocks noChangeShapeType="1"/>
            </p:cNvSpPr>
            <p:nvPr/>
          </p:nvSpPr>
          <p:spPr bwMode="auto">
            <a:xfrm>
              <a:off x="3534" y="1392"/>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1" name="Line 203"/>
            <p:cNvSpPr>
              <a:spLocks noChangeShapeType="1"/>
            </p:cNvSpPr>
            <p:nvPr/>
          </p:nvSpPr>
          <p:spPr bwMode="auto">
            <a:xfrm>
              <a:off x="3534" y="1424"/>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2" name="Line 204"/>
            <p:cNvSpPr>
              <a:spLocks noChangeShapeType="1"/>
            </p:cNvSpPr>
            <p:nvPr/>
          </p:nvSpPr>
          <p:spPr bwMode="auto">
            <a:xfrm>
              <a:off x="3534" y="1456"/>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3" name="Line 205"/>
            <p:cNvSpPr>
              <a:spLocks noChangeShapeType="1"/>
            </p:cNvSpPr>
            <p:nvPr/>
          </p:nvSpPr>
          <p:spPr bwMode="auto">
            <a:xfrm>
              <a:off x="3534" y="1488"/>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4" name="Line 206"/>
            <p:cNvSpPr>
              <a:spLocks noChangeShapeType="1"/>
            </p:cNvSpPr>
            <p:nvPr/>
          </p:nvSpPr>
          <p:spPr bwMode="auto">
            <a:xfrm>
              <a:off x="3534" y="152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5" name="Rectangle 207"/>
            <p:cNvSpPr>
              <a:spLocks noChangeArrowheads="1"/>
            </p:cNvSpPr>
            <p:nvPr/>
          </p:nvSpPr>
          <p:spPr bwMode="auto">
            <a:xfrm>
              <a:off x="3537" y="1030"/>
              <a:ext cx="133" cy="22"/>
            </a:xfrm>
            <a:prstGeom prst="rect">
              <a:avLst/>
            </a:prstGeom>
            <a:solidFill>
              <a:srgbClr val="808080">
                <a:alpha val="50195"/>
              </a:srgbClr>
            </a:solidFill>
            <a:ln w="12700">
              <a:solidFill>
                <a:srgbClr val="605A3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grpSp>
      <p:grpSp>
        <p:nvGrpSpPr>
          <p:cNvPr id="196" name="Group 209"/>
          <p:cNvGrpSpPr>
            <a:grpSpLocks/>
          </p:cNvGrpSpPr>
          <p:nvPr/>
        </p:nvGrpSpPr>
        <p:grpSpPr bwMode="auto">
          <a:xfrm>
            <a:off x="1803400" y="2395538"/>
            <a:ext cx="300038" cy="958850"/>
            <a:chOff x="3505" y="970"/>
            <a:chExt cx="211" cy="663"/>
          </a:xfrm>
        </p:grpSpPr>
        <p:sp>
          <p:nvSpPr>
            <p:cNvPr id="197" name="Rectangle 210"/>
            <p:cNvSpPr>
              <a:spLocks noChangeArrowheads="1"/>
            </p:cNvSpPr>
            <p:nvPr/>
          </p:nvSpPr>
          <p:spPr bwMode="auto">
            <a:xfrm>
              <a:off x="3505" y="970"/>
              <a:ext cx="211" cy="663"/>
            </a:xfrm>
            <a:prstGeom prst="rect">
              <a:avLst/>
            </a:prstGeom>
            <a:solidFill>
              <a:srgbClr val="FFFFCC"/>
            </a:solidFill>
            <a:ln w="9525">
              <a:miter lim="800000"/>
              <a:headEnd/>
              <a:tailEnd/>
            </a:ln>
            <a:effectLst/>
            <a:scene3d>
              <a:camera prst="legacyObliqueTopRight"/>
              <a:lightRig rig="legacyFlat3" dir="b"/>
            </a:scene3d>
            <a:sp3d extrusionH="658800" prstMaterial="legacyMatte">
              <a:bevelT w="13500" h="13500" prst="angle"/>
              <a:bevelB w="13500" h="13500" prst="angle"/>
              <a:extrusionClr>
                <a:srgbClr val="FFFFCC"/>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a:p>
          </p:txBody>
        </p:sp>
        <p:sp>
          <p:nvSpPr>
            <p:cNvPr id="198" name="Line 211"/>
            <p:cNvSpPr>
              <a:spLocks noChangeShapeType="1"/>
            </p:cNvSpPr>
            <p:nvPr/>
          </p:nvSpPr>
          <p:spPr bwMode="auto">
            <a:xfrm>
              <a:off x="3534" y="136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199" name="Line 212"/>
            <p:cNvSpPr>
              <a:spLocks noChangeShapeType="1"/>
            </p:cNvSpPr>
            <p:nvPr/>
          </p:nvSpPr>
          <p:spPr bwMode="auto">
            <a:xfrm>
              <a:off x="3534" y="1392"/>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0" name="Line 213"/>
            <p:cNvSpPr>
              <a:spLocks noChangeShapeType="1"/>
            </p:cNvSpPr>
            <p:nvPr/>
          </p:nvSpPr>
          <p:spPr bwMode="auto">
            <a:xfrm>
              <a:off x="3534" y="1424"/>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1" name="Line 214"/>
            <p:cNvSpPr>
              <a:spLocks noChangeShapeType="1"/>
            </p:cNvSpPr>
            <p:nvPr/>
          </p:nvSpPr>
          <p:spPr bwMode="auto">
            <a:xfrm>
              <a:off x="3534" y="1456"/>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2" name="Line 215"/>
            <p:cNvSpPr>
              <a:spLocks noChangeShapeType="1"/>
            </p:cNvSpPr>
            <p:nvPr/>
          </p:nvSpPr>
          <p:spPr bwMode="auto">
            <a:xfrm>
              <a:off x="3534" y="1488"/>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3" name="Line 216"/>
            <p:cNvSpPr>
              <a:spLocks noChangeShapeType="1"/>
            </p:cNvSpPr>
            <p:nvPr/>
          </p:nvSpPr>
          <p:spPr bwMode="auto">
            <a:xfrm>
              <a:off x="3534" y="152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4" name="Rectangle 217"/>
            <p:cNvSpPr>
              <a:spLocks noChangeArrowheads="1"/>
            </p:cNvSpPr>
            <p:nvPr/>
          </p:nvSpPr>
          <p:spPr bwMode="auto">
            <a:xfrm>
              <a:off x="3537" y="1030"/>
              <a:ext cx="133" cy="22"/>
            </a:xfrm>
            <a:prstGeom prst="rect">
              <a:avLst/>
            </a:prstGeom>
            <a:solidFill>
              <a:srgbClr val="808080">
                <a:alpha val="50195"/>
              </a:srgbClr>
            </a:solidFill>
            <a:ln w="12700">
              <a:solidFill>
                <a:srgbClr val="605A3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grpSp>
      <p:grpSp>
        <p:nvGrpSpPr>
          <p:cNvPr id="205" name="Group 181"/>
          <p:cNvGrpSpPr>
            <a:grpSpLocks/>
          </p:cNvGrpSpPr>
          <p:nvPr/>
        </p:nvGrpSpPr>
        <p:grpSpPr bwMode="auto">
          <a:xfrm>
            <a:off x="4681538" y="2460625"/>
            <a:ext cx="915987" cy="765175"/>
            <a:chOff x="348" y="1471"/>
            <a:chExt cx="948" cy="575"/>
          </a:xfrm>
        </p:grpSpPr>
        <p:sp>
          <p:nvSpPr>
            <p:cNvPr id="206" name="AutoShape 182"/>
            <p:cNvSpPr>
              <a:spLocks noChangeArrowheads="1"/>
            </p:cNvSpPr>
            <p:nvPr/>
          </p:nvSpPr>
          <p:spPr bwMode="auto">
            <a:xfrm>
              <a:off x="801" y="1908"/>
              <a:ext cx="495" cy="138"/>
            </a:xfrm>
            <a:prstGeom prst="parallelogram">
              <a:avLst>
                <a:gd name="adj" fmla="val 118120"/>
              </a:avLst>
            </a:prstGeom>
            <a:solidFill>
              <a:srgbClr val="292929">
                <a:alpha val="50195"/>
              </a:srgbClr>
            </a:solidFill>
            <a:ln>
              <a:noFill/>
            </a:ln>
            <a:effectLst/>
            <a:extLst>
              <a:ext uri="{91240B29-F687-4F45-9708-019B960494DF}">
                <a14:hiddenLine xmlns:a14="http://schemas.microsoft.com/office/drawing/2010/main" w="1270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07" name="Rectangle 183"/>
            <p:cNvSpPr>
              <a:spLocks noChangeArrowheads="1"/>
            </p:cNvSpPr>
            <p:nvPr/>
          </p:nvSpPr>
          <p:spPr bwMode="auto">
            <a:xfrm>
              <a:off x="348" y="1884"/>
              <a:ext cx="636" cy="153"/>
            </a:xfrm>
            <a:prstGeom prst="rect">
              <a:avLst/>
            </a:prstGeom>
            <a:solidFill>
              <a:srgbClr val="FFFFCC"/>
            </a:solidFill>
            <a:ln w="9525">
              <a:miter lim="800000"/>
              <a:headEnd/>
              <a:tailEnd/>
            </a:ln>
            <a:effectLst/>
            <a:scene3d>
              <a:camera prst="legacyObliqueTopRight"/>
              <a:lightRig rig="legacyFlat3" dir="b"/>
            </a:scene3d>
            <a:sp3d extrusionH="582600" prstMaterial="legacyMatte">
              <a:bevelT w="13500" h="13500" prst="angle"/>
              <a:bevelB w="13500" h="13500" prst="angle"/>
              <a:extrusionClr>
                <a:srgbClr val="FFFFCC"/>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a:p>
          </p:txBody>
        </p:sp>
        <p:sp>
          <p:nvSpPr>
            <p:cNvPr id="208" name="Rectangle 184"/>
            <p:cNvSpPr>
              <a:spLocks noChangeArrowheads="1"/>
            </p:cNvSpPr>
            <p:nvPr/>
          </p:nvSpPr>
          <p:spPr bwMode="auto">
            <a:xfrm>
              <a:off x="445" y="1471"/>
              <a:ext cx="467" cy="368"/>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a:p>
          </p:txBody>
        </p:sp>
        <p:sp>
          <p:nvSpPr>
            <p:cNvPr id="209" name="Rectangle 185"/>
            <p:cNvSpPr>
              <a:spLocks noChangeArrowheads="1"/>
            </p:cNvSpPr>
            <p:nvPr/>
          </p:nvSpPr>
          <p:spPr bwMode="auto">
            <a:xfrm>
              <a:off x="497" y="1524"/>
              <a:ext cx="359" cy="268"/>
            </a:xfrm>
            <a:prstGeom prst="rect">
              <a:avLst/>
            </a:prstGeom>
            <a:solidFill>
              <a:srgbClr val="00808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0" name="Rectangle 186"/>
            <p:cNvSpPr>
              <a:spLocks noChangeArrowheads="1"/>
            </p:cNvSpPr>
            <p:nvPr/>
          </p:nvSpPr>
          <p:spPr bwMode="auto">
            <a:xfrm>
              <a:off x="780" y="1921"/>
              <a:ext cx="162" cy="27"/>
            </a:xfrm>
            <a:prstGeom prst="rect">
              <a:avLst/>
            </a:prstGeom>
            <a:noFill/>
            <a:ln w="12700">
              <a:solidFill>
                <a:srgbClr val="605A3A"/>
              </a:solidFill>
              <a:miter lim="800000"/>
              <a:headEnd/>
              <a:tailEnd/>
            </a:ln>
            <a:effectLst/>
            <a:extLst>
              <a:ext uri="{909E8E84-426E-40DD-AFC4-6F175D3DCCD1}">
                <a14:hiddenFill xmlns:a14="http://schemas.microsoft.com/office/drawing/2010/main">
                  <a:solidFill>
                    <a:srgbClr val="00808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grpSp>
      <p:grpSp>
        <p:nvGrpSpPr>
          <p:cNvPr id="211" name="Group 187"/>
          <p:cNvGrpSpPr>
            <a:grpSpLocks/>
          </p:cNvGrpSpPr>
          <p:nvPr/>
        </p:nvGrpSpPr>
        <p:grpSpPr bwMode="auto">
          <a:xfrm>
            <a:off x="4870450" y="4592638"/>
            <a:ext cx="298450" cy="958850"/>
            <a:chOff x="3505" y="970"/>
            <a:chExt cx="211" cy="663"/>
          </a:xfrm>
        </p:grpSpPr>
        <p:sp>
          <p:nvSpPr>
            <p:cNvPr id="212" name="Rectangle 188"/>
            <p:cNvSpPr>
              <a:spLocks noChangeArrowheads="1"/>
            </p:cNvSpPr>
            <p:nvPr/>
          </p:nvSpPr>
          <p:spPr bwMode="auto">
            <a:xfrm>
              <a:off x="3505" y="970"/>
              <a:ext cx="211" cy="663"/>
            </a:xfrm>
            <a:prstGeom prst="rect">
              <a:avLst/>
            </a:prstGeom>
            <a:solidFill>
              <a:srgbClr val="FFFFCC"/>
            </a:solidFill>
            <a:ln w="9525">
              <a:miter lim="800000"/>
              <a:headEnd/>
              <a:tailEnd/>
            </a:ln>
            <a:effectLst/>
            <a:scene3d>
              <a:camera prst="legacyObliqueTopRight"/>
              <a:lightRig rig="legacyFlat3" dir="b"/>
            </a:scene3d>
            <a:sp3d extrusionH="658800" prstMaterial="legacyMatte">
              <a:bevelT w="13500" h="13500" prst="angle"/>
              <a:bevelB w="13500" h="13500" prst="angle"/>
              <a:extrusionClr>
                <a:srgbClr val="FFFFCC"/>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flatTx/>
            </a:bodyPr>
            <a:lstStyle/>
            <a:p>
              <a:endParaRPr lang="en-US"/>
            </a:p>
          </p:txBody>
        </p:sp>
        <p:sp>
          <p:nvSpPr>
            <p:cNvPr id="213" name="Line 189"/>
            <p:cNvSpPr>
              <a:spLocks noChangeShapeType="1"/>
            </p:cNvSpPr>
            <p:nvPr/>
          </p:nvSpPr>
          <p:spPr bwMode="auto">
            <a:xfrm>
              <a:off x="3534" y="136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4" name="Line 190"/>
            <p:cNvSpPr>
              <a:spLocks noChangeShapeType="1"/>
            </p:cNvSpPr>
            <p:nvPr/>
          </p:nvSpPr>
          <p:spPr bwMode="auto">
            <a:xfrm>
              <a:off x="3534" y="1392"/>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5" name="Line 191"/>
            <p:cNvSpPr>
              <a:spLocks noChangeShapeType="1"/>
            </p:cNvSpPr>
            <p:nvPr/>
          </p:nvSpPr>
          <p:spPr bwMode="auto">
            <a:xfrm>
              <a:off x="3534" y="1424"/>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6" name="Line 192"/>
            <p:cNvSpPr>
              <a:spLocks noChangeShapeType="1"/>
            </p:cNvSpPr>
            <p:nvPr/>
          </p:nvSpPr>
          <p:spPr bwMode="auto">
            <a:xfrm>
              <a:off x="3534" y="1456"/>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7" name="Line 193"/>
            <p:cNvSpPr>
              <a:spLocks noChangeShapeType="1"/>
            </p:cNvSpPr>
            <p:nvPr/>
          </p:nvSpPr>
          <p:spPr bwMode="auto">
            <a:xfrm>
              <a:off x="3534" y="1488"/>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8" name="Line 194"/>
            <p:cNvSpPr>
              <a:spLocks noChangeShapeType="1"/>
            </p:cNvSpPr>
            <p:nvPr/>
          </p:nvSpPr>
          <p:spPr bwMode="auto">
            <a:xfrm>
              <a:off x="3534" y="1520"/>
              <a:ext cx="153"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sp>
          <p:nvSpPr>
            <p:cNvPr id="219" name="Rectangle 195"/>
            <p:cNvSpPr>
              <a:spLocks noChangeArrowheads="1"/>
            </p:cNvSpPr>
            <p:nvPr/>
          </p:nvSpPr>
          <p:spPr bwMode="auto">
            <a:xfrm>
              <a:off x="3537" y="1030"/>
              <a:ext cx="133" cy="22"/>
            </a:xfrm>
            <a:prstGeom prst="rect">
              <a:avLst/>
            </a:prstGeom>
            <a:solidFill>
              <a:srgbClr val="808080">
                <a:alpha val="50195"/>
              </a:srgbClr>
            </a:solidFill>
            <a:ln w="12700">
              <a:solidFill>
                <a:srgbClr val="605A3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18288" rIns="45720" bIns="18288" anchor="ctr"/>
            <a:lstStyle/>
            <a:p>
              <a:endParaRPr lang="en-US"/>
            </a:p>
          </p:txBody>
        </p:sp>
      </p:grpSp>
      <p:grpSp>
        <p:nvGrpSpPr>
          <p:cNvPr id="220" name="Group 161"/>
          <p:cNvGrpSpPr>
            <a:grpSpLocks/>
          </p:cNvGrpSpPr>
          <p:nvPr/>
        </p:nvGrpSpPr>
        <p:grpSpPr bwMode="auto">
          <a:xfrm>
            <a:off x="7135813" y="4613275"/>
            <a:ext cx="1412875" cy="806450"/>
            <a:chOff x="4578" y="2338"/>
            <a:chExt cx="890" cy="508"/>
          </a:xfrm>
        </p:grpSpPr>
        <p:sp>
          <p:nvSpPr>
            <p:cNvPr id="221" name="Rectangle 162"/>
            <p:cNvSpPr>
              <a:spLocks noChangeArrowheads="1"/>
            </p:cNvSpPr>
            <p:nvPr/>
          </p:nvSpPr>
          <p:spPr bwMode="auto">
            <a:xfrm>
              <a:off x="4718" y="2338"/>
              <a:ext cx="604" cy="508"/>
            </a:xfrm>
            <a:prstGeom prst="rect">
              <a:avLst/>
            </a:prstGeom>
            <a:gradFill rotWithShape="0">
              <a:gsLst>
                <a:gs pos="0">
                  <a:srgbClr val="3043D0"/>
                </a:gs>
                <a:gs pos="50000">
                  <a:srgbClr val="080B21"/>
                </a:gs>
                <a:gs pos="100000">
                  <a:srgbClr val="3043D0"/>
                </a:gs>
              </a:gsLst>
              <a:lin ang="2700000" scaled="1"/>
            </a:gradFill>
            <a:ln w="38100">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endParaRPr lang="en-US" sz="1600" b="0"/>
            </a:p>
          </p:txBody>
        </p:sp>
        <p:sp>
          <p:nvSpPr>
            <p:cNvPr id="222" name="Text Box 163"/>
            <p:cNvSpPr txBox="1">
              <a:spLocks noChangeArrowheads="1"/>
            </p:cNvSpPr>
            <p:nvPr/>
          </p:nvSpPr>
          <p:spPr bwMode="auto">
            <a:xfrm>
              <a:off x="4578" y="2671"/>
              <a:ext cx="890"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defRPr/>
              </a:pPr>
              <a:r>
                <a:rPr lang="en-US" sz="1200">
                  <a:effectLst>
                    <a:outerShdw blurRad="38100" dist="38100" dir="2700000" algn="tl">
                      <a:srgbClr val="000000"/>
                    </a:outerShdw>
                  </a:effectLst>
                </a:rPr>
                <a:t>Marketplace</a:t>
              </a:r>
            </a:p>
          </p:txBody>
        </p:sp>
        <p:pic>
          <p:nvPicPr>
            <p:cNvPr id="223" name="Picture 164" descr="BLDCM0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1" y="2381"/>
              <a:ext cx="379" cy="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24" name="Group 165"/>
          <p:cNvGrpSpPr>
            <a:grpSpLocks/>
          </p:cNvGrpSpPr>
          <p:nvPr/>
        </p:nvGrpSpPr>
        <p:grpSpPr bwMode="auto">
          <a:xfrm>
            <a:off x="7096125" y="3443288"/>
            <a:ext cx="1412875" cy="806450"/>
            <a:chOff x="4578" y="2338"/>
            <a:chExt cx="890" cy="508"/>
          </a:xfrm>
        </p:grpSpPr>
        <p:sp>
          <p:nvSpPr>
            <p:cNvPr id="225" name="Rectangle 166"/>
            <p:cNvSpPr>
              <a:spLocks noChangeArrowheads="1"/>
            </p:cNvSpPr>
            <p:nvPr/>
          </p:nvSpPr>
          <p:spPr bwMode="auto">
            <a:xfrm>
              <a:off x="4718" y="2338"/>
              <a:ext cx="604" cy="508"/>
            </a:xfrm>
            <a:prstGeom prst="rect">
              <a:avLst/>
            </a:prstGeom>
            <a:gradFill rotWithShape="0">
              <a:gsLst>
                <a:gs pos="0">
                  <a:srgbClr val="3043D0"/>
                </a:gs>
                <a:gs pos="50000">
                  <a:srgbClr val="080B21"/>
                </a:gs>
                <a:gs pos="100000">
                  <a:srgbClr val="3043D0"/>
                </a:gs>
              </a:gsLst>
              <a:lin ang="2700000" scaled="1"/>
            </a:gradFill>
            <a:ln w="38100">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endParaRPr lang="en-US" sz="1600" b="0"/>
            </a:p>
          </p:txBody>
        </p:sp>
        <p:sp>
          <p:nvSpPr>
            <p:cNvPr id="226" name="Text Box 167"/>
            <p:cNvSpPr txBox="1">
              <a:spLocks noChangeArrowheads="1"/>
            </p:cNvSpPr>
            <p:nvPr/>
          </p:nvSpPr>
          <p:spPr bwMode="auto">
            <a:xfrm>
              <a:off x="4578" y="2671"/>
              <a:ext cx="890"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defRPr/>
              </a:pPr>
              <a:r>
                <a:rPr lang="en-US" sz="1200">
                  <a:effectLst>
                    <a:outerShdw blurRad="38100" dist="38100" dir="2700000" algn="tl">
                      <a:srgbClr val="000000"/>
                    </a:outerShdw>
                  </a:effectLst>
                </a:rPr>
                <a:t>Supplier hub</a:t>
              </a:r>
            </a:p>
          </p:txBody>
        </p:sp>
        <p:pic>
          <p:nvPicPr>
            <p:cNvPr id="227" name="Picture 168" descr="BLDCM0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1" y="2381"/>
              <a:ext cx="379" cy="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28" name="Group 169"/>
          <p:cNvGrpSpPr>
            <a:grpSpLocks/>
          </p:cNvGrpSpPr>
          <p:nvPr/>
        </p:nvGrpSpPr>
        <p:grpSpPr bwMode="auto">
          <a:xfrm>
            <a:off x="7664450" y="1755775"/>
            <a:ext cx="255588" cy="1552575"/>
            <a:chOff x="4578" y="779"/>
            <a:chExt cx="890" cy="3960"/>
          </a:xfrm>
        </p:grpSpPr>
        <p:sp>
          <p:nvSpPr>
            <p:cNvPr id="229" name="Rectangle 170"/>
            <p:cNvSpPr>
              <a:spLocks noChangeArrowheads="1"/>
            </p:cNvSpPr>
            <p:nvPr/>
          </p:nvSpPr>
          <p:spPr bwMode="auto">
            <a:xfrm>
              <a:off x="4718" y="2338"/>
              <a:ext cx="604" cy="508"/>
            </a:xfrm>
            <a:prstGeom prst="rect">
              <a:avLst/>
            </a:prstGeom>
            <a:gradFill rotWithShape="0">
              <a:gsLst>
                <a:gs pos="0">
                  <a:srgbClr val="3043D0"/>
                </a:gs>
                <a:gs pos="50000">
                  <a:srgbClr val="080B21"/>
                </a:gs>
                <a:gs pos="100000">
                  <a:srgbClr val="3043D0"/>
                </a:gs>
              </a:gsLst>
              <a:lin ang="2700000" scaled="1"/>
            </a:gradFill>
            <a:ln w="38100">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endParaRPr lang="en-US" sz="1600" b="0"/>
            </a:p>
          </p:txBody>
        </p:sp>
        <p:sp>
          <p:nvSpPr>
            <p:cNvPr id="230" name="Text Box 171"/>
            <p:cNvSpPr txBox="1">
              <a:spLocks noChangeArrowheads="1"/>
            </p:cNvSpPr>
            <p:nvPr/>
          </p:nvSpPr>
          <p:spPr bwMode="auto">
            <a:xfrm>
              <a:off x="4578" y="779"/>
              <a:ext cx="890" cy="3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defRPr/>
              </a:pPr>
              <a:r>
                <a:rPr lang="en-US" sz="1200">
                  <a:effectLst>
                    <a:outerShdw blurRad="38100" dist="38100" dir="2700000" algn="tl">
                      <a:srgbClr val="000000"/>
                    </a:outerShdw>
                  </a:effectLst>
                </a:rPr>
                <a:t>Supplier</a:t>
              </a:r>
            </a:p>
          </p:txBody>
        </p:sp>
        <p:pic>
          <p:nvPicPr>
            <p:cNvPr id="231" name="Picture 172" descr="BLDCM0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 y="2381"/>
              <a:ext cx="379"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232" name="Picture 231" descr="tan-cylinder"/>
          <p:cNvPicPr>
            <a:picLocks noChangeAspect="1" noChangeArrowheads="1"/>
          </p:cNvPicPr>
          <p:nvPr/>
        </p:nvPicPr>
        <p:blipFill>
          <a:blip r:embed="rId5">
            <a:lum bright="-12000"/>
            <a:extLst>
              <a:ext uri="{28A0092B-C50C-407E-A947-70E740481C1C}">
                <a14:useLocalDpi xmlns:a14="http://schemas.microsoft.com/office/drawing/2010/main" val="0"/>
              </a:ext>
            </a:extLst>
          </a:blip>
          <a:srcRect/>
          <a:stretch>
            <a:fillRect/>
          </a:stretch>
        </p:blipFill>
        <p:spPr bwMode="auto">
          <a:xfrm>
            <a:off x="444500" y="3525838"/>
            <a:ext cx="1227138"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AutoShape 228"/>
          <p:cNvSpPr>
            <a:spLocks noChangeArrowheads="1"/>
          </p:cNvSpPr>
          <p:nvPr/>
        </p:nvSpPr>
        <p:spPr bwMode="auto">
          <a:xfrm>
            <a:off x="327025" y="3594100"/>
            <a:ext cx="1390650" cy="684213"/>
          </a:xfrm>
          <a:prstGeom prst="can">
            <a:avLst>
              <a:gd name="adj" fmla="val 16093"/>
            </a:avLst>
          </a:prstGeom>
          <a:noFill/>
          <a:ln>
            <a:noFill/>
          </a:ln>
          <a:effectLst>
            <a:prstShdw prst="shdw17" dist="17961" dir="2700000">
              <a:srgbClr val="E4DF80">
                <a:gamma/>
                <a:shade val="60000"/>
                <a:invGamma/>
              </a:srgbClr>
            </a:prstShdw>
          </a:effectLst>
          <a:extLst>
            <a:ext uri="{909E8E84-426E-40DD-AFC4-6F175D3DCCD1}">
              <a14:hiddenFill xmlns:a14="http://schemas.microsoft.com/office/drawing/2010/main">
                <a:solidFill>
                  <a:srgbClr val="E4DF80"/>
                </a:solidFill>
              </a14:hiddenFill>
            </a:ext>
            <a:ext uri="{91240B29-F687-4F45-9708-019B960494DF}">
              <a14:hiddenLine xmlns:a14="http://schemas.microsoft.com/office/drawing/2010/main" w="12700">
                <a:solidFill>
                  <a:srgbClr val="C0C0C0"/>
                </a:solidFill>
                <a:round/>
                <a:headEnd/>
                <a:tailEnd/>
              </a14:hiddenLine>
            </a:ext>
          </a:extLst>
        </p:spPr>
        <p:txBody>
          <a:bodyPr lIns="45720" tIns="18288" rIns="45720" bIns="18288" anchor="ctr">
            <a:spAutoFit/>
          </a:bodyPr>
          <a:lstStyle/>
          <a:p>
            <a:pPr algn="ctr">
              <a:defRPr/>
            </a:pPr>
            <a:r>
              <a:rPr lang="en-US" sz="1600" dirty="0">
                <a:effectLst>
                  <a:outerShdw blurRad="38100" dist="38100" dir="2700000" algn="tl">
                    <a:srgbClr val="000000"/>
                  </a:outerShdw>
                </a:effectLst>
              </a:rPr>
              <a:t>Financial</a:t>
            </a:r>
          </a:p>
          <a:p>
            <a:pPr algn="ctr">
              <a:defRPr/>
            </a:pPr>
            <a:r>
              <a:rPr lang="en-US" sz="1600" dirty="0">
                <a:effectLst>
                  <a:outerShdw blurRad="38100" dist="38100" dir="2700000" algn="tl">
                    <a:srgbClr val="000000"/>
                  </a:outerShdw>
                </a:effectLst>
              </a:rPr>
              <a:t> Systems</a:t>
            </a:r>
          </a:p>
        </p:txBody>
      </p:sp>
      <p:sp>
        <p:nvSpPr>
          <p:cNvPr id="234" name="Line 223"/>
          <p:cNvSpPr>
            <a:spLocks noChangeShapeType="1"/>
          </p:cNvSpPr>
          <p:nvPr/>
        </p:nvSpPr>
        <p:spPr bwMode="auto">
          <a:xfrm flipH="1">
            <a:off x="2305049" y="4049713"/>
            <a:ext cx="890588" cy="844550"/>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235" name="Line 223"/>
          <p:cNvSpPr>
            <a:spLocks noChangeShapeType="1"/>
          </p:cNvSpPr>
          <p:nvPr/>
        </p:nvSpPr>
        <p:spPr bwMode="auto">
          <a:xfrm>
            <a:off x="3559968" y="4136231"/>
            <a:ext cx="1273175" cy="788987"/>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
        <p:nvSpPr>
          <p:cNvPr id="236" name="Line 219"/>
          <p:cNvSpPr>
            <a:spLocks noChangeShapeType="1"/>
          </p:cNvSpPr>
          <p:nvPr/>
        </p:nvSpPr>
        <p:spPr bwMode="auto">
          <a:xfrm flipV="1">
            <a:off x="2374899" y="2925762"/>
            <a:ext cx="3667125" cy="26987"/>
          </a:xfrm>
          <a:prstGeom prst="line">
            <a:avLst/>
          </a:prstGeom>
          <a:noFill/>
          <a:ln w="1905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lstStyle/>
          <a:p>
            <a:pPr>
              <a:defRPr/>
            </a:pPr>
            <a:endParaRPr lang="en-US"/>
          </a:p>
        </p:txBody>
      </p:sp>
    </p:spTree>
    <p:extLst>
      <p:ext uri="{BB962C8B-B14F-4D97-AF65-F5344CB8AC3E}">
        <p14:creationId xmlns:p14="http://schemas.microsoft.com/office/powerpoint/2010/main" val="42577959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de-DE" dirty="0" smtClean="0"/>
              <a:t>How we reached there</a:t>
            </a:r>
            <a:endParaRPr lang="de-DE" dirty="0"/>
          </a:p>
        </p:txBody>
      </p:sp>
      <p:sp>
        <p:nvSpPr>
          <p:cNvPr id="31747" name="Rectangle 3"/>
          <p:cNvSpPr>
            <a:spLocks noGrp="1" noChangeArrowheads="1"/>
          </p:cNvSpPr>
          <p:nvPr>
            <p:ph type="body" idx="1"/>
          </p:nvPr>
        </p:nvSpPr>
        <p:spPr/>
        <p:txBody>
          <a:bodyPr/>
          <a:lstStyle/>
          <a:p>
            <a:pPr>
              <a:lnSpc>
                <a:spcPct val="90000"/>
              </a:lnSpc>
            </a:pPr>
            <a:r>
              <a:rPr lang="de-DE" sz="2800"/>
              <a:t>1 layer architecture</a:t>
            </a:r>
          </a:p>
          <a:p>
            <a:pPr lvl="1">
              <a:lnSpc>
                <a:spcPct val="90000"/>
              </a:lnSpc>
            </a:pPr>
            <a:r>
              <a:rPr lang="en-GB" sz="2400"/>
              <a:t>monolithic Information Systems</a:t>
            </a:r>
          </a:p>
          <a:p>
            <a:pPr lvl="1">
              <a:lnSpc>
                <a:spcPct val="90000"/>
              </a:lnSpc>
            </a:pPr>
            <a:r>
              <a:rPr lang="en-GB" sz="2400"/>
              <a:t>presentation, application logic, and resource management were merged into a single tier</a:t>
            </a:r>
            <a:endParaRPr lang="de-DE" sz="2400"/>
          </a:p>
          <a:p>
            <a:pPr>
              <a:lnSpc>
                <a:spcPct val="90000"/>
              </a:lnSpc>
            </a:pPr>
            <a:r>
              <a:rPr lang="de-DE" sz="2800"/>
              <a:t>2 layer architecture</a:t>
            </a:r>
          </a:p>
          <a:p>
            <a:pPr lvl="1">
              <a:lnSpc>
                <a:spcPct val="90000"/>
              </a:lnSpc>
            </a:pPr>
            <a:r>
              <a:rPr lang="en-GB" sz="2400"/>
              <a:t>separation of presentation layer from other 2 layers (app + resource)  </a:t>
            </a:r>
          </a:p>
          <a:p>
            <a:pPr lvl="1">
              <a:lnSpc>
                <a:spcPct val="90000"/>
              </a:lnSpc>
            </a:pPr>
            <a:r>
              <a:rPr lang="en-GB" sz="2400"/>
              <a:t>became popular as 'server/client' systems</a:t>
            </a:r>
          </a:p>
          <a:p>
            <a:pPr>
              <a:lnSpc>
                <a:spcPct val="90000"/>
              </a:lnSpc>
            </a:pPr>
            <a:r>
              <a:rPr lang="de-DE" sz="2800"/>
              <a:t>3 layer architecture</a:t>
            </a:r>
          </a:p>
          <a:p>
            <a:pPr lvl="1">
              <a:lnSpc>
                <a:spcPct val="90000"/>
              </a:lnSpc>
            </a:pPr>
            <a:r>
              <a:rPr lang="en-GB" sz="2400"/>
              <a:t>can be achieved by separating RM (resource management) from application logic layer</a:t>
            </a:r>
          </a:p>
          <a:p>
            <a:pPr>
              <a:lnSpc>
                <a:spcPct val="90000"/>
              </a:lnSpc>
            </a:pPr>
            <a:endParaRPr lang="de-DE" sz="2800"/>
          </a:p>
        </p:txBody>
      </p:sp>
    </p:spTree>
    <p:extLst>
      <p:ext uri="{BB962C8B-B14F-4D97-AF65-F5344CB8AC3E}">
        <p14:creationId xmlns:p14="http://schemas.microsoft.com/office/powerpoint/2010/main" val="13527225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rmAutofit/>
          </a:bodyPr>
          <a:lstStyle/>
          <a:p>
            <a:pPr eaLnBrk="1" hangingPunct="1"/>
            <a:r>
              <a:rPr lang="en-US" sz="3500" dirty="0" smtClean="0"/>
              <a:t>Problems with function based application</a:t>
            </a:r>
          </a:p>
        </p:txBody>
      </p:sp>
      <p:sp>
        <p:nvSpPr>
          <p:cNvPr id="14340" name="Rectangle 3"/>
          <p:cNvSpPr>
            <a:spLocks noGrp="1" noChangeArrowheads="1"/>
          </p:cNvSpPr>
          <p:nvPr>
            <p:ph type="body" idx="1"/>
          </p:nvPr>
        </p:nvSpPr>
        <p:spPr>
          <a:xfrm>
            <a:off x="457200" y="1719263"/>
            <a:ext cx="5051425" cy="4411662"/>
          </a:xfrm>
        </p:spPr>
        <p:txBody>
          <a:bodyPr>
            <a:normAutofit lnSpcReduction="10000"/>
          </a:bodyPr>
          <a:lstStyle/>
          <a:p>
            <a:pPr eaLnBrk="1" hangingPunct="1"/>
            <a:r>
              <a:rPr lang="en-US" sz="2000" dirty="0" smtClean="0"/>
              <a:t>Sharing of data between systems</a:t>
            </a:r>
          </a:p>
          <a:p>
            <a:pPr lvl="1" eaLnBrk="1" hangingPunct="1"/>
            <a:r>
              <a:rPr lang="en-US" sz="1600" dirty="0" smtClean="0"/>
              <a:t>Data duplication</a:t>
            </a:r>
          </a:p>
          <a:p>
            <a:pPr lvl="1" eaLnBrk="1" hangingPunct="1"/>
            <a:r>
              <a:rPr lang="en-US" sz="1600" dirty="0" smtClean="0"/>
              <a:t>Data inconsistency</a:t>
            </a:r>
          </a:p>
          <a:p>
            <a:pPr eaLnBrk="1" hangingPunct="1"/>
            <a:r>
              <a:rPr lang="en-US" sz="2000" dirty="0" smtClean="0"/>
              <a:t>Applications that don’t talk to one another</a:t>
            </a:r>
          </a:p>
          <a:p>
            <a:pPr lvl="1" eaLnBrk="1" hangingPunct="1"/>
            <a:r>
              <a:rPr lang="en-US" sz="1600" dirty="0" smtClean="0"/>
              <a:t>Limited or lack of integrated information</a:t>
            </a:r>
          </a:p>
          <a:p>
            <a:pPr eaLnBrk="1" hangingPunct="1"/>
            <a:r>
              <a:rPr lang="en-US" sz="2000" dirty="0" smtClean="0"/>
              <a:t>Isolated decisions lead to overall inefficiencies</a:t>
            </a:r>
          </a:p>
          <a:p>
            <a:pPr lvl="1" eaLnBrk="1" hangingPunct="1"/>
            <a:r>
              <a:rPr lang="en-US" sz="1600" dirty="0" smtClean="0"/>
              <a:t>Increased expenses</a:t>
            </a:r>
          </a:p>
          <a:p>
            <a:pPr lvl="1" eaLnBrk="1" hangingPunct="1"/>
            <a:endParaRPr lang="en-US" sz="1600" dirty="0" smtClean="0"/>
          </a:p>
          <a:p>
            <a:pPr eaLnBrk="1" hangingPunct="1"/>
            <a:r>
              <a:rPr lang="en-US" sz="2000" dirty="0" smtClean="0"/>
              <a:t>Therefore, there is a general requirement for integration to support </a:t>
            </a:r>
            <a:r>
              <a:rPr lang="en-US" sz="2000" dirty="0" err="1" smtClean="0"/>
              <a:t>organisational</a:t>
            </a:r>
            <a:r>
              <a:rPr lang="en-US" sz="2000" dirty="0" smtClean="0"/>
              <a:t> system capabilities</a:t>
            </a:r>
          </a:p>
          <a:p>
            <a:pPr lvl="1" eaLnBrk="1" hangingPunct="1"/>
            <a:r>
              <a:rPr lang="en-US" sz="1600" dirty="0" smtClean="0"/>
              <a:t>For instance Customer Relationship Management – tracking all information about a customer across the enterprise</a:t>
            </a:r>
          </a:p>
        </p:txBody>
      </p:sp>
      <p:pic>
        <p:nvPicPr>
          <p:cNvPr id="14341" name="Picture 5" descr="stove-pipe-s_0">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1484313"/>
            <a:ext cx="3711575"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6"/>
          <p:cNvSpPr>
            <a:spLocks noChangeArrowheads="1"/>
          </p:cNvSpPr>
          <p:nvPr/>
        </p:nvSpPr>
        <p:spPr bwMode="auto">
          <a:xfrm>
            <a:off x="5867400" y="5084763"/>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sz="2400"/>
              <a:t>Stovepipe systems</a:t>
            </a:r>
            <a:endParaRPr lang="en-US" sz="2400"/>
          </a:p>
        </p:txBody>
      </p:sp>
      <p:sp>
        <p:nvSpPr>
          <p:cNvPr id="14343" name="Rectangle 7"/>
          <p:cNvSpPr>
            <a:spLocks noChangeArrowheads="1"/>
          </p:cNvSpPr>
          <p:nvPr/>
        </p:nvSpPr>
        <p:spPr bwMode="auto">
          <a:xfrm>
            <a:off x="5651500" y="2108200"/>
            <a:ext cx="552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a:t>HR</a:t>
            </a:r>
            <a:endParaRPr lang="en-US"/>
          </a:p>
        </p:txBody>
      </p:sp>
      <p:sp>
        <p:nvSpPr>
          <p:cNvPr id="14344" name="Rectangle 8"/>
          <p:cNvSpPr>
            <a:spLocks noChangeArrowheads="1"/>
          </p:cNvSpPr>
          <p:nvPr/>
        </p:nvSpPr>
        <p:spPr bwMode="auto">
          <a:xfrm>
            <a:off x="6316663" y="2060575"/>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a:t>Sales</a:t>
            </a:r>
            <a:endParaRPr lang="en-US"/>
          </a:p>
        </p:txBody>
      </p:sp>
      <p:sp>
        <p:nvSpPr>
          <p:cNvPr id="14345" name="Rectangle 9"/>
          <p:cNvSpPr>
            <a:spLocks noChangeArrowheads="1"/>
          </p:cNvSpPr>
          <p:nvPr/>
        </p:nvSpPr>
        <p:spPr bwMode="auto">
          <a:xfrm>
            <a:off x="7164388" y="2492375"/>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eaLnBrk="1" hangingPunct="1"/>
            <a:r>
              <a:rPr lang="en-GB"/>
              <a:t>Manufacturing</a:t>
            </a:r>
            <a:endParaRPr lang="en-US"/>
          </a:p>
        </p:txBody>
      </p:sp>
    </p:spTree>
    <p:extLst>
      <p:ext uri="{BB962C8B-B14F-4D97-AF65-F5344CB8AC3E}">
        <p14:creationId xmlns:p14="http://schemas.microsoft.com/office/powerpoint/2010/main" val="1707711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p:cNvSpPr>
            <a:spLocks noGrp="1"/>
          </p:cNvSpPr>
          <p:nvPr>
            <p:ph type="title"/>
          </p:nvPr>
        </p:nvSpPr>
        <p:spPr/>
        <p:txBody>
          <a:bodyPr/>
          <a:lstStyle/>
          <a:p>
            <a:r>
              <a:rPr lang="en-IE" smtClean="0"/>
              <a:t>Enterprise process models</a:t>
            </a:r>
          </a:p>
        </p:txBody>
      </p:sp>
      <p:sp>
        <p:nvSpPr>
          <p:cNvPr id="12291" name="Content Placeholder 5"/>
          <p:cNvSpPr>
            <a:spLocks noGrp="1"/>
          </p:cNvSpPr>
          <p:nvPr>
            <p:ph idx="1"/>
          </p:nvPr>
        </p:nvSpPr>
        <p:spPr/>
        <p:txBody>
          <a:bodyPr/>
          <a:lstStyle/>
          <a:p>
            <a:r>
              <a:rPr lang="en-IE" sz="2400" smtClean="0"/>
              <a:t>Each process model captures the series of steps and interactions required to complete a specific business process</a:t>
            </a:r>
          </a:p>
          <a:p>
            <a:endParaRPr lang="en-IE" sz="2400" smtClean="0"/>
          </a:p>
          <a:p>
            <a:r>
              <a:rPr lang="en-IE" sz="2400" smtClean="0"/>
              <a:t>The execution of the process will impact on the enterprise data across one or more applications</a:t>
            </a:r>
          </a:p>
          <a:p>
            <a:endParaRPr lang="en-IE" sz="2400" smtClean="0"/>
          </a:p>
          <a:p>
            <a:r>
              <a:rPr lang="en-IE" sz="2400" smtClean="0"/>
              <a:t>A process may be executed within a single application or more often through collaboration between several applications</a:t>
            </a:r>
          </a:p>
        </p:txBody>
      </p:sp>
    </p:spTree>
    <p:extLst>
      <p:ext uri="{BB962C8B-B14F-4D97-AF65-F5344CB8AC3E}">
        <p14:creationId xmlns:p14="http://schemas.microsoft.com/office/powerpoint/2010/main" val="3774556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gcsharma\Desktop\order-manageme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43000"/>
            <a:ext cx="4810192" cy="46634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81000" y="0"/>
            <a:ext cx="8229600" cy="1143000"/>
          </a:xfrm>
        </p:spPr>
        <p:txBody>
          <a:bodyPr/>
          <a:lstStyle/>
          <a:p>
            <a:r>
              <a:rPr lang="en-US" dirty="0" smtClean="0"/>
              <a:t>A Typical business process</a:t>
            </a:r>
            <a:endParaRPr lang="en-US" dirty="0"/>
          </a:p>
        </p:txBody>
      </p:sp>
      <p:sp>
        <p:nvSpPr>
          <p:cNvPr id="5" name="Content Placeholder 4"/>
          <p:cNvSpPr>
            <a:spLocks noGrp="1"/>
          </p:cNvSpPr>
          <p:nvPr>
            <p:ph idx="1"/>
          </p:nvPr>
        </p:nvSpPr>
        <p:spPr>
          <a:xfrm>
            <a:off x="457200" y="2133600"/>
            <a:ext cx="8229600" cy="4525963"/>
          </a:xfrm>
        </p:spPr>
        <p:txBody>
          <a:bodyPr>
            <a:normAutofit fontScale="925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A simple order management talks to a least 5-6 systems</a:t>
            </a:r>
            <a:endParaRPr lang="en-US" dirty="0"/>
          </a:p>
        </p:txBody>
      </p:sp>
    </p:spTree>
    <p:extLst>
      <p:ext uri="{BB962C8B-B14F-4D97-AF65-F5344CB8AC3E}">
        <p14:creationId xmlns:p14="http://schemas.microsoft.com/office/powerpoint/2010/main" val="35190804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for Integration</a:t>
            </a:r>
            <a:endParaRPr lang="en-US" dirty="0"/>
          </a:p>
        </p:txBody>
      </p:sp>
      <p:sp>
        <p:nvSpPr>
          <p:cNvPr id="3" name="Content Placeholder 2"/>
          <p:cNvSpPr>
            <a:spLocks noGrp="1"/>
          </p:cNvSpPr>
          <p:nvPr>
            <p:ph idx="1"/>
          </p:nvPr>
        </p:nvSpPr>
        <p:spPr/>
        <p:txBody>
          <a:bodyPr/>
          <a:lstStyle/>
          <a:p>
            <a:pPr>
              <a:lnSpc>
                <a:spcPct val="90000"/>
              </a:lnSpc>
              <a:buClr>
                <a:schemeClr val="tx2"/>
              </a:buClr>
              <a:buSzPct val="70000"/>
              <a:buFont typeface="Wingdings" pitchFamily="2" charset="2"/>
              <a:buChar char="l"/>
            </a:pPr>
            <a:r>
              <a:rPr lang="en-US" sz="2200" dirty="0"/>
              <a:t>Unrestricted sharing of data and business processes across an organization</a:t>
            </a:r>
          </a:p>
          <a:p>
            <a:pPr lvl="1">
              <a:lnSpc>
                <a:spcPct val="90000"/>
              </a:lnSpc>
              <a:buClr>
                <a:schemeClr val="tx2"/>
              </a:buClr>
              <a:buSzPct val="70000"/>
              <a:buFont typeface="Wingdings" pitchFamily="2" charset="2"/>
              <a:buChar char="l"/>
            </a:pPr>
            <a:r>
              <a:rPr lang="en-US" sz="2200" dirty="0"/>
              <a:t>Extend to customers, suppliers and regulators</a:t>
            </a:r>
            <a:br>
              <a:rPr lang="en-US" sz="2200" dirty="0"/>
            </a:br>
            <a:endParaRPr lang="en-US" sz="2200" dirty="0"/>
          </a:p>
          <a:p>
            <a:pPr>
              <a:lnSpc>
                <a:spcPct val="90000"/>
              </a:lnSpc>
              <a:buClr>
                <a:schemeClr val="tx2"/>
              </a:buClr>
              <a:buSzPct val="70000"/>
              <a:buFont typeface="Wingdings" pitchFamily="2" charset="2"/>
              <a:buChar char="l"/>
            </a:pPr>
            <a:r>
              <a:rPr lang="en-US" sz="2200" dirty="0"/>
              <a:t>The linking of data, business processes and applications to </a:t>
            </a:r>
            <a:r>
              <a:rPr lang="en-GB" sz="2200" dirty="0" smtClean="0"/>
              <a:t>automate </a:t>
            </a:r>
            <a:r>
              <a:rPr lang="en-GB" sz="2200" dirty="0"/>
              <a:t>business processes</a:t>
            </a:r>
          </a:p>
          <a:p>
            <a:pPr lvl="1">
              <a:lnSpc>
                <a:spcPct val="90000"/>
              </a:lnSpc>
              <a:buClr>
                <a:schemeClr val="tx2"/>
              </a:buClr>
              <a:buSzPct val="70000"/>
              <a:buFont typeface="Wingdings" pitchFamily="2" charset="2"/>
              <a:buChar char="l"/>
            </a:pPr>
            <a:r>
              <a:rPr lang="en-US" sz="2200" dirty="0" smtClean="0"/>
              <a:t>Ensuring there </a:t>
            </a:r>
            <a:r>
              <a:rPr lang="en-US" sz="2200" dirty="0"/>
              <a:t>are consistent qualities of service (security, reliability </a:t>
            </a:r>
            <a:r>
              <a:rPr lang="en-US" sz="2200" dirty="0" err="1"/>
              <a:t>etc</a:t>
            </a:r>
            <a:r>
              <a:rPr lang="en-US" sz="2200" dirty="0" smtClean="0"/>
              <a:t>)</a:t>
            </a:r>
          </a:p>
          <a:p>
            <a:pPr lvl="1">
              <a:lnSpc>
                <a:spcPct val="90000"/>
              </a:lnSpc>
              <a:buClr>
                <a:schemeClr val="tx2"/>
              </a:buClr>
              <a:buSzPct val="70000"/>
              <a:buFont typeface="Wingdings" pitchFamily="2" charset="2"/>
              <a:buChar char="l"/>
            </a:pPr>
            <a:endParaRPr lang="en-US" sz="2200" dirty="0"/>
          </a:p>
          <a:p>
            <a:pPr>
              <a:lnSpc>
                <a:spcPct val="90000"/>
              </a:lnSpc>
              <a:buClr>
                <a:schemeClr val="tx2"/>
              </a:buClr>
              <a:buSzPct val="70000"/>
              <a:buFont typeface="Wingdings" pitchFamily="2" charset="2"/>
              <a:buChar char="l"/>
            </a:pPr>
            <a:r>
              <a:rPr lang="en-GB" sz="2200" dirty="0" smtClean="0"/>
              <a:t>Reduce </a:t>
            </a:r>
            <a:r>
              <a:rPr lang="en-GB" sz="2200" dirty="0"/>
              <a:t>the on-going cost of maintenance and reduce the cost of rolling out new systems.</a:t>
            </a:r>
            <a:endParaRPr lang="en-US" sz="2200" dirty="0"/>
          </a:p>
          <a:p>
            <a:endParaRPr lang="en-US" dirty="0"/>
          </a:p>
        </p:txBody>
      </p:sp>
    </p:spTree>
    <p:extLst>
      <p:ext uri="{BB962C8B-B14F-4D97-AF65-F5344CB8AC3E}">
        <p14:creationId xmlns:p14="http://schemas.microsoft.com/office/powerpoint/2010/main" val="29946474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Challenge</a:t>
            </a:r>
            <a:endParaRPr lang="en-US" dirty="0"/>
          </a:p>
        </p:txBody>
      </p:sp>
      <p:sp>
        <p:nvSpPr>
          <p:cNvPr id="3" name="Content Placeholder 2"/>
          <p:cNvSpPr>
            <a:spLocks noGrp="1"/>
          </p:cNvSpPr>
          <p:nvPr>
            <p:ph idx="1"/>
          </p:nvPr>
        </p:nvSpPr>
        <p:spPr/>
        <p:txBody>
          <a:bodyPr/>
          <a:lstStyle/>
          <a:p>
            <a:pPr>
              <a:defRPr/>
            </a:pPr>
            <a:r>
              <a:rPr lang="nl-NL" dirty="0" smtClean="0"/>
              <a:t>Heterogenous technology environments</a:t>
            </a:r>
            <a:endParaRPr lang="nl-NL" dirty="0"/>
          </a:p>
          <a:p>
            <a:pPr>
              <a:defRPr/>
            </a:pPr>
            <a:r>
              <a:rPr lang="nl-NL" dirty="0"/>
              <a:t>Support for different interfaces and functionality</a:t>
            </a:r>
          </a:p>
          <a:p>
            <a:pPr>
              <a:defRPr/>
            </a:pPr>
            <a:r>
              <a:rPr lang="nl-NL" dirty="0" smtClean="0"/>
              <a:t>Variety of data </a:t>
            </a:r>
            <a:r>
              <a:rPr lang="nl-NL" dirty="0"/>
              <a:t>format</a:t>
            </a:r>
          </a:p>
          <a:p>
            <a:pPr>
              <a:defRPr/>
            </a:pPr>
            <a:r>
              <a:rPr lang="nl-NL" dirty="0" smtClean="0"/>
              <a:t>Security </a:t>
            </a:r>
            <a:r>
              <a:rPr lang="nl-NL" dirty="0"/>
              <a:t>requirements</a:t>
            </a:r>
          </a:p>
          <a:p>
            <a:pPr>
              <a:defRPr/>
            </a:pPr>
            <a:r>
              <a:rPr lang="nl-NL" dirty="0"/>
              <a:t>Different infrastructure and interaction </a:t>
            </a:r>
            <a:r>
              <a:rPr lang="nl-NL" dirty="0" smtClean="0"/>
              <a:t>protocols</a:t>
            </a:r>
          </a:p>
          <a:p>
            <a:pPr>
              <a:defRPr/>
            </a:pPr>
            <a:endParaRPr lang="nl-NL" dirty="0"/>
          </a:p>
          <a:p>
            <a:endParaRPr lang="en-US" dirty="0"/>
          </a:p>
        </p:txBody>
      </p:sp>
    </p:spTree>
    <p:extLst>
      <p:ext uri="{BB962C8B-B14F-4D97-AF65-F5344CB8AC3E}">
        <p14:creationId xmlns:p14="http://schemas.microsoft.com/office/powerpoint/2010/main" val="28028518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Pain Points</a:t>
            </a:r>
            <a:endParaRPr lang="en-US" dirty="0"/>
          </a:p>
        </p:txBody>
      </p:sp>
      <p:sp>
        <p:nvSpPr>
          <p:cNvPr id="3" name="Content Placeholder 2"/>
          <p:cNvSpPr>
            <a:spLocks noGrp="1"/>
          </p:cNvSpPr>
          <p:nvPr>
            <p:ph idx="1"/>
          </p:nvPr>
        </p:nvSpPr>
        <p:spPr/>
        <p:txBody>
          <a:bodyPr>
            <a:normAutofit/>
          </a:bodyPr>
          <a:lstStyle/>
          <a:p>
            <a:r>
              <a:rPr lang="en-US" dirty="0" smtClean="0"/>
              <a:t>Fragile </a:t>
            </a:r>
            <a:r>
              <a:rPr lang="en-US" dirty="0"/>
              <a:t>point to point connections</a:t>
            </a:r>
          </a:p>
          <a:p>
            <a:r>
              <a:rPr lang="en-US" dirty="0" smtClean="0"/>
              <a:t>Heavy </a:t>
            </a:r>
            <a:r>
              <a:rPr lang="en-US" dirty="0"/>
              <a:t>redundancy </a:t>
            </a:r>
            <a:r>
              <a:rPr lang="en-US" dirty="0" smtClean="0"/>
              <a:t>in connections</a:t>
            </a:r>
            <a:endParaRPr lang="en-US" dirty="0"/>
          </a:p>
          <a:p>
            <a:r>
              <a:rPr lang="en-US" dirty="0" smtClean="0"/>
              <a:t>Tight </a:t>
            </a:r>
            <a:r>
              <a:rPr lang="en-US" dirty="0"/>
              <a:t>dependencies between systems</a:t>
            </a:r>
          </a:p>
          <a:p>
            <a:r>
              <a:rPr lang="en-US" dirty="0" smtClean="0"/>
              <a:t>Lack </a:t>
            </a:r>
            <a:r>
              <a:rPr lang="en-US" dirty="0"/>
              <a:t>of flexibility and </a:t>
            </a:r>
            <a:r>
              <a:rPr lang="en-US" dirty="0" smtClean="0"/>
              <a:t>slow reaction </a:t>
            </a:r>
            <a:r>
              <a:rPr lang="en-US" dirty="0"/>
              <a:t>to changing </a:t>
            </a:r>
            <a:r>
              <a:rPr lang="en-US" dirty="0" smtClean="0"/>
              <a:t>business and  technology</a:t>
            </a:r>
            <a:endParaRPr lang="en-US" dirty="0"/>
          </a:p>
          <a:p>
            <a:r>
              <a:rPr lang="en-US" dirty="0" smtClean="0"/>
              <a:t> </a:t>
            </a:r>
            <a:r>
              <a:rPr lang="en-US" dirty="0"/>
              <a:t>High cost of maintaining and </a:t>
            </a:r>
            <a:r>
              <a:rPr lang="en-US" dirty="0" smtClean="0"/>
              <a:t>upgrading systems</a:t>
            </a:r>
            <a:endParaRPr lang="en-US" dirty="0"/>
          </a:p>
          <a:p>
            <a:r>
              <a:rPr lang="en-US" dirty="0" smtClean="0"/>
              <a:t>Difficulty </a:t>
            </a:r>
            <a:r>
              <a:rPr lang="en-US" dirty="0"/>
              <a:t>in diagnosing and resolving issues</a:t>
            </a:r>
            <a:endParaRPr lang="nl-NL" dirty="0"/>
          </a:p>
          <a:p>
            <a:endParaRPr lang="en-US" dirty="0"/>
          </a:p>
        </p:txBody>
      </p:sp>
    </p:spTree>
    <p:extLst>
      <p:ext uri="{BB962C8B-B14F-4D97-AF65-F5344CB8AC3E}">
        <p14:creationId xmlns:p14="http://schemas.microsoft.com/office/powerpoint/2010/main" val="7426620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reeform 2"/>
          <p:cNvSpPr>
            <a:spLocks/>
          </p:cNvSpPr>
          <p:nvPr/>
        </p:nvSpPr>
        <p:spPr bwMode="auto">
          <a:xfrm>
            <a:off x="3848100" y="3093554"/>
            <a:ext cx="1839913" cy="2025650"/>
          </a:xfrm>
          <a:custGeom>
            <a:avLst/>
            <a:gdLst>
              <a:gd name="T0" fmla="*/ 912 w 1690"/>
              <a:gd name="T1" fmla="*/ 202 h 1862"/>
              <a:gd name="T2" fmla="*/ 936 w 1690"/>
              <a:gd name="T3" fmla="*/ 146 h 1862"/>
              <a:gd name="T4" fmla="*/ 990 w 1690"/>
              <a:gd name="T5" fmla="*/ 84 h 1862"/>
              <a:gd name="T6" fmla="*/ 958 w 1690"/>
              <a:gd name="T7" fmla="*/ 30 h 1862"/>
              <a:gd name="T8" fmla="*/ 828 w 1690"/>
              <a:gd name="T9" fmla="*/ 0 h 1862"/>
              <a:gd name="T10" fmla="*/ 712 w 1690"/>
              <a:gd name="T11" fmla="*/ 54 h 1862"/>
              <a:gd name="T12" fmla="*/ 710 w 1690"/>
              <a:gd name="T13" fmla="*/ 112 h 1862"/>
              <a:gd name="T14" fmla="*/ 778 w 1690"/>
              <a:gd name="T15" fmla="*/ 172 h 1862"/>
              <a:gd name="T16" fmla="*/ 756 w 1690"/>
              <a:gd name="T17" fmla="*/ 224 h 1862"/>
              <a:gd name="T18" fmla="*/ 268 w 1690"/>
              <a:gd name="T19" fmla="*/ 514 h 1862"/>
              <a:gd name="T20" fmla="*/ 212 w 1690"/>
              <a:gd name="T21" fmla="*/ 506 h 1862"/>
              <a:gd name="T22" fmla="*/ 196 w 1690"/>
              <a:gd name="T23" fmla="*/ 416 h 1862"/>
              <a:gd name="T24" fmla="*/ 142 w 1690"/>
              <a:gd name="T25" fmla="*/ 388 h 1862"/>
              <a:gd name="T26" fmla="*/ 40 w 1690"/>
              <a:gd name="T27" fmla="*/ 462 h 1862"/>
              <a:gd name="T28" fmla="*/ 0 w 1690"/>
              <a:gd name="T29" fmla="*/ 590 h 1862"/>
              <a:gd name="T30" fmla="*/ 30 w 1690"/>
              <a:gd name="T31" fmla="*/ 644 h 1862"/>
              <a:gd name="T32" fmla="*/ 112 w 1690"/>
              <a:gd name="T33" fmla="*/ 628 h 1862"/>
              <a:gd name="T34" fmla="*/ 172 w 1690"/>
              <a:gd name="T35" fmla="*/ 636 h 1862"/>
              <a:gd name="T36" fmla="*/ 178 w 1690"/>
              <a:gd name="T37" fmla="*/ 1152 h 1862"/>
              <a:gd name="T38" fmla="*/ 172 w 1690"/>
              <a:gd name="T39" fmla="*/ 1236 h 1862"/>
              <a:gd name="T40" fmla="*/ 104 w 1690"/>
              <a:gd name="T41" fmla="*/ 1230 h 1862"/>
              <a:gd name="T42" fmla="*/ 36 w 1690"/>
              <a:gd name="T43" fmla="*/ 1222 h 1862"/>
              <a:gd name="T44" fmla="*/ 6 w 1690"/>
              <a:gd name="T45" fmla="*/ 1302 h 1862"/>
              <a:gd name="T46" fmla="*/ 60 w 1690"/>
              <a:gd name="T47" fmla="*/ 1424 h 1862"/>
              <a:gd name="T48" fmla="*/ 160 w 1690"/>
              <a:gd name="T49" fmla="*/ 1480 h 1862"/>
              <a:gd name="T50" fmla="*/ 204 w 1690"/>
              <a:gd name="T51" fmla="*/ 1442 h 1862"/>
              <a:gd name="T52" fmla="*/ 226 w 1690"/>
              <a:gd name="T53" fmla="*/ 1354 h 1862"/>
              <a:gd name="T54" fmla="*/ 296 w 1690"/>
              <a:gd name="T55" fmla="*/ 1368 h 1862"/>
              <a:gd name="T56" fmla="*/ 766 w 1690"/>
              <a:gd name="T57" fmla="*/ 1644 h 1862"/>
              <a:gd name="T58" fmla="*/ 776 w 1690"/>
              <a:gd name="T59" fmla="*/ 1698 h 1862"/>
              <a:gd name="T60" fmla="*/ 706 w 1690"/>
              <a:gd name="T61" fmla="*/ 1758 h 1862"/>
              <a:gd name="T62" fmla="*/ 718 w 1690"/>
              <a:gd name="T63" fmla="*/ 1818 h 1862"/>
              <a:gd name="T64" fmla="*/ 846 w 1690"/>
              <a:gd name="T65" fmla="*/ 1862 h 1862"/>
              <a:gd name="T66" fmla="*/ 966 w 1690"/>
              <a:gd name="T67" fmla="*/ 1826 h 1862"/>
              <a:gd name="T68" fmla="*/ 990 w 1690"/>
              <a:gd name="T69" fmla="*/ 1766 h 1862"/>
              <a:gd name="T70" fmla="*/ 922 w 1690"/>
              <a:gd name="T71" fmla="*/ 1704 h 1862"/>
              <a:gd name="T72" fmla="*/ 918 w 1690"/>
              <a:gd name="T73" fmla="*/ 1652 h 1862"/>
              <a:gd name="T74" fmla="*/ 1386 w 1690"/>
              <a:gd name="T75" fmla="*/ 1380 h 1862"/>
              <a:gd name="T76" fmla="*/ 1456 w 1690"/>
              <a:gd name="T77" fmla="*/ 1350 h 1862"/>
              <a:gd name="T78" fmla="*/ 1484 w 1690"/>
              <a:gd name="T79" fmla="*/ 1430 h 1862"/>
              <a:gd name="T80" fmla="*/ 1520 w 1690"/>
              <a:gd name="T81" fmla="*/ 1480 h 1862"/>
              <a:gd name="T82" fmla="*/ 1614 w 1690"/>
              <a:gd name="T83" fmla="*/ 1444 h 1862"/>
              <a:gd name="T84" fmla="*/ 1680 w 1690"/>
              <a:gd name="T85" fmla="*/ 1330 h 1862"/>
              <a:gd name="T86" fmla="*/ 1664 w 1690"/>
              <a:gd name="T87" fmla="*/ 1232 h 1862"/>
              <a:gd name="T88" fmla="*/ 1602 w 1690"/>
              <a:gd name="T89" fmla="*/ 1224 h 1862"/>
              <a:gd name="T90" fmla="*/ 1520 w 1690"/>
              <a:gd name="T91" fmla="*/ 1240 h 1862"/>
              <a:gd name="T92" fmla="*/ 1510 w 1690"/>
              <a:gd name="T93" fmla="*/ 1164 h 1862"/>
              <a:gd name="T94" fmla="*/ 1512 w 1690"/>
              <a:gd name="T95" fmla="*/ 634 h 1862"/>
              <a:gd name="T96" fmla="*/ 1562 w 1690"/>
              <a:gd name="T97" fmla="*/ 612 h 1862"/>
              <a:gd name="T98" fmla="*/ 1648 w 1690"/>
              <a:gd name="T99" fmla="*/ 640 h 1862"/>
              <a:gd name="T100" fmla="*/ 1688 w 1690"/>
              <a:gd name="T101" fmla="*/ 590 h 1862"/>
              <a:gd name="T102" fmla="*/ 1660 w 1690"/>
              <a:gd name="T103" fmla="*/ 468 h 1862"/>
              <a:gd name="T104" fmla="*/ 1556 w 1690"/>
              <a:gd name="T105" fmla="*/ 378 h 1862"/>
              <a:gd name="T106" fmla="*/ 1498 w 1690"/>
              <a:gd name="T107" fmla="*/ 400 h 1862"/>
              <a:gd name="T108" fmla="*/ 1482 w 1690"/>
              <a:gd name="T109" fmla="*/ 488 h 1862"/>
              <a:gd name="T110" fmla="*/ 1432 w 1690"/>
              <a:gd name="T111" fmla="*/ 510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90" h="1862">
                <a:moveTo>
                  <a:pt x="982" y="242"/>
                </a:moveTo>
                <a:lnTo>
                  <a:pt x="982" y="242"/>
                </a:lnTo>
                <a:lnTo>
                  <a:pt x="960" y="236"/>
                </a:lnTo>
                <a:lnTo>
                  <a:pt x="936" y="224"/>
                </a:lnTo>
                <a:lnTo>
                  <a:pt x="926" y="218"/>
                </a:lnTo>
                <a:lnTo>
                  <a:pt x="918" y="212"/>
                </a:lnTo>
                <a:lnTo>
                  <a:pt x="912" y="202"/>
                </a:lnTo>
                <a:lnTo>
                  <a:pt x="910" y="194"/>
                </a:lnTo>
                <a:lnTo>
                  <a:pt x="910" y="194"/>
                </a:lnTo>
                <a:lnTo>
                  <a:pt x="912" y="182"/>
                </a:lnTo>
                <a:lnTo>
                  <a:pt x="914" y="172"/>
                </a:lnTo>
                <a:lnTo>
                  <a:pt x="918" y="164"/>
                </a:lnTo>
                <a:lnTo>
                  <a:pt x="922" y="158"/>
                </a:lnTo>
                <a:lnTo>
                  <a:pt x="936" y="146"/>
                </a:lnTo>
                <a:lnTo>
                  <a:pt x="950" y="138"/>
                </a:lnTo>
                <a:lnTo>
                  <a:pt x="964" y="130"/>
                </a:lnTo>
                <a:lnTo>
                  <a:pt x="978" y="120"/>
                </a:lnTo>
                <a:lnTo>
                  <a:pt x="982" y="112"/>
                </a:lnTo>
                <a:lnTo>
                  <a:pt x="986" y="104"/>
                </a:lnTo>
                <a:lnTo>
                  <a:pt x="990" y="96"/>
                </a:lnTo>
                <a:lnTo>
                  <a:pt x="990" y="84"/>
                </a:lnTo>
                <a:lnTo>
                  <a:pt x="990" y="84"/>
                </a:lnTo>
                <a:lnTo>
                  <a:pt x="990" y="72"/>
                </a:lnTo>
                <a:lnTo>
                  <a:pt x="986" y="62"/>
                </a:lnTo>
                <a:lnTo>
                  <a:pt x="982" y="54"/>
                </a:lnTo>
                <a:lnTo>
                  <a:pt x="974" y="44"/>
                </a:lnTo>
                <a:lnTo>
                  <a:pt x="966" y="36"/>
                </a:lnTo>
                <a:lnTo>
                  <a:pt x="958" y="30"/>
                </a:lnTo>
                <a:lnTo>
                  <a:pt x="936" y="18"/>
                </a:lnTo>
                <a:lnTo>
                  <a:pt x="912" y="10"/>
                </a:lnTo>
                <a:lnTo>
                  <a:pt x="888" y="4"/>
                </a:lnTo>
                <a:lnTo>
                  <a:pt x="866" y="0"/>
                </a:lnTo>
                <a:lnTo>
                  <a:pt x="846" y="0"/>
                </a:lnTo>
                <a:lnTo>
                  <a:pt x="846" y="0"/>
                </a:lnTo>
                <a:lnTo>
                  <a:pt x="828" y="0"/>
                </a:lnTo>
                <a:lnTo>
                  <a:pt x="804" y="4"/>
                </a:lnTo>
                <a:lnTo>
                  <a:pt x="780" y="10"/>
                </a:lnTo>
                <a:lnTo>
                  <a:pt x="756" y="18"/>
                </a:lnTo>
                <a:lnTo>
                  <a:pt x="736" y="30"/>
                </a:lnTo>
                <a:lnTo>
                  <a:pt x="726" y="36"/>
                </a:lnTo>
                <a:lnTo>
                  <a:pt x="718" y="44"/>
                </a:lnTo>
                <a:lnTo>
                  <a:pt x="712" y="54"/>
                </a:lnTo>
                <a:lnTo>
                  <a:pt x="706" y="62"/>
                </a:lnTo>
                <a:lnTo>
                  <a:pt x="704" y="72"/>
                </a:lnTo>
                <a:lnTo>
                  <a:pt x="702" y="84"/>
                </a:lnTo>
                <a:lnTo>
                  <a:pt x="702" y="84"/>
                </a:lnTo>
                <a:lnTo>
                  <a:pt x="704" y="96"/>
                </a:lnTo>
                <a:lnTo>
                  <a:pt x="706" y="104"/>
                </a:lnTo>
                <a:lnTo>
                  <a:pt x="710" y="112"/>
                </a:lnTo>
                <a:lnTo>
                  <a:pt x="716" y="120"/>
                </a:lnTo>
                <a:lnTo>
                  <a:pt x="728" y="130"/>
                </a:lnTo>
                <a:lnTo>
                  <a:pt x="742" y="138"/>
                </a:lnTo>
                <a:lnTo>
                  <a:pt x="758" y="146"/>
                </a:lnTo>
                <a:lnTo>
                  <a:pt x="770" y="158"/>
                </a:lnTo>
                <a:lnTo>
                  <a:pt x="776" y="164"/>
                </a:lnTo>
                <a:lnTo>
                  <a:pt x="778" y="172"/>
                </a:lnTo>
                <a:lnTo>
                  <a:pt x="782" y="182"/>
                </a:lnTo>
                <a:lnTo>
                  <a:pt x="782" y="194"/>
                </a:lnTo>
                <a:lnTo>
                  <a:pt x="782" y="194"/>
                </a:lnTo>
                <a:lnTo>
                  <a:pt x="780" y="202"/>
                </a:lnTo>
                <a:lnTo>
                  <a:pt x="774" y="212"/>
                </a:lnTo>
                <a:lnTo>
                  <a:pt x="766" y="218"/>
                </a:lnTo>
                <a:lnTo>
                  <a:pt x="756" y="224"/>
                </a:lnTo>
                <a:lnTo>
                  <a:pt x="734" y="236"/>
                </a:lnTo>
                <a:lnTo>
                  <a:pt x="712" y="242"/>
                </a:lnTo>
                <a:lnTo>
                  <a:pt x="446" y="238"/>
                </a:lnTo>
                <a:lnTo>
                  <a:pt x="306" y="484"/>
                </a:lnTo>
                <a:lnTo>
                  <a:pt x="306" y="484"/>
                </a:lnTo>
                <a:lnTo>
                  <a:pt x="288" y="500"/>
                </a:lnTo>
                <a:lnTo>
                  <a:pt x="268" y="514"/>
                </a:lnTo>
                <a:lnTo>
                  <a:pt x="258" y="518"/>
                </a:lnTo>
                <a:lnTo>
                  <a:pt x="248" y="522"/>
                </a:lnTo>
                <a:lnTo>
                  <a:pt x="238" y="522"/>
                </a:lnTo>
                <a:lnTo>
                  <a:pt x="230" y="520"/>
                </a:lnTo>
                <a:lnTo>
                  <a:pt x="230" y="520"/>
                </a:lnTo>
                <a:lnTo>
                  <a:pt x="220" y="514"/>
                </a:lnTo>
                <a:lnTo>
                  <a:pt x="212" y="506"/>
                </a:lnTo>
                <a:lnTo>
                  <a:pt x="208" y="498"/>
                </a:lnTo>
                <a:lnTo>
                  <a:pt x="204" y="490"/>
                </a:lnTo>
                <a:lnTo>
                  <a:pt x="200" y="474"/>
                </a:lnTo>
                <a:lnTo>
                  <a:pt x="200" y="458"/>
                </a:lnTo>
                <a:lnTo>
                  <a:pt x="200" y="442"/>
                </a:lnTo>
                <a:lnTo>
                  <a:pt x="198" y="424"/>
                </a:lnTo>
                <a:lnTo>
                  <a:pt x="196" y="416"/>
                </a:lnTo>
                <a:lnTo>
                  <a:pt x="190" y="410"/>
                </a:lnTo>
                <a:lnTo>
                  <a:pt x="184" y="402"/>
                </a:lnTo>
                <a:lnTo>
                  <a:pt x="174" y="396"/>
                </a:lnTo>
                <a:lnTo>
                  <a:pt x="174" y="396"/>
                </a:lnTo>
                <a:lnTo>
                  <a:pt x="164" y="390"/>
                </a:lnTo>
                <a:lnTo>
                  <a:pt x="154" y="388"/>
                </a:lnTo>
                <a:lnTo>
                  <a:pt x="142" y="388"/>
                </a:lnTo>
                <a:lnTo>
                  <a:pt x="132" y="390"/>
                </a:lnTo>
                <a:lnTo>
                  <a:pt x="122" y="392"/>
                </a:lnTo>
                <a:lnTo>
                  <a:pt x="110" y="398"/>
                </a:lnTo>
                <a:lnTo>
                  <a:pt x="90" y="410"/>
                </a:lnTo>
                <a:lnTo>
                  <a:pt x="70" y="426"/>
                </a:lnTo>
                <a:lnTo>
                  <a:pt x="54" y="444"/>
                </a:lnTo>
                <a:lnTo>
                  <a:pt x="40" y="462"/>
                </a:lnTo>
                <a:lnTo>
                  <a:pt x="30" y="478"/>
                </a:lnTo>
                <a:lnTo>
                  <a:pt x="30" y="478"/>
                </a:lnTo>
                <a:lnTo>
                  <a:pt x="20" y="496"/>
                </a:lnTo>
                <a:lnTo>
                  <a:pt x="12" y="516"/>
                </a:lnTo>
                <a:lnTo>
                  <a:pt x="4" y="540"/>
                </a:lnTo>
                <a:lnTo>
                  <a:pt x="0" y="566"/>
                </a:lnTo>
                <a:lnTo>
                  <a:pt x="0" y="590"/>
                </a:lnTo>
                <a:lnTo>
                  <a:pt x="2" y="602"/>
                </a:lnTo>
                <a:lnTo>
                  <a:pt x="4" y="612"/>
                </a:lnTo>
                <a:lnTo>
                  <a:pt x="8" y="622"/>
                </a:lnTo>
                <a:lnTo>
                  <a:pt x="14" y="630"/>
                </a:lnTo>
                <a:lnTo>
                  <a:pt x="20" y="638"/>
                </a:lnTo>
                <a:lnTo>
                  <a:pt x="30" y="644"/>
                </a:lnTo>
                <a:lnTo>
                  <a:pt x="30" y="644"/>
                </a:lnTo>
                <a:lnTo>
                  <a:pt x="40" y="650"/>
                </a:lnTo>
                <a:lnTo>
                  <a:pt x="50" y="652"/>
                </a:lnTo>
                <a:lnTo>
                  <a:pt x="58" y="652"/>
                </a:lnTo>
                <a:lnTo>
                  <a:pt x="68" y="652"/>
                </a:lnTo>
                <a:lnTo>
                  <a:pt x="82" y="646"/>
                </a:lnTo>
                <a:lnTo>
                  <a:pt x="98" y="638"/>
                </a:lnTo>
                <a:lnTo>
                  <a:pt x="112" y="628"/>
                </a:lnTo>
                <a:lnTo>
                  <a:pt x="128" y="624"/>
                </a:lnTo>
                <a:lnTo>
                  <a:pt x="136" y="622"/>
                </a:lnTo>
                <a:lnTo>
                  <a:pt x="144" y="622"/>
                </a:lnTo>
                <a:lnTo>
                  <a:pt x="154" y="626"/>
                </a:lnTo>
                <a:lnTo>
                  <a:pt x="166" y="630"/>
                </a:lnTo>
                <a:lnTo>
                  <a:pt x="166" y="630"/>
                </a:lnTo>
                <a:lnTo>
                  <a:pt x="172" y="636"/>
                </a:lnTo>
                <a:lnTo>
                  <a:pt x="176" y="646"/>
                </a:lnTo>
                <a:lnTo>
                  <a:pt x="178" y="656"/>
                </a:lnTo>
                <a:lnTo>
                  <a:pt x="180" y="668"/>
                </a:lnTo>
                <a:lnTo>
                  <a:pt x="176" y="692"/>
                </a:lnTo>
                <a:lnTo>
                  <a:pt x="172" y="714"/>
                </a:lnTo>
                <a:lnTo>
                  <a:pt x="48" y="928"/>
                </a:lnTo>
                <a:lnTo>
                  <a:pt x="178" y="1152"/>
                </a:lnTo>
                <a:lnTo>
                  <a:pt x="178" y="1152"/>
                </a:lnTo>
                <a:lnTo>
                  <a:pt x="184" y="1174"/>
                </a:lnTo>
                <a:lnTo>
                  <a:pt x="186" y="1200"/>
                </a:lnTo>
                <a:lnTo>
                  <a:pt x="186" y="1212"/>
                </a:lnTo>
                <a:lnTo>
                  <a:pt x="184" y="1222"/>
                </a:lnTo>
                <a:lnTo>
                  <a:pt x="178" y="1230"/>
                </a:lnTo>
                <a:lnTo>
                  <a:pt x="172" y="1236"/>
                </a:lnTo>
                <a:lnTo>
                  <a:pt x="172" y="1236"/>
                </a:lnTo>
                <a:lnTo>
                  <a:pt x="162" y="1242"/>
                </a:lnTo>
                <a:lnTo>
                  <a:pt x="152" y="1244"/>
                </a:lnTo>
                <a:lnTo>
                  <a:pt x="142" y="1246"/>
                </a:lnTo>
                <a:lnTo>
                  <a:pt x="134" y="1244"/>
                </a:lnTo>
                <a:lnTo>
                  <a:pt x="118" y="1238"/>
                </a:lnTo>
                <a:lnTo>
                  <a:pt x="104" y="1230"/>
                </a:lnTo>
                <a:lnTo>
                  <a:pt x="90" y="1222"/>
                </a:lnTo>
                <a:lnTo>
                  <a:pt x="74" y="1216"/>
                </a:lnTo>
                <a:lnTo>
                  <a:pt x="66" y="1214"/>
                </a:lnTo>
                <a:lnTo>
                  <a:pt x="56" y="1216"/>
                </a:lnTo>
                <a:lnTo>
                  <a:pt x="48" y="1218"/>
                </a:lnTo>
                <a:lnTo>
                  <a:pt x="36" y="1222"/>
                </a:lnTo>
                <a:lnTo>
                  <a:pt x="36" y="1222"/>
                </a:lnTo>
                <a:lnTo>
                  <a:pt x="28" y="1228"/>
                </a:lnTo>
                <a:lnTo>
                  <a:pt x="20" y="1236"/>
                </a:lnTo>
                <a:lnTo>
                  <a:pt x="14" y="1246"/>
                </a:lnTo>
                <a:lnTo>
                  <a:pt x="10" y="1256"/>
                </a:lnTo>
                <a:lnTo>
                  <a:pt x="8" y="1266"/>
                </a:lnTo>
                <a:lnTo>
                  <a:pt x="6" y="1278"/>
                </a:lnTo>
                <a:lnTo>
                  <a:pt x="6" y="1302"/>
                </a:lnTo>
                <a:lnTo>
                  <a:pt x="12" y="1328"/>
                </a:lnTo>
                <a:lnTo>
                  <a:pt x="18" y="1350"/>
                </a:lnTo>
                <a:lnTo>
                  <a:pt x="26" y="1372"/>
                </a:lnTo>
                <a:lnTo>
                  <a:pt x="36" y="1390"/>
                </a:lnTo>
                <a:lnTo>
                  <a:pt x="36" y="1390"/>
                </a:lnTo>
                <a:lnTo>
                  <a:pt x="46" y="1406"/>
                </a:lnTo>
                <a:lnTo>
                  <a:pt x="60" y="1424"/>
                </a:lnTo>
                <a:lnTo>
                  <a:pt x="78" y="1442"/>
                </a:lnTo>
                <a:lnTo>
                  <a:pt x="96" y="1458"/>
                </a:lnTo>
                <a:lnTo>
                  <a:pt x="118" y="1470"/>
                </a:lnTo>
                <a:lnTo>
                  <a:pt x="128" y="1474"/>
                </a:lnTo>
                <a:lnTo>
                  <a:pt x="138" y="1478"/>
                </a:lnTo>
                <a:lnTo>
                  <a:pt x="150" y="1480"/>
                </a:lnTo>
                <a:lnTo>
                  <a:pt x="160" y="1480"/>
                </a:lnTo>
                <a:lnTo>
                  <a:pt x="170" y="1476"/>
                </a:lnTo>
                <a:lnTo>
                  <a:pt x="180" y="1472"/>
                </a:lnTo>
                <a:lnTo>
                  <a:pt x="180" y="1472"/>
                </a:lnTo>
                <a:lnTo>
                  <a:pt x="190" y="1466"/>
                </a:lnTo>
                <a:lnTo>
                  <a:pt x="196" y="1458"/>
                </a:lnTo>
                <a:lnTo>
                  <a:pt x="202" y="1450"/>
                </a:lnTo>
                <a:lnTo>
                  <a:pt x="204" y="1442"/>
                </a:lnTo>
                <a:lnTo>
                  <a:pt x="208" y="1426"/>
                </a:lnTo>
                <a:lnTo>
                  <a:pt x="208" y="1410"/>
                </a:lnTo>
                <a:lnTo>
                  <a:pt x="208" y="1392"/>
                </a:lnTo>
                <a:lnTo>
                  <a:pt x="210" y="1376"/>
                </a:lnTo>
                <a:lnTo>
                  <a:pt x="214" y="1368"/>
                </a:lnTo>
                <a:lnTo>
                  <a:pt x="218" y="1362"/>
                </a:lnTo>
                <a:lnTo>
                  <a:pt x="226" y="1354"/>
                </a:lnTo>
                <a:lnTo>
                  <a:pt x="236" y="1348"/>
                </a:lnTo>
                <a:lnTo>
                  <a:pt x="236" y="1348"/>
                </a:lnTo>
                <a:lnTo>
                  <a:pt x="244" y="1344"/>
                </a:lnTo>
                <a:lnTo>
                  <a:pt x="254" y="1346"/>
                </a:lnTo>
                <a:lnTo>
                  <a:pt x="264" y="1348"/>
                </a:lnTo>
                <a:lnTo>
                  <a:pt x="276" y="1354"/>
                </a:lnTo>
                <a:lnTo>
                  <a:pt x="296" y="1368"/>
                </a:lnTo>
                <a:lnTo>
                  <a:pt x="312" y="1384"/>
                </a:lnTo>
                <a:lnTo>
                  <a:pt x="448" y="1620"/>
                </a:lnTo>
                <a:lnTo>
                  <a:pt x="712" y="1620"/>
                </a:lnTo>
                <a:lnTo>
                  <a:pt x="712" y="1620"/>
                </a:lnTo>
                <a:lnTo>
                  <a:pt x="734" y="1628"/>
                </a:lnTo>
                <a:lnTo>
                  <a:pt x="756" y="1638"/>
                </a:lnTo>
                <a:lnTo>
                  <a:pt x="766" y="1644"/>
                </a:lnTo>
                <a:lnTo>
                  <a:pt x="774" y="1652"/>
                </a:lnTo>
                <a:lnTo>
                  <a:pt x="780" y="1660"/>
                </a:lnTo>
                <a:lnTo>
                  <a:pt x="782" y="1668"/>
                </a:lnTo>
                <a:lnTo>
                  <a:pt x="782" y="1668"/>
                </a:lnTo>
                <a:lnTo>
                  <a:pt x="782" y="1680"/>
                </a:lnTo>
                <a:lnTo>
                  <a:pt x="778" y="1690"/>
                </a:lnTo>
                <a:lnTo>
                  <a:pt x="776" y="1698"/>
                </a:lnTo>
                <a:lnTo>
                  <a:pt x="770" y="1704"/>
                </a:lnTo>
                <a:lnTo>
                  <a:pt x="758" y="1716"/>
                </a:lnTo>
                <a:lnTo>
                  <a:pt x="742" y="1724"/>
                </a:lnTo>
                <a:lnTo>
                  <a:pt x="728" y="1732"/>
                </a:lnTo>
                <a:lnTo>
                  <a:pt x="716" y="1742"/>
                </a:lnTo>
                <a:lnTo>
                  <a:pt x="710" y="1750"/>
                </a:lnTo>
                <a:lnTo>
                  <a:pt x="706" y="1758"/>
                </a:lnTo>
                <a:lnTo>
                  <a:pt x="704" y="1766"/>
                </a:lnTo>
                <a:lnTo>
                  <a:pt x="702" y="1778"/>
                </a:lnTo>
                <a:lnTo>
                  <a:pt x="702" y="1778"/>
                </a:lnTo>
                <a:lnTo>
                  <a:pt x="704" y="1790"/>
                </a:lnTo>
                <a:lnTo>
                  <a:pt x="706" y="1800"/>
                </a:lnTo>
                <a:lnTo>
                  <a:pt x="712" y="1810"/>
                </a:lnTo>
                <a:lnTo>
                  <a:pt x="718" y="1818"/>
                </a:lnTo>
                <a:lnTo>
                  <a:pt x="726" y="1826"/>
                </a:lnTo>
                <a:lnTo>
                  <a:pt x="736" y="1832"/>
                </a:lnTo>
                <a:lnTo>
                  <a:pt x="756" y="1844"/>
                </a:lnTo>
                <a:lnTo>
                  <a:pt x="780" y="1852"/>
                </a:lnTo>
                <a:lnTo>
                  <a:pt x="804" y="1858"/>
                </a:lnTo>
                <a:lnTo>
                  <a:pt x="828" y="1862"/>
                </a:lnTo>
                <a:lnTo>
                  <a:pt x="846" y="1862"/>
                </a:lnTo>
                <a:lnTo>
                  <a:pt x="846" y="1862"/>
                </a:lnTo>
                <a:lnTo>
                  <a:pt x="866" y="1862"/>
                </a:lnTo>
                <a:lnTo>
                  <a:pt x="888" y="1858"/>
                </a:lnTo>
                <a:lnTo>
                  <a:pt x="912" y="1852"/>
                </a:lnTo>
                <a:lnTo>
                  <a:pt x="936" y="1844"/>
                </a:lnTo>
                <a:lnTo>
                  <a:pt x="958" y="1832"/>
                </a:lnTo>
                <a:lnTo>
                  <a:pt x="966" y="1826"/>
                </a:lnTo>
                <a:lnTo>
                  <a:pt x="974" y="1818"/>
                </a:lnTo>
                <a:lnTo>
                  <a:pt x="982" y="1810"/>
                </a:lnTo>
                <a:lnTo>
                  <a:pt x="986" y="1800"/>
                </a:lnTo>
                <a:lnTo>
                  <a:pt x="990" y="1790"/>
                </a:lnTo>
                <a:lnTo>
                  <a:pt x="990" y="1778"/>
                </a:lnTo>
                <a:lnTo>
                  <a:pt x="990" y="1778"/>
                </a:lnTo>
                <a:lnTo>
                  <a:pt x="990" y="1766"/>
                </a:lnTo>
                <a:lnTo>
                  <a:pt x="986" y="1758"/>
                </a:lnTo>
                <a:lnTo>
                  <a:pt x="982" y="1750"/>
                </a:lnTo>
                <a:lnTo>
                  <a:pt x="978" y="1742"/>
                </a:lnTo>
                <a:lnTo>
                  <a:pt x="964" y="1732"/>
                </a:lnTo>
                <a:lnTo>
                  <a:pt x="950" y="1724"/>
                </a:lnTo>
                <a:lnTo>
                  <a:pt x="936" y="1716"/>
                </a:lnTo>
                <a:lnTo>
                  <a:pt x="922" y="1704"/>
                </a:lnTo>
                <a:lnTo>
                  <a:pt x="918" y="1698"/>
                </a:lnTo>
                <a:lnTo>
                  <a:pt x="914" y="1690"/>
                </a:lnTo>
                <a:lnTo>
                  <a:pt x="912" y="1680"/>
                </a:lnTo>
                <a:lnTo>
                  <a:pt x="910" y="1668"/>
                </a:lnTo>
                <a:lnTo>
                  <a:pt x="910" y="1668"/>
                </a:lnTo>
                <a:lnTo>
                  <a:pt x="912" y="1660"/>
                </a:lnTo>
                <a:lnTo>
                  <a:pt x="918" y="1652"/>
                </a:lnTo>
                <a:lnTo>
                  <a:pt x="926" y="1644"/>
                </a:lnTo>
                <a:lnTo>
                  <a:pt x="936" y="1638"/>
                </a:lnTo>
                <a:lnTo>
                  <a:pt x="960" y="1628"/>
                </a:lnTo>
                <a:lnTo>
                  <a:pt x="982" y="1620"/>
                </a:lnTo>
                <a:lnTo>
                  <a:pt x="1248" y="1620"/>
                </a:lnTo>
                <a:lnTo>
                  <a:pt x="1386" y="1380"/>
                </a:lnTo>
                <a:lnTo>
                  <a:pt x="1386" y="1380"/>
                </a:lnTo>
                <a:lnTo>
                  <a:pt x="1402" y="1366"/>
                </a:lnTo>
                <a:lnTo>
                  <a:pt x="1420" y="1354"/>
                </a:lnTo>
                <a:lnTo>
                  <a:pt x="1430" y="1350"/>
                </a:lnTo>
                <a:lnTo>
                  <a:pt x="1440" y="1348"/>
                </a:lnTo>
                <a:lnTo>
                  <a:pt x="1448" y="1348"/>
                </a:lnTo>
                <a:lnTo>
                  <a:pt x="1456" y="1350"/>
                </a:lnTo>
                <a:lnTo>
                  <a:pt x="1456" y="1350"/>
                </a:lnTo>
                <a:lnTo>
                  <a:pt x="1464" y="1356"/>
                </a:lnTo>
                <a:lnTo>
                  <a:pt x="1472" y="1364"/>
                </a:lnTo>
                <a:lnTo>
                  <a:pt x="1478" y="1372"/>
                </a:lnTo>
                <a:lnTo>
                  <a:pt x="1480" y="1380"/>
                </a:lnTo>
                <a:lnTo>
                  <a:pt x="1484" y="1396"/>
                </a:lnTo>
                <a:lnTo>
                  <a:pt x="1484" y="1412"/>
                </a:lnTo>
                <a:lnTo>
                  <a:pt x="1484" y="1430"/>
                </a:lnTo>
                <a:lnTo>
                  <a:pt x="1486" y="1446"/>
                </a:lnTo>
                <a:lnTo>
                  <a:pt x="1490" y="1454"/>
                </a:lnTo>
                <a:lnTo>
                  <a:pt x="1494" y="1460"/>
                </a:lnTo>
                <a:lnTo>
                  <a:pt x="1502" y="1468"/>
                </a:lnTo>
                <a:lnTo>
                  <a:pt x="1510" y="1474"/>
                </a:lnTo>
                <a:lnTo>
                  <a:pt x="1510" y="1474"/>
                </a:lnTo>
                <a:lnTo>
                  <a:pt x="1520" y="1480"/>
                </a:lnTo>
                <a:lnTo>
                  <a:pt x="1530" y="1482"/>
                </a:lnTo>
                <a:lnTo>
                  <a:pt x="1542" y="1482"/>
                </a:lnTo>
                <a:lnTo>
                  <a:pt x="1552" y="1480"/>
                </a:lnTo>
                <a:lnTo>
                  <a:pt x="1564" y="1478"/>
                </a:lnTo>
                <a:lnTo>
                  <a:pt x="1574" y="1474"/>
                </a:lnTo>
                <a:lnTo>
                  <a:pt x="1594" y="1460"/>
                </a:lnTo>
                <a:lnTo>
                  <a:pt x="1614" y="1444"/>
                </a:lnTo>
                <a:lnTo>
                  <a:pt x="1630" y="1426"/>
                </a:lnTo>
                <a:lnTo>
                  <a:pt x="1644" y="1408"/>
                </a:lnTo>
                <a:lnTo>
                  <a:pt x="1656" y="1392"/>
                </a:lnTo>
                <a:lnTo>
                  <a:pt x="1656" y="1392"/>
                </a:lnTo>
                <a:lnTo>
                  <a:pt x="1664" y="1374"/>
                </a:lnTo>
                <a:lnTo>
                  <a:pt x="1672" y="1354"/>
                </a:lnTo>
                <a:lnTo>
                  <a:pt x="1680" y="1330"/>
                </a:lnTo>
                <a:lnTo>
                  <a:pt x="1684" y="1306"/>
                </a:lnTo>
                <a:lnTo>
                  <a:pt x="1684" y="1280"/>
                </a:lnTo>
                <a:lnTo>
                  <a:pt x="1684" y="1270"/>
                </a:lnTo>
                <a:lnTo>
                  <a:pt x="1680" y="1258"/>
                </a:lnTo>
                <a:lnTo>
                  <a:pt x="1676" y="1248"/>
                </a:lnTo>
                <a:lnTo>
                  <a:pt x="1670" y="1240"/>
                </a:lnTo>
                <a:lnTo>
                  <a:pt x="1664" y="1232"/>
                </a:lnTo>
                <a:lnTo>
                  <a:pt x="1654" y="1226"/>
                </a:lnTo>
                <a:lnTo>
                  <a:pt x="1654" y="1226"/>
                </a:lnTo>
                <a:lnTo>
                  <a:pt x="1644" y="1220"/>
                </a:lnTo>
                <a:lnTo>
                  <a:pt x="1634" y="1218"/>
                </a:lnTo>
                <a:lnTo>
                  <a:pt x="1626" y="1218"/>
                </a:lnTo>
                <a:lnTo>
                  <a:pt x="1618" y="1218"/>
                </a:lnTo>
                <a:lnTo>
                  <a:pt x="1602" y="1224"/>
                </a:lnTo>
                <a:lnTo>
                  <a:pt x="1588" y="1234"/>
                </a:lnTo>
                <a:lnTo>
                  <a:pt x="1572" y="1242"/>
                </a:lnTo>
                <a:lnTo>
                  <a:pt x="1558" y="1248"/>
                </a:lnTo>
                <a:lnTo>
                  <a:pt x="1548" y="1248"/>
                </a:lnTo>
                <a:lnTo>
                  <a:pt x="1540" y="1248"/>
                </a:lnTo>
                <a:lnTo>
                  <a:pt x="1530" y="1244"/>
                </a:lnTo>
                <a:lnTo>
                  <a:pt x="1520" y="1240"/>
                </a:lnTo>
                <a:lnTo>
                  <a:pt x="1520" y="1240"/>
                </a:lnTo>
                <a:lnTo>
                  <a:pt x="1514" y="1234"/>
                </a:lnTo>
                <a:lnTo>
                  <a:pt x="1508" y="1226"/>
                </a:lnTo>
                <a:lnTo>
                  <a:pt x="1506" y="1218"/>
                </a:lnTo>
                <a:lnTo>
                  <a:pt x="1506" y="1208"/>
                </a:lnTo>
                <a:lnTo>
                  <a:pt x="1506" y="1186"/>
                </a:lnTo>
                <a:lnTo>
                  <a:pt x="1510" y="1164"/>
                </a:lnTo>
                <a:lnTo>
                  <a:pt x="1648" y="928"/>
                </a:lnTo>
                <a:lnTo>
                  <a:pt x="1516" y="700"/>
                </a:lnTo>
                <a:lnTo>
                  <a:pt x="1516" y="700"/>
                </a:lnTo>
                <a:lnTo>
                  <a:pt x="1512" y="678"/>
                </a:lnTo>
                <a:lnTo>
                  <a:pt x="1510" y="656"/>
                </a:lnTo>
                <a:lnTo>
                  <a:pt x="1510" y="644"/>
                </a:lnTo>
                <a:lnTo>
                  <a:pt x="1512" y="634"/>
                </a:lnTo>
                <a:lnTo>
                  <a:pt x="1518" y="626"/>
                </a:lnTo>
                <a:lnTo>
                  <a:pt x="1524" y="620"/>
                </a:lnTo>
                <a:lnTo>
                  <a:pt x="1524" y="620"/>
                </a:lnTo>
                <a:lnTo>
                  <a:pt x="1534" y="616"/>
                </a:lnTo>
                <a:lnTo>
                  <a:pt x="1544" y="612"/>
                </a:lnTo>
                <a:lnTo>
                  <a:pt x="1552" y="612"/>
                </a:lnTo>
                <a:lnTo>
                  <a:pt x="1562" y="612"/>
                </a:lnTo>
                <a:lnTo>
                  <a:pt x="1576" y="618"/>
                </a:lnTo>
                <a:lnTo>
                  <a:pt x="1592" y="626"/>
                </a:lnTo>
                <a:lnTo>
                  <a:pt x="1606" y="636"/>
                </a:lnTo>
                <a:lnTo>
                  <a:pt x="1622" y="642"/>
                </a:lnTo>
                <a:lnTo>
                  <a:pt x="1630" y="642"/>
                </a:lnTo>
                <a:lnTo>
                  <a:pt x="1638" y="642"/>
                </a:lnTo>
                <a:lnTo>
                  <a:pt x="1648" y="640"/>
                </a:lnTo>
                <a:lnTo>
                  <a:pt x="1658" y="634"/>
                </a:lnTo>
                <a:lnTo>
                  <a:pt x="1658" y="634"/>
                </a:lnTo>
                <a:lnTo>
                  <a:pt x="1668" y="628"/>
                </a:lnTo>
                <a:lnTo>
                  <a:pt x="1676" y="620"/>
                </a:lnTo>
                <a:lnTo>
                  <a:pt x="1682" y="612"/>
                </a:lnTo>
                <a:lnTo>
                  <a:pt x="1686" y="602"/>
                </a:lnTo>
                <a:lnTo>
                  <a:pt x="1688" y="590"/>
                </a:lnTo>
                <a:lnTo>
                  <a:pt x="1690" y="580"/>
                </a:lnTo>
                <a:lnTo>
                  <a:pt x="1688" y="554"/>
                </a:lnTo>
                <a:lnTo>
                  <a:pt x="1684" y="530"/>
                </a:lnTo>
                <a:lnTo>
                  <a:pt x="1678" y="506"/>
                </a:lnTo>
                <a:lnTo>
                  <a:pt x="1668" y="486"/>
                </a:lnTo>
                <a:lnTo>
                  <a:pt x="1660" y="468"/>
                </a:lnTo>
                <a:lnTo>
                  <a:pt x="1660" y="468"/>
                </a:lnTo>
                <a:lnTo>
                  <a:pt x="1650" y="452"/>
                </a:lnTo>
                <a:lnTo>
                  <a:pt x="1636" y="434"/>
                </a:lnTo>
                <a:lnTo>
                  <a:pt x="1618" y="416"/>
                </a:lnTo>
                <a:lnTo>
                  <a:pt x="1598" y="400"/>
                </a:lnTo>
                <a:lnTo>
                  <a:pt x="1578" y="386"/>
                </a:lnTo>
                <a:lnTo>
                  <a:pt x="1568" y="382"/>
                </a:lnTo>
                <a:lnTo>
                  <a:pt x="1556" y="378"/>
                </a:lnTo>
                <a:lnTo>
                  <a:pt x="1546" y="378"/>
                </a:lnTo>
                <a:lnTo>
                  <a:pt x="1536" y="378"/>
                </a:lnTo>
                <a:lnTo>
                  <a:pt x="1524" y="380"/>
                </a:lnTo>
                <a:lnTo>
                  <a:pt x="1514" y="386"/>
                </a:lnTo>
                <a:lnTo>
                  <a:pt x="1514" y="386"/>
                </a:lnTo>
                <a:lnTo>
                  <a:pt x="1506" y="392"/>
                </a:lnTo>
                <a:lnTo>
                  <a:pt x="1498" y="400"/>
                </a:lnTo>
                <a:lnTo>
                  <a:pt x="1494" y="406"/>
                </a:lnTo>
                <a:lnTo>
                  <a:pt x="1490" y="414"/>
                </a:lnTo>
                <a:lnTo>
                  <a:pt x="1488" y="430"/>
                </a:lnTo>
                <a:lnTo>
                  <a:pt x="1488" y="448"/>
                </a:lnTo>
                <a:lnTo>
                  <a:pt x="1488" y="464"/>
                </a:lnTo>
                <a:lnTo>
                  <a:pt x="1486" y="480"/>
                </a:lnTo>
                <a:lnTo>
                  <a:pt x="1482" y="488"/>
                </a:lnTo>
                <a:lnTo>
                  <a:pt x="1476" y="496"/>
                </a:lnTo>
                <a:lnTo>
                  <a:pt x="1470" y="502"/>
                </a:lnTo>
                <a:lnTo>
                  <a:pt x="1460" y="510"/>
                </a:lnTo>
                <a:lnTo>
                  <a:pt x="1460" y="510"/>
                </a:lnTo>
                <a:lnTo>
                  <a:pt x="1452" y="512"/>
                </a:lnTo>
                <a:lnTo>
                  <a:pt x="1442" y="512"/>
                </a:lnTo>
                <a:lnTo>
                  <a:pt x="1432" y="510"/>
                </a:lnTo>
                <a:lnTo>
                  <a:pt x="1422" y="504"/>
                </a:lnTo>
                <a:lnTo>
                  <a:pt x="1404" y="490"/>
                </a:lnTo>
                <a:lnTo>
                  <a:pt x="1386" y="476"/>
                </a:lnTo>
                <a:lnTo>
                  <a:pt x="1246" y="236"/>
                </a:lnTo>
                <a:lnTo>
                  <a:pt x="982" y="242"/>
                </a:lnTo>
                <a:close/>
              </a:path>
            </a:pathLst>
          </a:custGeom>
          <a:solidFill>
            <a:srgbClr val="A1C6F7"/>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smtClean="0"/>
          </a:p>
          <a:p>
            <a:pPr>
              <a:tabLst>
                <a:tab pos="225425" algn="l"/>
              </a:tabLst>
            </a:pPr>
            <a:r>
              <a:rPr lang="en-US" dirty="0" smtClean="0"/>
              <a:t>       </a:t>
            </a:r>
          </a:p>
          <a:p>
            <a:pPr>
              <a:tabLst>
                <a:tab pos="225425" algn="l"/>
              </a:tabLst>
            </a:pPr>
            <a:r>
              <a:rPr lang="en-US" dirty="0"/>
              <a:t>	 </a:t>
            </a:r>
            <a:r>
              <a:rPr lang="en-US" dirty="0" smtClean="0"/>
              <a:t>   Order                                 	management    	    system</a:t>
            </a:r>
            <a:endParaRPr lang="en-US" dirty="0"/>
          </a:p>
        </p:txBody>
      </p:sp>
      <p:sp>
        <p:nvSpPr>
          <p:cNvPr id="86019" name="Freeform 3"/>
          <p:cNvSpPr>
            <a:spLocks/>
          </p:cNvSpPr>
          <p:nvPr/>
        </p:nvSpPr>
        <p:spPr bwMode="auto">
          <a:xfrm>
            <a:off x="3854450" y="5233988"/>
            <a:ext cx="1774825" cy="1508125"/>
          </a:xfrm>
          <a:custGeom>
            <a:avLst/>
            <a:gdLst>
              <a:gd name="T0" fmla="*/ 1602 w 1632"/>
              <a:gd name="T1" fmla="*/ 382 h 1386"/>
              <a:gd name="T2" fmla="*/ 1624 w 1632"/>
              <a:gd name="T3" fmla="*/ 360 h 1386"/>
              <a:gd name="T4" fmla="*/ 1632 w 1632"/>
              <a:gd name="T5" fmla="*/ 302 h 1386"/>
              <a:gd name="T6" fmla="*/ 1602 w 1632"/>
              <a:gd name="T7" fmla="*/ 216 h 1386"/>
              <a:gd name="T8" fmla="*/ 1570 w 1632"/>
              <a:gd name="T9" fmla="*/ 172 h 1386"/>
              <a:gd name="T10" fmla="*/ 1504 w 1632"/>
              <a:gd name="T11" fmla="*/ 128 h 1386"/>
              <a:gd name="T12" fmla="*/ 1474 w 1632"/>
              <a:gd name="T13" fmla="*/ 128 h 1386"/>
              <a:gd name="T14" fmla="*/ 1444 w 1632"/>
              <a:gd name="T15" fmla="*/ 148 h 1386"/>
              <a:gd name="T16" fmla="*/ 1434 w 1632"/>
              <a:gd name="T17" fmla="*/ 196 h 1386"/>
              <a:gd name="T18" fmla="*/ 1422 w 1632"/>
              <a:gd name="T19" fmla="*/ 244 h 1386"/>
              <a:gd name="T20" fmla="*/ 1400 w 1632"/>
              <a:gd name="T21" fmla="*/ 260 h 1386"/>
              <a:gd name="T22" fmla="*/ 1376 w 1632"/>
              <a:gd name="T23" fmla="*/ 258 h 1386"/>
              <a:gd name="T24" fmla="*/ 1200 w 1632"/>
              <a:gd name="T25" fmla="*/ 0 h 1386"/>
              <a:gd name="T26" fmla="*/ 890 w 1632"/>
              <a:gd name="T27" fmla="*/ 18 h 1386"/>
              <a:gd name="T28" fmla="*/ 864 w 1632"/>
              <a:gd name="T29" fmla="*/ 48 h 1386"/>
              <a:gd name="T30" fmla="*/ 872 w 1632"/>
              <a:gd name="T31" fmla="*/ 78 h 1386"/>
              <a:gd name="T32" fmla="*/ 918 w 1632"/>
              <a:gd name="T33" fmla="*/ 112 h 1386"/>
              <a:gd name="T34" fmla="*/ 944 w 1632"/>
              <a:gd name="T35" fmla="*/ 146 h 1386"/>
              <a:gd name="T36" fmla="*/ 940 w 1632"/>
              <a:gd name="T37" fmla="*/ 180 h 1386"/>
              <a:gd name="T38" fmla="*/ 912 w 1632"/>
              <a:gd name="T39" fmla="*/ 212 h 1386"/>
              <a:gd name="T40" fmla="*/ 820 w 1632"/>
              <a:gd name="T41" fmla="*/ 242 h 1386"/>
              <a:gd name="T42" fmla="*/ 758 w 1632"/>
              <a:gd name="T43" fmla="*/ 238 h 1386"/>
              <a:gd name="T44" fmla="*/ 680 w 1632"/>
              <a:gd name="T45" fmla="*/ 206 h 1386"/>
              <a:gd name="T46" fmla="*/ 658 w 1632"/>
              <a:gd name="T47" fmla="*/ 170 h 1386"/>
              <a:gd name="T48" fmla="*/ 660 w 1632"/>
              <a:gd name="T49" fmla="*/ 138 h 1386"/>
              <a:gd name="T50" fmla="*/ 696 w 1632"/>
              <a:gd name="T51" fmla="*/ 104 h 1386"/>
              <a:gd name="T52" fmla="*/ 732 w 1632"/>
              <a:gd name="T53" fmla="*/ 70 h 1386"/>
              <a:gd name="T54" fmla="*/ 734 w 1632"/>
              <a:gd name="T55" fmla="*/ 40 h 1386"/>
              <a:gd name="T56" fmla="*/ 688 w 1632"/>
              <a:gd name="T57" fmla="*/ 8 h 1386"/>
              <a:gd name="T58" fmla="*/ 248 w 1632"/>
              <a:gd name="T59" fmla="*/ 268 h 1386"/>
              <a:gd name="T60" fmla="*/ 242 w 1632"/>
              <a:gd name="T61" fmla="*/ 336 h 1386"/>
              <a:gd name="T62" fmla="*/ 264 w 1632"/>
              <a:gd name="T63" fmla="*/ 356 h 1386"/>
              <a:gd name="T64" fmla="*/ 308 w 1632"/>
              <a:gd name="T65" fmla="*/ 352 h 1386"/>
              <a:gd name="T66" fmla="*/ 360 w 1632"/>
              <a:gd name="T67" fmla="*/ 328 h 1386"/>
              <a:gd name="T68" fmla="*/ 390 w 1632"/>
              <a:gd name="T69" fmla="*/ 336 h 1386"/>
              <a:gd name="T70" fmla="*/ 416 w 1632"/>
              <a:gd name="T71" fmla="*/ 368 h 1386"/>
              <a:gd name="T72" fmla="*/ 414 w 1632"/>
              <a:gd name="T73" fmla="*/ 440 h 1386"/>
              <a:gd name="T74" fmla="*/ 390 w 1632"/>
              <a:gd name="T75" fmla="*/ 502 h 1386"/>
              <a:gd name="T76" fmla="*/ 330 w 1632"/>
              <a:gd name="T77" fmla="*/ 570 h 1386"/>
              <a:gd name="T78" fmla="*/ 276 w 1632"/>
              <a:gd name="T79" fmla="*/ 592 h 1386"/>
              <a:gd name="T80" fmla="*/ 246 w 1632"/>
              <a:gd name="T81" fmla="*/ 586 h 1386"/>
              <a:gd name="T82" fmla="*/ 222 w 1632"/>
              <a:gd name="T83" fmla="*/ 556 h 1386"/>
              <a:gd name="T84" fmla="*/ 216 w 1632"/>
              <a:gd name="T85" fmla="*/ 490 h 1386"/>
              <a:gd name="T86" fmla="*/ 190 w 1632"/>
              <a:gd name="T87" fmla="*/ 460 h 1386"/>
              <a:gd name="T88" fmla="*/ 162 w 1632"/>
              <a:gd name="T89" fmla="*/ 462 h 1386"/>
              <a:gd name="T90" fmla="*/ 4 w 1632"/>
              <a:gd name="T91" fmla="*/ 688 h 1386"/>
              <a:gd name="T92" fmla="*/ 1200 w 1632"/>
              <a:gd name="T93" fmla="*/ 1386 h 1386"/>
              <a:gd name="T94" fmla="*/ 1458 w 1632"/>
              <a:gd name="T95" fmla="*/ 448 h 1386"/>
              <a:gd name="T96" fmla="*/ 1456 w 1632"/>
              <a:gd name="T97" fmla="*/ 382 h 1386"/>
              <a:gd name="T98" fmla="*/ 1482 w 1632"/>
              <a:gd name="T99" fmla="*/ 362 h 1386"/>
              <a:gd name="T100" fmla="*/ 1518 w 1632"/>
              <a:gd name="T101" fmla="*/ 364 h 1386"/>
              <a:gd name="T102" fmla="*/ 1576 w 1632"/>
              <a:gd name="T103" fmla="*/ 39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32" h="1386">
                <a:moveTo>
                  <a:pt x="1576" y="390"/>
                </a:moveTo>
                <a:lnTo>
                  <a:pt x="1576" y="390"/>
                </a:lnTo>
                <a:lnTo>
                  <a:pt x="1588" y="388"/>
                </a:lnTo>
                <a:lnTo>
                  <a:pt x="1602" y="382"/>
                </a:lnTo>
                <a:lnTo>
                  <a:pt x="1602" y="382"/>
                </a:lnTo>
                <a:lnTo>
                  <a:pt x="1610" y="376"/>
                </a:lnTo>
                <a:lnTo>
                  <a:pt x="1618" y="368"/>
                </a:lnTo>
                <a:lnTo>
                  <a:pt x="1624" y="360"/>
                </a:lnTo>
                <a:lnTo>
                  <a:pt x="1628" y="350"/>
                </a:lnTo>
                <a:lnTo>
                  <a:pt x="1630" y="338"/>
                </a:lnTo>
                <a:lnTo>
                  <a:pt x="1632" y="328"/>
                </a:lnTo>
                <a:lnTo>
                  <a:pt x="1632" y="302"/>
                </a:lnTo>
                <a:lnTo>
                  <a:pt x="1626" y="278"/>
                </a:lnTo>
                <a:lnTo>
                  <a:pt x="1620" y="254"/>
                </a:lnTo>
                <a:lnTo>
                  <a:pt x="1612" y="234"/>
                </a:lnTo>
                <a:lnTo>
                  <a:pt x="1602" y="216"/>
                </a:lnTo>
                <a:lnTo>
                  <a:pt x="1602" y="216"/>
                </a:lnTo>
                <a:lnTo>
                  <a:pt x="1594" y="202"/>
                </a:lnTo>
                <a:lnTo>
                  <a:pt x="1584" y="188"/>
                </a:lnTo>
                <a:lnTo>
                  <a:pt x="1570" y="172"/>
                </a:lnTo>
                <a:lnTo>
                  <a:pt x="1556" y="158"/>
                </a:lnTo>
                <a:lnTo>
                  <a:pt x="1540" y="146"/>
                </a:lnTo>
                <a:lnTo>
                  <a:pt x="1522" y="136"/>
                </a:lnTo>
                <a:lnTo>
                  <a:pt x="1504" y="128"/>
                </a:lnTo>
                <a:lnTo>
                  <a:pt x="1496" y="126"/>
                </a:lnTo>
                <a:lnTo>
                  <a:pt x="1486" y="126"/>
                </a:lnTo>
                <a:lnTo>
                  <a:pt x="1486" y="126"/>
                </a:lnTo>
                <a:lnTo>
                  <a:pt x="1474" y="128"/>
                </a:lnTo>
                <a:lnTo>
                  <a:pt x="1460" y="134"/>
                </a:lnTo>
                <a:lnTo>
                  <a:pt x="1460" y="134"/>
                </a:lnTo>
                <a:lnTo>
                  <a:pt x="1452" y="140"/>
                </a:lnTo>
                <a:lnTo>
                  <a:pt x="1444" y="148"/>
                </a:lnTo>
                <a:lnTo>
                  <a:pt x="1440" y="154"/>
                </a:lnTo>
                <a:lnTo>
                  <a:pt x="1436" y="162"/>
                </a:lnTo>
                <a:lnTo>
                  <a:pt x="1434" y="178"/>
                </a:lnTo>
                <a:lnTo>
                  <a:pt x="1434" y="196"/>
                </a:lnTo>
                <a:lnTo>
                  <a:pt x="1434" y="212"/>
                </a:lnTo>
                <a:lnTo>
                  <a:pt x="1432" y="228"/>
                </a:lnTo>
                <a:lnTo>
                  <a:pt x="1428" y="236"/>
                </a:lnTo>
                <a:lnTo>
                  <a:pt x="1422" y="244"/>
                </a:lnTo>
                <a:lnTo>
                  <a:pt x="1416" y="250"/>
                </a:lnTo>
                <a:lnTo>
                  <a:pt x="1406" y="258"/>
                </a:lnTo>
                <a:lnTo>
                  <a:pt x="1406" y="258"/>
                </a:lnTo>
                <a:lnTo>
                  <a:pt x="1400" y="260"/>
                </a:lnTo>
                <a:lnTo>
                  <a:pt x="1392" y="260"/>
                </a:lnTo>
                <a:lnTo>
                  <a:pt x="1392" y="260"/>
                </a:lnTo>
                <a:lnTo>
                  <a:pt x="1384" y="260"/>
                </a:lnTo>
                <a:lnTo>
                  <a:pt x="1376" y="258"/>
                </a:lnTo>
                <a:lnTo>
                  <a:pt x="1360" y="248"/>
                </a:lnTo>
                <a:lnTo>
                  <a:pt x="1344" y="236"/>
                </a:lnTo>
                <a:lnTo>
                  <a:pt x="1330" y="224"/>
                </a:lnTo>
                <a:lnTo>
                  <a:pt x="1200" y="0"/>
                </a:lnTo>
                <a:lnTo>
                  <a:pt x="936" y="0"/>
                </a:lnTo>
                <a:lnTo>
                  <a:pt x="936" y="0"/>
                </a:lnTo>
                <a:lnTo>
                  <a:pt x="914" y="8"/>
                </a:lnTo>
                <a:lnTo>
                  <a:pt x="890" y="18"/>
                </a:lnTo>
                <a:lnTo>
                  <a:pt x="880" y="24"/>
                </a:lnTo>
                <a:lnTo>
                  <a:pt x="872" y="32"/>
                </a:lnTo>
                <a:lnTo>
                  <a:pt x="866" y="40"/>
                </a:lnTo>
                <a:lnTo>
                  <a:pt x="864" y="48"/>
                </a:lnTo>
                <a:lnTo>
                  <a:pt x="864" y="48"/>
                </a:lnTo>
                <a:lnTo>
                  <a:pt x="866" y="60"/>
                </a:lnTo>
                <a:lnTo>
                  <a:pt x="868" y="70"/>
                </a:lnTo>
                <a:lnTo>
                  <a:pt x="872" y="78"/>
                </a:lnTo>
                <a:lnTo>
                  <a:pt x="876" y="84"/>
                </a:lnTo>
                <a:lnTo>
                  <a:pt x="890" y="96"/>
                </a:lnTo>
                <a:lnTo>
                  <a:pt x="904" y="104"/>
                </a:lnTo>
                <a:lnTo>
                  <a:pt x="918" y="112"/>
                </a:lnTo>
                <a:lnTo>
                  <a:pt x="932" y="122"/>
                </a:lnTo>
                <a:lnTo>
                  <a:pt x="936" y="130"/>
                </a:lnTo>
                <a:lnTo>
                  <a:pt x="940" y="138"/>
                </a:lnTo>
                <a:lnTo>
                  <a:pt x="944" y="146"/>
                </a:lnTo>
                <a:lnTo>
                  <a:pt x="944" y="158"/>
                </a:lnTo>
                <a:lnTo>
                  <a:pt x="944" y="158"/>
                </a:lnTo>
                <a:lnTo>
                  <a:pt x="944" y="170"/>
                </a:lnTo>
                <a:lnTo>
                  <a:pt x="940" y="180"/>
                </a:lnTo>
                <a:lnTo>
                  <a:pt x="936" y="190"/>
                </a:lnTo>
                <a:lnTo>
                  <a:pt x="928" y="198"/>
                </a:lnTo>
                <a:lnTo>
                  <a:pt x="920" y="206"/>
                </a:lnTo>
                <a:lnTo>
                  <a:pt x="912" y="212"/>
                </a:lnTo>
                <a:lnTo>
                  <a:pt x="890" y="224"/>
                </a:lnTo>
                <a:lnTo>
                  <a:pt x="866" y="232"/>
                </a:lnTo>
                <a:lnTo>
                  <a:pt x="842" y="238"/>
                </a:lnTo>
                <a:lnTo>
                  <a:pt x="820" y="242"/>
                </a:lnTo>
                <a:lnTo>
                  <a:pt x="800" y="242"/>
                </a:lnTo>
                <a:lnTo>
                  <a:pt x="800" y="242"/>
                </a:lnTo>
                <a:lnTo>
                  <a:pt x="782" y="242"/>
                </a:lnTo>
                <a:lnTo>
                  <a:pt x="758" y="238"/>
                </a:lnTo>
                <a:lnTo>
                  <a:pt x="734" y="232"/>
                </a:lnTo>
                <a:lnTo>
                  <a:pt x="710" y="224"/>
                </a:lnTo>
                <a:lnTo>
                  <a:pt x="690" y="212"/>
                </a:lnTo>
                <a:lnTo>
                  <a:pt x="680" y="206"/>
                </a:lnTo>
                <a:lnTo>
                  <a:pt x="672" y="198"/>
                </a:lnTo>
                <a:lnTo>
                  <a:pt x="666" y="190"/>
                </a:lnTo>
                <a:lnTo>
                  <a:pt x="660" y="180"/>
                </a:lnTo>
                <a:lnTo>
                  <a:pt x="658" y="170"/>
                </a:lnTo>
                <a:lnTo>
                  <a:pt x="656" y="158"/>
                </a:lnTo>
                <a:lnTo>
                  <a:pt x="656" y="158"/>
                </a:lnTo>
                <a:lnTo>
                  <a:pt x="658" y="146"/>
                </a:lnTo>
                <a:lnTo>
                  <a:pt x="660" y="138"/>
                </a:lnTo>
                <a:lnTo>
                  <a:pt x="664" y="130"/>
                </a:lnTo>
                <a:lnTo>
                  <a:pt x="670" y="122"/>
                </a:lnTo>
                <a:lnTo>
                  <a:pt x="682" y="112"/>
                </a:lnTo>
                <a:lnTo>
                  <a:pt x="696" y="104"/>
                </a:lnTo>
                <a:lnTo>
                  <a:pt x="712" y="96"/>
                </a:lnTo>
                <a:lnTo>
                  <a:pt x="724" y="84"/>
                </a:lnTo>
                <a:lnTo>
                  <a:pt x="730" y="78"/>
                </a:lnTo>
                <a:lnTo>
                  <a:pt x="732" y="70"/>
                </a:lnTo>
                <a:lnTo>
                  <a:pt x="736" y="60"/>
                </a:lnTo>
                <a:lnTo>
                  <a:pt x="736" y="48"/>
                </a:lnTo>
                <a:lnTo>
                  <a:pt x="736" y="48"/>
                </a:lnTo>
                <a:lnTo>
                  <a:pt x="734" y="40"/>
                </a:lnTo>
                <a:lnTo>
                  <a:pt x="728" y="32"/>
                </a:lnTo>
                <a:lnTo>
                  <a:pt x="720" y="24"/>
                </a:lnTo>
                <a:lnTo>
                  <a:pt x="710" y="18"/>
                </a:lnTo>
                <a:lnTo>
                  <a:pt x="688" y="8"/>
                </a:lnTo>
                <a:lnTo>
                  <a:pt x="666" y="0"/>
                </a:lnTo>
                <a:lnTo>
                  <a:pt x="402" y="0"/>
                </a:lnTo>
                <a:lnTo>
                  <a:pt x="248" y="268"/>
                </a:lnTo>
                <a:lnTo>
                  <a:pt x="248" y="268"/>
                </a:lnTo>
                <a:lnTo>
                  <a:pt x="242" y="290"/>
                </a:lnTo>
                <a:lnTo>
                  <a:pt x="240" y="314"/>
                </a:lnTo>
                <a:lnTo>
                  <a:pt x="240" y="326"/>
                </a:lnTo>
                <a:lnTo>
                  <a:pt x="242" y="336"/>
                </a:lnTo>
                <a:lnTo>
                  <a:pt x="248" y="344"/>
                </a:lnTo>
                <a:lnTo>
                  <a:pt x="254" y="350"/>
                </a:lnTo>
                <a:lnTo>
                  <a:pt x="254" y="350"/>
                </a:lnTo>
                <a:lnTo>
                  <a:pt x="264" y="356"/>
                </a:lnTo>
                <a:lnTo>
                  <a:pt x="274" y="358"/>
                </a:lnTo>
                <a:lnTo>
                  <a:pt x="284" y="358"/>
                </a:lnTo>
                <a:lnTo>
                  <a:pt x="292" y="358"/>
                </a:lnTo>
                <a:lnTo>
                  <a:pt x="308" y="352"/>
                </a:lnTo>
                <a:lnTo>
                  <a:pt x="322" y="344"/>
                </a:lnTo>
                <a:lnTo>
                  <a:pt x="336" y="336"/>
                </a:lnTo>
                <a:lnTo>
                  <a:pt x="352" y="330"/>
                </a:lnTo>
                <a:lnTo>
                  <a:pt x="360" y="328"/>
                </a:lnTo>
                <a:lnTo>
                  <a:pt x="370" y="328"/>
                </a:lnTo>
                <a:lnTo>
                  <a:pt x="378" y="332"/>
                </a:lnTo>
                <a:lnTo>
                  <a:pt x="390" y="336"/>
                </a:lnTo>
                <a:lnTo>
                  <a:pt x="390" y="336"/>
                </a:lnTo>
                <a:lnTo>
                  <a:pt x="398" y="342"/>
                </a:lnTo>
                <a:lnTo>
                  <a:pt x="406" y="350"/>
                </a:lnTo>
                <a:lnTo>
                  <a:pt x="412" y="358"/>
                </a:lnTo>
                <a:lnTo>
                  <a:pt x="416" y="368"/>
                </a:lnTo>
                <a:lnTo>
                  <a:pt x="418" y="380"/>
                </a:lnTo>
                <a:lnTo>
                  <a:pt x="420" y="392"/>
                </a:lnTo>
                <a:lnTo>
                  <a:pt x="418" y="416"/>
                </a:lnTo>
                <a:lnTo>
                  <a:pt x="414" y="440"/>
                </a:lnTo>
                <a:lnTo>
                  <a:pt x="408" y="464"/>
                </a:lnTo>
                <a:lnTo>
                  <a:pt x="400" y="486"/>
                </a:lnTo>
                <a:lnTo>
                  <a:pt x="390" y="502"/>
                </a:lnTo>
                <a:lnTo>
                  <a:pt x="390" y="502"/>
                </a:lnTo>
                <a:lnTo>
                  <a:pt x="380" y="518"/>
                </a:lnTo>
                <a:lnTo>
                  <a:pt x="366" y="536"/>
                </a:lnTo>
                <a:lnTo>
                  <a:pt x="348" y="554"/>
                </a:lnTo>
                <a:lnTo>
                  <a:pt x="330" y="570"/>
                </a:lnTo>
                <a:lnTo>
                  <a:pt x="308" y="584"/>
                </a:lnTo>
                <a:lnTo>
                  <a:pt x="298" y="588"/>
                </a:lnTo>
                <a:lnTo>
                  <a:pt x="288" y="592"/>
                </a:lnTo>
                <a:lnTo>
                  <a:pt x="276" y="592"/>
                </a:lnTo>
                <a:lnTo>
                  <a:pt x="266" y="592"/>
                </a:lnTo>
                <a:lnTo>
                  <a:pt x="256" y="590"/>
                </a:lnTo>
                <a:lnTo>
                  <a:pt x="246" y="586"/>
                </a:lnTo>
                <a:lnTo>
                  <a:pt x="246" y="586"/>
                </a:lnTo>
                <a:lnTo>
                  <a:pt x="236" y="578"/>
                </a:lnTo>
                <a:lnTo>
                  <a:pt x="230" y="572"/>
                </a:lnTo>
                <a:lnTo>
                  <a:pt x="224" y="564"/>
                </a:lnTo>
                <a:lnTo>
                  <a:pt x="222" y="556"/>
                </a:lnTo>
                <a:lnTo>
                  <a:pt x="218" y="540"/>
                </a:lnTo>
                <a:lnTo>
                  <a:pt x="218" y="522"/>
                </a:lnTo>
                <a:lnTo>
                  <a:pt x="218" y="506"/>
                </a:lnTo>
                <a:lnTo>
                  <a:pt x="216" y="490"/>
                </a:lnTo>
                <a:lnTo>
                  <a:pt x="212" y="482"/>
                </a:lnTo>
                <a:lnTo>
                  <a:pt x="206" y="474"/>
                </a:lnTo>
                <a:lnTo>
                  <a:pt x="200" y="468"/>
                </a:lnTo>
                <a:lnTo>
                  <a:pt x="190" y="460"/>
                </a:lnTo>
                <a:lnTo>
                  <a:pt x="190" y="460"/>
                </a:lnTo>
                <a:lnTo>
                  <a:pt x="182" y="458"/>
                </a:lnTo>
                <a:lnTo>
                  <a:pt x="172" y="458"/>
                </a:lnTo>
                <a:lnTo>
                  <a:pt x="162" y="462"/>
                </a:lnTo>
                <a:lnTo>
                  <a:pt x="152" y="466"/>
                </a:lnTo>
                <a:lnTo>
                  <a:pt x="132" y="480"/>
                </a:lnTo>
                <a:lnTo>
                  <a:pt x="116" y="496"/>
                </a:lnTo>
                <a:lnTo>
                  <a:pt x="4" y="688"/>
                </a:lnTo>
                <a:lnTo>
                  <a:pt x="2" y="688"/>
                </a:lnTo>
                <a:lnTo>
                  <a:pt x="0" y="694"/>
                </a:lnTo>
                <a:lnTo>
                  <a:pt x="400" y="1386"/>
                </a:lnTo>
                <a:lnTo>
                  <a:pt x="1200" y="1386"/>
                </a:lnTo>
                <a:lnTo>
                  <a:pt x="1600" y="694"/>
                </a:lnTo>
                <a:lnTo>
                  <a:pt x="1598" y="688"/>
                </a:lnTo>
                <a:lnTo>
                  <a:pt x="1458" y="448"/>
                </a:lnTo>
                <a:lnTo>
                  <a:pt x="1458" y="448"/>
                </a:lnTo>
                <a:lnTo>
                  <a:pt x="1454" y="426"/>
                </a:lnTo>
                <a:lnTo>
                  <a:pt x="1452" y="402"/>
                </a:lnTo>
                <a:lnTo>
                  <a:pt x="1454" y="392"/>
                </a:lnTo>
                <a:lnTo>
                  <a:pt x="1456" y="382"/>
                </a:lnTo>
                <a:lnTo>
                  <a:pt x="1460" y="374"/>
                </a:lnTo>
                <a:lnTo>
                  <a:pt x="1466" y="368"/>
                </a:lnTo>
                <a:lnTo>
                  <a:pt x="1466" y="368"/>
                </a:lnTo>
                <a:lnTo>
                  <a:pt x="1482" y="362"/>
                </a:lnTo>
                <a:lnTo>
                  <a:pt x="1496" y="360"/>
                </a:lnTo>
                <a:lnTo>
                  <a:pt x="1496" y="360"/>
                </a:lnTo>
                <a:lnTo>
                  <a:pt x="1508" y="360"/>
                </a:lnTo>
                <a:lnTo>
                  <a:pt x="1518" y="364"/>
                </a:lnTo>
                <a:lnTo>
                  <a:pt x="1536" y="374"/>
                </a:lnTo>
                <a:lnTo>
                  <a:pt x="1556" y="384"/>
                </a:lnTo>
                <a:lnTo>
                  <a:pt x="1566" y="388"/>
                </a:lnTo>
                <a:lnTo>
                  <a:pt x="1576" y="390"/>
                </a:lnTo>
                <a:lnTo>
                  <a:pt x="1576" y="390"/>
                </a:lnTo>
                <a:close/>
              </a:path>
            </a:pathLst>
          </a:custGeom>
          <a:solidFill>
            <a:srgbClr val="EF43AF"/>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smtClean="0"/>
          </a:p>
          <a:p>
            <a:r>
              <a:rPr lang="en-US" dirty="0" smtClean="0"/>
              <a:t>        Financial system Legacy      Cobol</a:t>
            </a:r>
            <a:endParaRPr lang="en-US" dirty="0"/>
          </a:p>
        </p:txBody>
      </p:sp>
      <p:sp>
        <p:nvSpPr>
          <p:cNvPr id="86020" name="Freeform 4"/>
          <p:cNvSpPr>
            <a:spLocks/>
          </p:cNvSpPr>
          <p:nvPr/>
        </p:nvSpPr>
        <p:spPr bwMode="auto">
          <a:xfrm>
            <a:off x="2071688" y="4135438"/>
            <a:ext cx="1757362" cy="1760537"/>
          </a:xfrm>
          <a:custGeom>
            <a:avLst/>
            <a:gdLst>
              <a:gd name="T0" fmla="*/ 1358 w 1616"/>
              <a:gd name="T1" fmla="*/ 1392 h 1618"/>
              <a:gd name="T2" fmla="*/ 1396 w 1616"/>
              <a:gd name="T3" fmla="*/ 1398 h 1618"/>
              <a:gd name="T4" fmla="*/ 1414 w 1616"/>
              <a:gd name="T5" fmla="*/ 1452 h 1618"/>
              <a:gd name="T6" fmla="*/ 1432 w 1616"/>
              <a:gd name="T7" fmla="*/ 1508 h 1618"/>
              <a:gd name="T8" fmla="*/ 1472 w 1616"/>
              <a:gd name="T9" fmla="*/ 1522 h 1618"/>
              <a:gd name="T10" fmla="*/ 1544 w 1616"/>
              <a:gd name="T11" fmla="*/ 1484 h 1618"/>
              <a:gd name="T12" fmla="*/ 1596 w 1616"/>
              <a:gd name="T13" fmla="*/ 1416 h 1618"/>
              <a:gd name="T14" fmla="*/ 1614 w 1616"/>
              <a:gd name="T15" fmla="*/ 1310 h 1618"/>
              <a:gd name="T16" fmla="*/ 1586 w 1616"/>
              <a:gd name="T17" fmla="*/ 1266 h 1618"/>
              <a:gd name="T18" fmla="*/ 1548 w 1616"/>
              <a:gd name="T19" fmla="*/ 1260 h 1618"/>
              <a:gd name="T20" fmla="*/ 1480 w 1616"/>
              <a:gd name="T21" fmla="*/ 1288 h 1618"/>
              <a:gd name="T22" fmla="*/ 1444 w 1616"/>
              <a:gd name="T23" fmla="*/ 1274 h 1618"/>
              <a:gd name="T24" fmla="*/ 1444 w 1616"/>
              <a:gd name="T25" fmla="*/ 1198 h 1618"/>
              <a:gd name="T26" fmla="*/ 1462 w 1616"/>
              <a:gd name="T27" fmla="*/ 694 h 1618"/>
              <a:gd name="T28" fmla="*/ 1394 w 1616"/>
              <a:gd name="T29" fmla="*/ 654 h 1618"/>
              <a:gd name="T30" fmla="*/ 1364 w 1616"/>
              <a:gd name="T31" fmla="*/ 678 h 1618"/>
              <a:gd name="T32" fmla="*/ 1354 w 1616"/>
              <a:gd name="T33" fmla="*/ 752 h 1618"/>
              <a:gd name="T34" fmla="*/ 1330 w 1616"/>
              <a:gd name="T35" fmla="*/ 782 h 1618"/>
              <a:gd name="T36" fmla="*/ 1278 w 1616"/>
              <a:gd name="T37" fmla="*/ 784 h 1618"/>
              <a:gd name="T38" fmla="*/ 1196 w 1616"/>
              <a:gd name="T39" fmla="*/ 716 h 1618"/>
              <a:gd name="T40" fmla="*/ 1162 w 1616"/>
              <a:gd name="T41" fmla="*/ 638 h 1618"/>
              <a:gd name="T42" fmla="*/ 1164 w 1616"/>
              <a:gd name="T43" fmla="*/ 556 h 1618"/>
              <a:gd name="T44" fmla="*/ 1198 w 1616"/>
              <a:gd name="T45" fmla="*/ 528 h 1618"/>
              <a:gd name="T46" fmla="*/ 1254 w 1616"/>
              <a:gd name="T47" fmla="*/ 540 h 1618"/>
              <a:gd name="T48" fmla="*/ 1312 w 1616"/>
              <a:gd name="T49" fmla="*/ 552 h 1618"/>
              <a:gd name="T50" fmla="*/ 1336 w 1616"/>
              <a:gd name="T51" fmla="*/ 522 h 1618"/>
              <a:gd name="T52" fmla="*/ 1198 w 1616"/>
              <a:gd name="T53" fmla="*/ 238 h 1618"/>
              <a:gd name="T54" fmla="*/ 902 w 1616"/>
              <a:gd name="T55" fmla="*/ 230 h 1618"/>
              <a:gd name="T56" fmla="*/ 896 w 1616"/>
              <a:gd name="T57" fmla="*/ 226 h 1618"/>
              <a:gd name="T58" fmla="*/ 890 w 1616"/>
              <a:gd name="T59" fmla="*/ 224 h 1618"/>
              <a:gd name="T60" fmla="*/ 886 w 1616"/>
              <a:gd name="T61" fmla="*/ 220 h 1618"/>
              <a:gd name="T62" fmla="*/ 880 w 1616"/>
              <a:gd name="T63" fmla="*/ 216 h 1618"/>
              <a:gd name="T64" fmla="*/ 876 w 1616"/>
              <a:gd name="T65" fmla="*/ 212 h 1618"/>
              <a:gd name="T66" fmla="*/ 874 w 1616"/>
              <a:gd name="T67" fmla="*/ 208 h 1618"/>
              <a:gd name="T68" fmla="*/ 872 w 1616"/>
              <a:gd name="T69" fmla="*/ 206 h 1618"/>
              <a:gd name="T70" fmla="*/ 868 w 1616"/>
              <a:gd name="T71" fmla="*/ 200 h 1618"/>
              <a:gd name="T72" fmla="*/ 868 w 1616"/>
              <a:gd name="T73" fmla="*/ 194 h 1618"/>
              <a:gd name="T74" fmla="*/ 868 w 1616"/>
              <a:gd name="T75" fmla="*/ 194 h 1618"/>
              <a:gd name="T76" fmla="*/ 894 w 1616"/>
              <a:gd name="T77" fmla="*/ 148 h 1618"/>
              <a:gd name="T78" fmla="*/ 944 w 1616"/>
              <a:gd name="T79" fmla="*/ 106 h 1618"/>
              <a:gd name="T80" fmla="*/ 944 w 1616"/>
              <a:gd name="T81" fmla="*/ 64 h 1618"/>
              <a:gd name="T82" fmla="*/ 894 w 1616"/>
              <a:gd name="T83" fmla="*/ 18 h 1618"/>
              <a:gd name="T84" fmla="*/ 804 w 1616"/>
              <a:gd name="T85" fmla="*/ 0 h 1618"/>
              <a:gd name="T86" fmla="*/ 694 w 1616"/>
              <a:gd name="T87" fmla="*/ 30 h 1618"/>
              <a:gd name="T88" fmla="*/ 662 w 1616"/>
              <a:gd name="T89" fmla="*/ 74 h 1618"/>
              <a:gd name="T90" fmla="*/ 668 w 1616"/>
              <a:gd name="T91" fmla="*/ 114 h 1618"/>
              <a:gd name="T92" fmla="*/ 728 w 1616"/>
              <a:gd name="T93" fmla="*/ 158 h 1618"/>
              <a:gd name="T94" fmla="*/ 740 w 1616"/>
              <a:gd name="T95" fmla="*/ 194 h 1618"/>
              <a:gd name="T96" fmla="*/ 740 w 1616"/>
              <a:gd name="T97" fmla="*/ 194 h 1618"/>
              <a:gd name="T98" fmla="*/ 740 w 1616"/>
              <a:gd name="T99" fmla="*/ 202 h 1618"/>
              <a:gd name="T100" fmla="*/ 738 w 1616"/>
              <a:gd name="T101" fmla="*/ 206 h 1618"/>
              <a:gd name="T102" fmla="*/ 734 w 1616"/>
              <a:gd name="T103" fmla="*/ 210 h 1618"/>
              <a:gd name="T104" fmla="*/ 732 w 1616"/>
              <a:gd name="T105" fmla="*/ 212 h 1618"/>
              <a:gd name="T106" fmla="*/ 726 w 1616"/>
              <a:gd name="T107" fmla="*/ 218 h 1618"/>
              <a:gd name="T108" fmla="*/ 722 w 1616"/>
              <a:gd name="T109" fmla="*/ 220 h 1618"/>
              <a:gd name="T110" fmla="*/ 716 w 1616"/>
              <a:gd name="T111" fmla="*/ 224 h 1618"/>
              <a:gd name="T112" fmla="*/ 712 w 1616"/>
              <a:gd name="T113" fmla="*/ 226 h 1618"/>
              <a:gd name="T114" fmla="*/ 706 w 1616"/>
              <a:gd name="T115" fmla="*/ 230 h 1618"/>
              <a:gd name="T116" fmla="*/ 0 w 1616"/>
              <a:gd name="T117" fmla="*/ 926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16" h="1618">
                <a:moveTo>
                  <a:pt x="1312" y="1426"/>
                </a:moveTo>
                <a:lnTo>
                  <a:pt x="1312" y="1426"/>
                </a:lnTo>
                <a:lnTo>
                  <a:pt x="1328" y="1410"/>
                </a:lnTo>
                <a:lnTo>
                  <a:pt x="1348" y="1396"/>
                </a:lnTo>
                <a:lnTo>
                  <a:pt x="1358" y="1392"/>
                </a:lnTo>
                <a:lnTo>
                  <a:pt x="1368" y="1388"/>
                </a:lnTo>
                <a:lnTo>
                  <a:pt x="1378" y="1388"/>
                </a:lnTo>
                <a:lnTo>
                  <a:pt x="1386" y="1390"/>
                </a:lnTo>
                <a:lnTo>
                  <a:pt x="1386" y="1390"/>
                </a:lnTo>
                <a:lnTo>
                  <a:pt x="1396" y="1398"/>
                </a:lnTo>
                <a:lnTo>
                  <a:pt x="1402" y="1404"/>
                </a:lnTo>
                <a:lnTo>
                  <a:pt x="1408" y="1412"/>
                </a:lnTo>
                <a:lnTo>
                  <a:pt x="1412" y="1420"/>
                </a:lnTo>
                <a:lnTo>
                  <a:pt x="1414" y="1436"/>
                </a:lnTo>
                <a:lnTo>
                  <a:pt x="1414" y="1452"/>
                </a:lnTo>
                <a:lnTo>
                  <a:pt x="1414" y="1470"/>
                </a:lnTo>
                <a:lnTo>
                  <a:pt x="1418" y="1486"/>
                </a:lnTo>
                <a:lnTo>
                  <a:pt x="1420" y="1494"/>
                </a:lnTo>
                <a:lnTo>
                  <a:pt x="1426" y="1502"/>
                </a:lnTo>
                <a:lnTo>
                  <a:pt x="1432" y="1508"/>
                </a:lnTo>
                <a:lnTo>
                  <a:pt x="1442" y="1516"/>
                </a:lnTo>
                <a:lnTo>
                  <a:pt x="1442" y="1516"/>
                </a:lnTo>
                <a:lnTo>
                  <a:pt x="1452" y="1520"/>
                </a:lnTo>
                <a:lnTo>
                  <a:pt x="1462" y="1522"/>
                </a:lnTo>
                <a:lnTo>
                  <a:pt x="1472" y="1522"/>
                </a:lnTo>
                <a:lnTo>
                  <a:pt x="1484" y="1522"/>
                </a:lnTo>
                <a:lnTo>
                  <a:pt x="1494" y="1518"/>
                </a:lnTo>
                <a:lnTo>
                  <a:pt x="1504" y="1514"/>
                </a:lnTo>
                <a:lnTo>
                  <a:pt x="1526" y="1500"/>
                </a:lnTo>
                <a:lnTo>
                  <a:pt x="1544" y="1484"/>
                </a:lnTo>
                <a:lnTo>
                  <a:pt x="1562" y="1466"/>
                </a:lnTo>
                <a:lnTo>
                  <a:pt x="1576" y="1448"/>
                </a:lnTo>
                <a:lnTo>
                  <a:pt x="1586" y="1432"/>
                </a:lnTo>
                <a:lnTo>
                  <a:pt x="1586" y="1432"/>
                </a:lnTo>
                <a:lnTo>
                  <a:pt x="1596" y="1416"/>
                </a:lnTo>
                <a:lnTo>
                  <a:pt x="1604" y="1394"/>
                </a:lnTo>
                <a:lnTo>
                  <a:pt x="1610" y="1370"/>
                </a:lnTo>
                <a:lnTo>
                  <a:pt x="1614" y="1346"/>
                </a:lnTo>
                <a:lnTo>
                  <a:pt x="1616" y="1322"/>
                </a:lnTo>
                <a:lnTo>
                  <a:pt x="1614" y="1310"/>
                </a:lnTo>
                <a:lnTo>
                  <a:pt x="1612" y="1298"/>
                </a:lnTo>
                <a:lnTo>
                  <a:pt x="1608" y="1288"/>
                </a:lnTo>
                <a:lnTo>
                  <a:pt x="1602" y="1280"/>
                </a:lnTo>
                <a:lnTo>
                  <a:pt x="1594" y="1272"/>
                </a:lnTo>
                <a:lnTo>
                  <a:pt x="1586" y="1266"/>
                </a:lnTo>
                <a:lnTo>
                  <a:pt x="1586" y="1266"/>
                </a:lnTo>
                <a:lnTo>
                  <a:pt x="1574" y="1262"/>
                </a:lnTo>
                <a:lnTo>
                  <a:pt x="1566" y="1258"/>
                </a:lnTo>
                <a:lnTo>
                  <a:pt x="1556" y="1258"/>
                </a:lnTo>
                <a:lnTo>
                  <a:pt x="1548" y="1260"/>
                </a:lnTo>
                <a:lnTo>
                  <a:pt x="1532" y="1266"/>
                </a:lnTo>
                <a:lnTo>
                  <a:pt x="1518" y="1274"/>
                </a:lnTo>
                <a:lnTo>
                  <a:pt x="1504" y="1282"/>
                </a:lnTo>
                <a:lnTo>
                  <a:pt x="1488" y="1288"/>
                </a:lnTo>
                <a:lnTo>
                  <a:pt x="1480" y="1288"/>
                </a:lnTo>
                <a:lnTo>
                  <a:pt x="1470" y="1288"/>
                </a:lnTo>
                <a:lnTo>
                  <a:pt x="1460" y="1286"/>
                </a:lnTo>
                <a:lnTo>
                  <a:pt x="1450" y="1280"/>
                </a:lnTo>
                <a:lnTo>
                  <a:pt x="1450" y="1280"/>
                </a:lnTo>
                <a:lnTo>
                  <a:pt x="1444" y="1274"/>
                </a:lnTo>
                <a:lnTo>
                  <a:pt x="1438" y="1266"/>
                </a:lnTo>
                <a:lnTo>
                  <a:pt x="1436" y="1256"/>
                </a:lnTo>
                <a:lnTo>
                  <a:pt x="1436" y="1244"/>
                </a:lnTo>
                <a:lnTo>
                  <a:pt x="1438" y="1220"/>
                </a:lnTo>
                <a:lnTo>
                  <a:pt x="1444" y="1198"/>
                </a:lnTo>
                <a:lnTo>
                  <a:pt x="1598" y="930"/>
                </a:lnTo>
                <a:lnTo>
                  <a:pt x="1600" y="926"/>
                </a:lnTo>
                <a:lnTo>
                  <a:pt x="1596" y="926"/>
                </a:lnTo>
                <a:lnTo>
                  <a:pt x="1462" y="694"/>
                </a:lnTo>
                <a:lnTo>
                  <a:pt x="1462" y="694"/>
                </a:lnTo>
                <a:lnTo>
                  <a:pt x="1446" y="678"/>
                </a:lnTo>
                <a:lnTo>
                  <a:pt x="1426" y="664"/>
                </a:lnTo>
                <a:lnTo>
                  <a:pt x="1414" y="658"/>
                </a:lnTo>
                <a:lnTo>
                  <a:pt x="1404" y="656"/>
                </a:lnTo>
                <a:lnTo>
                  <a:pt x="1394" y="654"/>
                </a:lnTo>
                <a:lnTo>
                  <a:pt x="1386" y="658"/>
                </a:lnTo>
                <a:lnTo>
                  <a:pt x="1386" y="658"/>
                </a:lnTo>
                <a:lnTo>
                  <a:pt x="1376" y="664"/>
                </a:lnTo>
                <a:lnTo>
                  <a:pt x="1368" y="672"/>
                </a:lnTo>
                <a:lnTo>
                  <a:pt x="1364" y="678"/>
                </a:lnTo>
                <a:lnTo>
                  <a:pt x="1360" y="686"/>
                </a:lnTo>
                <a:lnTo>
                  <a:pt x="1358" y="702"/>
                </a:lnTo>
                <a:lnTo>
                  <a:pt x="1358" y="720"/>
                </a:lnTo>
                <a:lnTo>
                  <a:pt x="1358" y="736"/>
                </a:lnTo>
                <a:lnTo>
                  <a:pt x="1354" y="752"/>
                </a:lnTo>
                <a:lnTo>
                  <a:pt x="1352" y="760"/>
                </a:lnTo>
                <a:lnTo>
                  <a:pt x="1346" y="768"/>
                </a:lnTo>
                <a:lnTo>
                  <a:pt x="1340" y="776"/>
                </a:lnTo>
                <a:lnTo>
                  <a:pt x="1330" y="782"/>
                </a:lnTo>
                <a:lnTo>
                  <a:pt x="1330" y="782"/>
                </a:lnTo>
                <a:lnTo>
                  <a:pt x="1320" y="786"/>
                </a:lnTo>
                <a:lnTo>
                  <a:pt x="1310" y="790"/>
                </a:lnTo>
                <a:lnTo>
                  <a:pt x="1300" y="790"/>
                </a:lnTo>
                <a:lnTo>
                  <a:pt x="1288" y="788"/>
                </a:lnTo>
                <a:lnTo>
                  <a:pt x="1278" y="784"/>
                </a:lnTo>
                <a:lnTo>
                  <a:pt x="1268" y="780"/>
                </a:lnTo>
                <a:lnTo>
                  <a:pt x="1246" y="768"/>
                </a:lnTo>
                <a:lnTo>
                  <a:pt x="1228" y="752"/>
                </a:lnTo>
                <a:lnTo>
                  <a:pt x="1210" y="734"/>
                </a:lnTo>
                <a:lnTo>
                  <a:pt x="1196" y="716"/>
                </a:lnTo>
                <a:lnTo>
                  <a:pt x="1186" y="700"/>
                </a:lnTo>
                <a:lnTo>
                  <a:pt x="1186" y="700"/>
                </a:lnTo>
                <a:lnTo>
                  <a:pt x="1176" y="682"/>
                </a:lnTo>
                <a:lnTo>
                  <a:pt x="1168" y="660"/>
                </a:lnTo>
                <a:lnTo>
                  <a:pt x="1162" y="638"/>
                </a:lnTo>
                <a:lnTo>
                  <a:pt x="1156" y="612"/>
                </a:lnTo>
                <a:lnTo>
                  <a:pt x="1156" y="588"/>
                </a:lnTo>
                <a:lnTo>
                  <a:pt x="1158" y="576"/>
                </a:lnTo>
                <a:lnTo>
                  <a:pt x="1160" y="566"/>
                </a:lnTo>
                <a:lnTo>
                  <a:pt x="1164" y="556"/>
                </a:lnTo>
                <a:lnTo>
                  <a:pt x="1170" y="546"/>
                </a:lnTo>
                <a:lnTo>
                  <a:pt x="1178" y="538"/>
                </a:lnTo>
                <a:lnTo>
                  <a:pt x="1186" y="532"/>
                </a:lnTo>
                <a:lnTo>
                  <a:pt x="1186" y="532"/>
                </a:lnTo>
                <a:lnTo>
                  <a:pt x="1198" y="528"/>
                </a:lnTo>
                <a:lnTo>
                  <a:pt x="1206" y="526"/>
                </a:lnTo>
                <a:lnTo>
                  <a:pt x="1216" y="524"/>
                </a:lnTo>
                <a:lnTo>
                  <a:pt x="1224" y="526"/>
                </a:lnTo>
                <a:lnTo>
                  <a:pt x="1240" y="532"/>
                </a:lnTo>
                <a:lnTo>
                  <a:pt x="1254" y="540"/>
                </a:lnTo>
                <a:lnTo>
                  <a:pt x="1268" y="548"/>
                </a:lnTo>
                <a:lnTo>
                  <a:pt x="1284" y="554"/>
                </a:lnTo>
                <a:lnTo>
                  <a:pt x="1292" y="556"/>
                </a:lnTo>
                <a:lnTo>
                  <a:pt x="1302" y="554"/>
                </a:lnTo>
                <a:lnTo>
                  <a:pt x="1312" y="552"/>
                </a:lnTo>
                <a:lnTo>
                  <a:pt x="1322" y="546"/>
                </a:lnTo>
                <a:lnTo>
                  <a:pt x="1322" y="546"/>
                </a:lnTo>
                <a:lnTo>
                  <a:pt x="1328" y="540"/>
                </a:lnTo>
                <a:lnTo>
                  <a:pt x="1334" y="532"/>
                </a:lnTo>
                <a:lnTo>
                  <a:pt x="1336" y="522"/>
                </a:lnTo>
                <a:lnTo>
                  <a:pt x="1336" y="510"/>
                </a:lnTo>
                <a:lnTo>
                  <a:pt x="1334" y="484"/>
                </a:lnTo>
                <a:lnTo>
                  <a:pt x="1328" y="462"/>
                </a:lnTo>
                <a:lnTo>
                  <a:pt x="1198" y="238"/>
                </a:lnTo>
                <a:lnTo>
                  <a:pt x="1198" y="238"/>
                </a:lnTo>
                <a:lnTo>
                  <a:pt x="924" y="238"/>
                </a:lnTo>
                <a:lnTo>
                  <a:pt x="924" y="238"/>
                </a:lnTo>
                <a:lnTo>
                  <a:pt x="902" y="230"/>
                </a:lnTo>
                <a:lnTo>
                  <a:pt x="902" y="230"/>
                </a:lnTo>
                <a:lnTo>
                  <a:pt x="902" y="230"/>
                </a:lnTo>
                <a:lnTo>
                  <a:pt x="902" y="230"/>
                </a:lnTo>
                <a:lnTo>
                  <a:pt x="898" y="228"/>
                </a:lnTo>
                <a:lnTo>
                  <a:pt x="898" y="228"/>
                </a:lnTo>
                <a:lnTo>
                  <a:pt x="896" y="226"/>
                </a:lnTo>
                <a:lnTo>
                  <a:pt x="896" y="226"/>
                </a:lnTo>
                <a:lnTo>
                  <a:pt x="894" y="226"/>
                </a:lnTo>
                <a:lnTo>
                  <a:pt x="894" y="226"/>
                </a:lnTo>
                <a:lnTo>
                  <a:pt x="892" y="224"/>
                </a:lnTo>
                <a:lnTo>
                  <a:pt x="892" y="224"/>
                </a:lnTo>
                <a:lnTo>
                  <a:pt x="890" y="224"/>
                </a:lnTo>
                <a:lnTo>
                  <a:pt x="890" y="224"/>
                </a:lnTo>
                <a:lnTo>
                  <a:pt x="888" y="222"/>
                </a:lnTo>
                <a:lnTo>
                  <a:pt x="888" y="222"/>
                </a:lnTo>
                <a:lnTo>
                  <a:pt x="886" y="220"/>
                </a:lnTo>
                <a:lnTo>
                  <a:pt x="886" y="220"/>
                </a:lnTo>
                <a:lnTo>
                  <a:pt x="884" y="220"/>
                </a:lnTo>
                <a:lnTo>
                  <a:pt x="884" y="220"/>
                </a:lnTo>
                <a:lnTo>
                  <a:pt x="882" y="218"/>
                </a:lnTo>
                <a:lnTo>
                  <a:pt x="882" y="218"/>
                </a:lnTo>
                <a:lnTo>
                  <a:pt x="880" y="216"/>
                </a:lnTo>
                <a:lnTo>
                  <a:pt x="880" y="216"/>
                </a:lnTo>
                <a:lnTo>
                  <a:pt x="878" y="214"/>
                </a:lnTo>
                <a:lnTo>
                  <a:pt x="878" y="214"/>
                </a:lnTo>
                <a:lnTo>
                  <a:pt x="876" y="212"/>
                </a:lnTo>
                <a:lnTo>
                  <a:pt x="876" y="212"/>
                </a:lnTo>
                <a:lnTo>
                  <a:pt x="876" y="212"/>
                </a:lnTo>
                <a:lnTo>
                  <a:pt x="876" y="212"/>
                </a:lnTo>
                <a:lnTo>
                  <a:pt x="874" y="210"/>
                </a:lnTo>
                <a:lnTo>
                  <a:pt x="874" y="210"/>
                </a:lnTo>
                <a:lnTo>
                  <a:pt x="874" y="208"/>
                </a:lnTo>
                <a:lnTo>
                  <a:pt x="874" y="208"/>
                </a:lnTo>
                <a:lnTo>
                  <a:pt x="872" y="206"/>
                </a:lnTo>
                <a:lnTo>
                  <a:pt x="872" y="206"/>
                </a:lnTo>
                <a:lnTo>
                  <a:pt x="872" y="206"/>
                </a:lnTo>
                <a:lnTo>
                  <a:pt x="872" y="206"/>
                </a:lnTo>
                <a:lnTo>
                  <a:pt x="870" y="204"/>
                </a:lnTo>
                <a:lnTo>
                  <a:pt x="870" y="204"/>
                </a:lnTo>
                <a:lnTo>
                  <a:pt x="870" y="202"/>
                </a:lnTo>
                <a:lnTo>
                  <a:pt x="870" y="202"/>
                </a:lnTo>
                <a:lnTo>
                  <a:pt x="868" y="200"/>
                </a:lnTo>
                <a:lnTo>
                  <a:pt x="868" y="200"/>
                </a:lnTo>
                <a:lnTo>
                  <a:pt x="868" y="198"/>
                </a:lnTo>
                <a:lnTo>
                  <a:pt x="868" y="198"/>
                </a:lnTo>
                <a:lnTo>
                  <a:pt x="868" y="194"/>
                </a:lnTo>
                <a:lnTo>
                  <a:pt x="868" y="194"/>
                </a:lnTo>
                <a:lnTo>
                  <a:pt x="868" y="194"/>
                </a:lnTo>
                <a:lnTo>
                  <a:pt x="868" y="194"/>
                </a:lnTo>
                <a:lnTo>
                  <a:pt x="868" y="194"/>
                </a:lnTo>
                <a:lnTo>
                  <a:pt x="868" y="194"/>
                </a:lnTo>
                <a:lnTo>
                  <a:pt x="868" y="194"/>
                </a:lnTo>
                <a:lnTo>
                  <a:pt x="870" y="182"/>
                </a:lnTo>
                <a:lnTo>
                  <a:pt x="872" y="172"/>
                </a:lnTo>
                <a:lnTo>
                  <a:pt x="876" y="164"/>
                </a:lnTo>
                <a:lnTo>
                  <a:pt x="880" y="158"/>
                </a:lnTo>
                <a:lnTo>
                  <a:pt x="894" y="148"/>
                </a:lnTo>
                <a:lnTo>
                  <a:pt x="908" y="138"/>
                </a:lnTo>
                <a:lnTo>
                  <a:pt x="922" y="130"/>
                </a:lnTo>
                <a:lnTo>
                  <a:pt x="936" y="120"/>
                </a:lnTo>
                <a:lnTo>
                  <a:pt x="940" y="114"/>
                </a:lnTo>
                <a:lnTo>
                  <a:pt x="944" y="106"/>
                </a:lnTo>
                <a:lnTo>
                  <a:pt x="948" y="96"/>
                </a:lnTo>
                <a:lnTo>
                  <a:pt x="948" y="84"/>
                </a:lnTo>
                <a:lnTo>
                  <a:pt x="948" y="84"/>
                </a:lnTo>
                <a:lnTo>
                  <a:pt x="948" y="74"/>
                </a:lnTo>
                <a:lnTo>
                  <a:pt x="944" y="64"/>
                </a:lnTo>
                <a:lnTo>
                  <a:pt x="940" y="54"/>
                </a:lnTo>
                <a:lnTo>
                  <a:pt x="932" y="46"/>
                </a:lnTo>
                <a:lnTo>
                  <a:pt x="924" y="38"/>
                </a:lnTo>
                <a:lnTo>
                  <a:pt x="916" y="30"/>
                </a:lnTo>
                <a:lnTo>
                  <a:pt x="894" y="18"/>
                </a:lnTo>
                <a:lnTo>
                  <a:pt x="870" y="10"/>
                </a:lnTo>
                <a:lnTo>
                  <a:pt x="846" y="4"/>
                </a:lnTo>
                <a:lnTo>
                  <a:pt x="824" y="2"/>
                </a:lnTo>
                <a:lnTo>
                  <a:pt x="804" y="0"/>
                </a:lnTo>
                <a:lnTo>
                  <a:pt x="804" y="0"/>
                </a:lnTo>
                <a:lnTo>
                  <a:pt x="786" y="2"/>
                </a:lnTo>
                <a:lnTo>
                  <a:pt x="762" y="4"/>
                </a:lnTo>
                <a:lnTo>
                  <a:pt x="738" y="10"/>
                </a:lnTo>
                <a:lnTo>
                  <a:pt x="714" y="18"/>
                </a:lnTo>
                <a:lnTo>
                  <a:pt x="694" y="30"/>
                </a:lnTo>
                <a:lnTo>
                  <a:pt x="684" y="38"/>
                </a:lnTo>
                <a:lnTo>
                  <a:pt x="676" y="46"/>
                </a:lnTo>
                <a:lnTo>
                  <a:pt x="670" y="54"/>
                </a:lnTo>
                <a:lnTo>
                  <a:pt x="664" y="64"/>
                </a:lnTo>
                <a:lnTo>
                  <a:pt x="662" y="74"/>
                </a:lnTo>
                <a:lnTo>
                  <a:pt x="660" y="84"/>
                </a:lnTo>
                <a:lnTo>
                  <a:pt x="660" y="84"/>
                </a:lnTo>
                <a:lnTo>
                  <a:pt x="662" y="96"/>
                </a:lnTo>
                <a:lnTo>
                  <a:pt x="664" y="106"/>
                </a:lnTo>
                <a:lnTo>
                  <a:pt x="668" y="114"/>
                </a:lnTo>
                <a:lnTo>
                  <a:pt x="674" y="120"/>
                </a:lnTo>
                <a:lnTo>
                  <a:pt x="686" y="130"/>
                </a:lnTo>
                <a:lnTo>
                  <a:pt x="700" y="138"/>
                </a:lnTo>
                <a:lnTo>
                  <a:pt x="716" y="148"/>
                </a:lnTo>
                <a:lnTo>
                  <a:pt x="728" y="158"/>
                </a:lnTo>
                <a:lnTo>
                  <a:pt x="734" y="164"/>
                </a:lnTo>
                <a:lnTo>
                  <a:pt x="736" y="172"/>
                </a:lnTo>
                <a:lnTo>
                  <a:pt x="740" y="182"/>
                </a:lnTo>
                <a:lnTo>
                  <a:pt x="740" y="194"/>
                </a:lnTo>
                <a:lnTo>
                  <a:pt x="740" y="194"/>
                </a:lnTo>
                <a:lnTo>
                  <a:pt x="740" y="194"/>
                </a:lnTo>
                <a:lnTo>
                  <a:pt x="740" y="194"/>
                </a:lnTo>
                <a:lnTo>
                  <a:pt x="740" y="194"/>
                </a:lnTo>
                <a:lnTo>
                  <a:pt x="740" y="194"/>
                </a:lnTo>
                <a:lnTo>
                  <a:pt x="740" y="194"/>
                </a:lnTo>
                <a:lnTo>
                  <a:pt x="740" y="198"/>
                </a:lnTo>
                <a:lnTo>
                  <a:pt x="740" y="198"/>
                </a:lnTo>
                <a:lnTo>
                  <a:pt x="740" y="200"/>
                </a:lnTo>
                <a:lnTo>
                  <a:pt x="740" y="200"/>
                </a:lnTo>
                <a:lnTo>
                  <a:pt x="740" y="202"/>
                </a:lnTo>
                <a:lnTo>
                  <a:pt x="740" y="202"/>
                </a:lnTo>
                <a:lnTo>
                  <a:pt x="738" y="204"/>
                </a:lnTo>
                <a:lnTo>
                  <a:pt x="738" y="204"/>
                </a:lnTo>
                <a:lnTo>
                  <a:pt x="738" y="206"/>
                </a:lnTo>
                <a:lnTo>
                  <a:pt x="738" y="206"/>
                </a:lnTo>
                <a:lnTo>
                  <a:pt x="736" y="206"/>
                </a:lnTo>
                <a:lnTo>
                  <a:pt x="736" y="206"/>
                </a:lnTo>
                <a:lnTo>
                  <a:pt x="736" y="208"/>
                </a:lnTo>
                <a:lnTo>
                  <a:pt x="736" y="208"/>
                </a:lnTo>
                <a:lnTo>
                  <a:pt x="734" y="210"/>
                </a:lnTo>
                <a:lnTo>
                  <a:pt x="734" y="210"/>
                </a:lnTo>
                <a:lnTo>
                  <a:pt x="734" y="212"/>
                </a:lnTo>
                <a:lnTo>
                  <a:pt x="734" y="212"/>
                </a:lnTo>
                <a:lnTo>
                  <a:pt x="732" y="212"/>
                </a:lnTo>
                <a:lnTo>
                  <a:pt x="732" y="212"/>
                </a:lnTo>
                <a:lnTo>
                  <a:pt x="730" y="214"/>
                </a:lnTo>
                <a:lnTo>
                  <a:pt x="730" y="214"/>
                </a:lnTo>
                <a:lnTo>
                  <a:pt x="730" y="216"/>
                </a:lnTo>
                <a:lnTo>
                  <a:pt x="730" y="216"/>
                </a:lnTo>
                <a:lnTo>
                  <a:pt x="726" y="218"/>
                </a:lnTo>
                <a:lnTo>
                  <a:pt x="726" y="218"/>
                </a:lnTo>
                <a:lnTo>
                  <a:pt x="724" y="220"/>
                </a:lnTo>
                <a:lnTo>
                  <a:pt x="724" y="220"/>
                </a:lnTo>
                <a:lnTo>
                  <a:pt x="722" y="220"/>
                </a:lnTo>
                <a:lnTo>
                  <a:pt x="722" y="220"/>
                </a:lnTo>
                <a:lnTo>
                  <a:pt x="720" y="222"/>
                </a:lnTo>
                <a:lnTo>
                  <a:pt x="720" y="222"/>
                </a:lnTo>
                <a:lnTo>
                  <a:pt x="718" y="224"/>
                </a:lnTo>
                <a:lnTo>
                  <a:pt x="718" y="224"/>
                </a:lnTo>
                <a:lnTo>
                  <a:pt x="716" y="224"/>
                </a:lnTo>
                <a:lnTo>
                  <a:pt x="716" y="224"/>
                </a:lnTo>
                <a:lnTo>
                  <a:pt x="714" y="226"/>
                </a:lnTo>
                <a:lnTo>
                  <a:pt x="714" y="226"/>
                </a:lnTo>
                <a:lnTo>
                  <a:pt x="712" y="226"/>
                </a:lnTo>
                <a:lnTo>
                  <a:pt x="712" y="226"/>
                </a:lnTo>
                <a:lnTo>
                  <a:pt x="710" y="228"/>
                </a:lnTo>
                <a:lnTo>
                  <a:pt x="710" y="228"/>
                </a:lnTo>
                <a:lnTo>
                  <a:pt x="708" y="230"/>
                </a:lnTo>
                <a:lnTo>
                  <a:pt x="708" y="230"/>
                </a:lnTo>
                <a:lnTo>
                  <a:pt x="706" y="230"/>
                </a:lnTo>
                <a:lnTo>
                  <a:pt x="706" y="230"/>
                </a:lnTo>
                <a:lnTo>
                  <a:pt x="684" y="238"/>
                </a:lnTo>
                <a:lnTo>
                  <a:pt x="400" y="238"/>
                </a:lnTo>
                <a:lnTo>
                  <a:pt x="398" y="236"/>
                </a:lnTo>
                <a:lnTo>
                  <a:pt x="0" y="926"/>
                </a:lnTo>
                <a:lnTo>
                  <a:pt x="400" y="1618"/>
                </a:lnTo>
                <a:lnTo>
                  <a:pt x="1198" y="1618"/>
                </a:lnTo>
                <a:lnTo>
                  <a:pt x="1200" y="1618"/>
                </a:lnTo>
                <a:lnTo>
                  <a:pt x="1312" y="1426"/>
                </a:lnTo>
                <a:close/>
              </a:path>
            </a:pathLst>
          </a:custGeom>
          <a:solidFill>
            <a:srgbClr val="50EC20"/>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dirty="0"/>
              <a:t> </a:t>
            </a:r>
            <a:r>
              <a:rPr lang="en-US" dirty="0" smtClean="0"/>
              <a:t>      </a:t>
            </a:r>
          </a:p>
          <a:p>
            <a:r>
              <a:rPr lang="en-US" dirty="0"/>
              <a:t> </a:t>
            </a:r>
            <a:r>
              <a:rPr lang="en-US" dirty="0" smtClean="0"/>
              <a:t>    </a:t>
            </a:r>
          </a:p>
          <a:p>
            <a:r>
              <a:rPr lang="en-US" dirty="0" smtClean="0"/>
              <a:t>       Web        </a:t>
            </a:r>
          </a:p>
          <a:p>
            <a:r>
              <a:rPr lang="en-US" dirty="0" smtClean="0"/>
              <a:t>  Application/               	PDA</a:t>
            </a:r>
            <a:endParaRPr lang="en-US" dirty="0"/>
          </a:p>
        </p:txBody>
      </p:sp>
      <p:sp>
        <p:nvSpPr>
          <p:cNvPr id="86021" name="Freeform 5"/>
          <p:cNvSpPr>
            <a:spLocks/>
          </p:cNvSpPr>
          <p:nvPr/>
        </p:nvSpPr>
        <p:spPr bwMode="auto">
          <a:xfrm>
            <a:off x="2018680" y="2321409"/>
            <a:ext cx="1754187" cy="1508125"/>
          </a:xfrm>
          <a:custGeom>
            <a:avLst/>
            <a:gdLst>
              <a:gd name="T0" fmla="*/ 694 w 1612"/>
              <a:gd name="T1" fmla="*/ 1382 h 1386"/>
              <a:gd name="T2" fmla="*/ 710 w 1612"/>
              <a:gd name="T3" fmla="*/ 1376 h 1386"/>
              <a:gd name="T4" fmla="*/ 714 w 1612"/>
              <a:gd name="T5" fmla="*/ 1374 h 1386"/>
              <a:gd name="T6" fmla="*/ 720 w 1612"/>
              <a:gd name="T7" fmla="*/ 1370 h 1386"/>
              <a:gd name="T8" fmla="*/ 724 w 1612"/>
              <a:gd name="T9" fmla="*/ 1368 h 1386"/>
              <a:gd name="T10" fmla="*/ 730 w 1612"/>
              <a:gd name="T11" fmla="*/ 1362 h 1386"/>
              <a:gd name="T12" fmla="*/ 734 w 1612"/>
              <a:gd name="T13" fmla="*/ 1360 h 1386"/>
              <a:gd name="T14" fmla="*/ 736 w 1612"/>
              <a:gd name="T15" fmla="*/ 1354 h 1386"/>
              <a:gd name="T16" fmla="*/ 738 w 1612"/>
              <a:gd name="T17" fmla="*/ 1352 h 1386"/>
              <a:gd name="T18" fmla="*/ 740 w 1612"/>
              <a:gd name="T19" fmla="*/ 1346 h 1386"/>
              <a:gd name="T20" fmla="*/ 740 w 1612"/>
              <a:gd name="T21" fmla="*/ 1342 h 1386"/>
              <a:gd name="T22" fmla="*/ 716 w 1612"/>
              <a:gd name="T23" fmla="*/ 1296 h 1386"/>
              <a:gd name="T24" fmla="*/ 664 w 1612"/>
              <a:gd name="T25" fmla="*/ 1254 h 1386"/>
              <a:gd name="T26" fmla="*/ 660 w 1612"/>
              <a:gd name="T27" fmla="*/ 1232 h 1386"/>
              <a:gd name="T28" fmla="*/ 676 w 1612"/>
              <a:gd name="T29" fmla="*/ 1194 h 1386"/>
              <a:gd name="T30" fmla="*/ 762 w 1612"/>
              <a:gd name="T31" fmla="*/ 1152 h 1386"/>
              <a:gd name="T32" fmla="*/ 846 w 1612"/>
              <a:gd name="T33" fmla="*/ 1152 h 1386"/>
              <a:gd name="T34" fmla="*/ 932 w 1612"/>
              <a:gd name="T35" fmla="*/ 1194 h 1386"/>
              <a:gd name="T36" fmla="*/ 948 w 1612"/>
              <a:gd name="T37" fmla="*/ 1232 h 1386"/>
              <a:gd name="T38" fmla="*/ 944 w 1612"/>
              <a:gd name="T39" fmla="*/ 1254 h 1386"/>
              <a:gd name="T40" fmla="*/ 894 w 1612"/>
              <a:gd name="T41" fmla="*/ 1296 h 1386"/>
              <a:gd name="T42" fmla="*/ 868 w 1612"/>
              <a:gd name="T43" fmla="*/ 1342 h 1386"/>
              <a:gd name="T44" fmla="*/ 868 w 1612"/>
              <a:gd name="T45" fmla="*/ 1346 h 1386"/>
              <a:gd name="T46" fmla="*/ 870 w 1612"/>
              <a:gd name="T47" fmla="*/ 1352 h 1386"/>
              <a:gd name="T48" fmla="*/ 872 w 1612"/>
              <a:gd name="T49" fmla="*/ 1354 h 1386"/>
              <a:gd name="T50" fmla="*/ 876 w 1612"/>
              <a:gd name="T51" fmla="*/ 1360 h 1386"/>
              <a:gd name="T52" fmla="*/ 878 w 1612"/>
              <a:gd name="T53" fmla="*/ 1362 h 1386"/>
              <a:gd name="T54" fmla="*/ 884 w 1612"/>
              <a:gd name="T55" fmla="*/ 1368 h 1386"/>
              <a:gd name="T56" fmla="*/ 888 w 1612"/>
              <a:gd name="T57" fmla="*/ 1370 h 1386"/>
              <a:gd name="T58" fmla="*/ 894 w 1612"/>
              <a:gd name="T59" fmla="*/ 1374 h 1386"/>
              <a:gd name="T60" fmla="*/ 898 w 1612"/>
              <a:gd name="T61" fmla="*/ 1376 h 1386"/>
              <a:gd name="T62" fmla="*/ 914 w 1612"/>
              <a:gd name="T63" fmla="*/ 1382 h 1386"/>
              <a:gd name="T64" fmla="*/ 1322 w 1612"/>
              <a:gd name="T65" fmla="*/ 1172 h 1386"/>
              <a:gd name="T66" fmla="*/ 1326 w 1612"/>
              <a:gd name="T67" fmla="*/ 1104 h 1386"/>
              <a:gd name="T68" fmla="*/ 1294 w 1612"/>
              <a:gd name="T69" fmla="*/ 1080 h 1386"/>
              <a:gd name="T70" fmla="*/ 1232 w 1612"/>
              <a:gd name="T71" fmla="*/ 1104 h 1386"/>
              <a:gd name="T72" fmla="*/ 1180 w 1612"/>
              <a:gd name="T73" fmla="*/ 1102 h 1386"/>
              <a:gd name="T74" fmla="*/ 1154 w 1612"/>
              <a:gd name="T75" fmla="*/ 1070 h 1386"/>
              <a:gd name="T76" fmla="*/ 1162 w 1612"/>
              <a:gd name="T77" fmla="*/ 974 h 1386"/>
              <a:gd name="T78" fmla="*/ 1204 w 1612"/>
              <a:gd name="T79" fmla="*/ 902 h 1386"/>
              <a:gd name="T80" fmla="*/ 1282 w 1612"/>
              <a:gd name="T81" fmla="*/ 848 h 1386"/>
              <a:gd name="T82" fmla="*/ 1324 w 1612"/>
              <a:gd name="T83" fmla="*/ 854 h 1386"/>
              <a:gd name="T84" fmla="*/ 1350 w 1612"/>
              <a:gd name="T85" fmla="*/ 900 h 1386"/>
              <a:gd name="T86" fmla="*/ 1362 w 1612"/>
              <a:gd name="T87" fmla="*/ 964 h 1386"/>
              <a:gd name="T88" fmla="*/ 1398 w 1612"/>
              <a:gd name="T89" fmla="*/ 980 h 1386"/>
              <a:gd name="T90" fmla="*/ 1598 w 1612"/>
              <a:gd name="T91" fmla="*/ 696 h 1386"/>
              <a:gd name="T92" fmla="*/ 1432 w 1612"/>
              <a:gd name="T93" fmla="*/ 382 h 1386"/>
              <a:gd name="T94" fmla="*/ 1446 w 1612"/>
              <a:gd name="T95" fmla="*/ 342 h 1386"/>
              <a:gd name="T96" fmla="*/ 1500 w 1612"/>
              <a:gd name="T97" fmla="*/ 340 h 1386"/>
              <a:gd name="T98" fmla="*/ 1562 w 1612"/>
              <a:gd name="T99" fmla="*/ 364 h 1386"/>
              <a:gd name="T100" fmla="*/ 1596 w 1612"/>
              <a:gd name="T101" fmla="*/ 346 h 1386"/>
              <a:gd name="T102" fmla="*/ 1612 w 1612"/>
              <a:gd name="T103" fmla="*/ 296 h 1386"/>
              <a:gd name="T104" fmla="*/ 1582 w 1612"/>
              <a:gd name="T105" fmla="*/ 198 h 1386"/>
              <a:gd name="T106" fmla="*/ 1500 w 1612"/>
              <a:gd name="T107" fmla="*/ 116 h 1386"/>
              <a:gd name="T108" fmla="*/ 1448 w 1612"/>
              <a:gd name="T109" fmla="*/ 110 h 1386"/>
              <a:gd name="T110" fmla="*/ 1416 w 1612"/>
              <a:gd name="T111" fmla="*/ 138 h 1386"/>
              <a:gd name="T112" fmla="*/ 1412 w 1612"/>
              <a:gd name="T113" fmla="*/ 182 h 1386"/>
              <a:gd name="T114" fmla="*/ 1392 w 1612"/>
              <a:gd name="T115" fmla="*/ 234 h 1386"/>
              <a:gd name="T116" fmla="*/ 1360 w 1612"/>
              <a:gd name="T117" fmla="*/ 240 h 1386"/>
              <a:gd name="T118" fmla="*/ 400 w 1612"/>
              <a:gd name="T119"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 h="1386">
                <a:moveTo>
                  <a:pt x="674" y="1382"/>
                </a:moveTo>
                <a:lnTo>
                  <a:pt x="674" y="1382"/>
                </a:lnTo>
                <a:lnTo>
                  <a:pt x="670" y="1382"/>
                </a:lnTo>
                <a:lnTo>
                  <a:pt x="694" y="1382"/>
                </a:lnTo>
                <a:lnTo>
                  <a:pt x="694" y="1382"/>
                </a:lnTo>
                <a:lnTo>
                  <a:pt x="706" y="1378"/>
                </a:lnTo>
                <a:lnTo>
                  <a:pt x="706" y="1378"/>
                </a:lnTo>
                <a:lnTo>
                  <a:pt x="708" y="1378"/>
                </a:lnTo>
                <a:lnTo>
                  <a:pt x="708" y="1378"/>
                </a:lnTo>
                <a:lnTo>
                  <a:pt x="710" y="1376"/>
                </a:lnTo>
                <a:lnTo>
                  <a:pt x="710" y="1376"/>
                </a:lnTo>
                <a:lnTo>
                  <a:pt x="712" y="1374"/>
                </a:lnTo>
                <a:lnTo>
                  <a:pt x="712" y="1374"/>
                </a:lnTo>
                <a:lnTo>
                  <a:pt x="714" y="1374"/>
                </a:lnTo>
                <a:lnTo>
                  <a:pt x="714" y="1374"/>
                </a:lnTo>
                <a:lnTo>
                  <a:pt x="716" y="1372"/>
                </a:lnTo>
                <a:lnTo>
                  <a:pt x="716" y="1372"/>
                </a:lnTo>
                <a:lnTo>
                  <a:pt x="718" y="1372"/>
                </a:lnTo>
                <a:lnTo>
                  <a:pt x="718" y="1372"/>
                </a:lnTo>
                <a:lnTo>
                  <a:pt x="720" y="1370"/>
                </a:lnTo>
                <a:lnTo>
                  <a:pt x="720" y="1370"/>
                </a:lnTo>
                <a:lnTo>
                  <a:pt x="722" y="1368"/>
                </a:lnTo>
                <a:lnTo>
                  <a:pt x="722" y="1368"/>
                </a:lnTo>
                <a:lnTo>
                  <a:pt x="724" y="1368"/>
                </a:lnTo>
                <a:lnTo>
                  <a:pt x="724" y="1368"/>
                </a:lnTo>
                <a:lnTo>
                  <a:pt x="726" y="1366"/>
                </a:lnTo>
                <a:lnTo>
                  <a:pt x="726" y="1366"/>
                </a:lnTo>
                <a:lnTo>
                  <a:pt x="730" y="1364"/>
                </a:lnTo>
                <a:lnTo>
                  <a:pt x="730" y="1364"/>
                </a:lnTo>
                <a:lnTo>
                  <a:pt x="730" y="1362"/>
                </a:lnTo>
                <a:lnTo>
                  <a:pt x="730" y="1362"/>
                </a:lnTo>
                <a:lnTo>
                  <a:pt x="732" y="1360"/>
                </a:lnTo>
                <a:lnTo>
                  <a:pt x="732" y="1360"/>
                </a:lnTo>
                <a:lnTo>
                  <a:pt x="734" y="1360"/>
                </a:lnTo>
                <a:lnTo>
                  <a:pt x="734" y="1360"/>
                </a:lnTo>
                <a:lnTo>
                  <a:pt x="734" y="1358"/>
                </a:lnTo>
                <a:lnTo>
                  <a:pt x="734" y="1358"/>
                </a:lnTo>
                <a:lnTo>
                  <a:pt x="736" y="1356"/>
                </a:lnTo>
                <a:lnTo>
                  <a:pt x="736" y="1356"/>
                </a:lnTo>
                <a:lnTo>
                  <a:pt x="736" y="1354"/>
                </a:lnTo>
                <a:lnTo>
                  <a:pt x="736" y="1354"/>
                </a:lnTo>
                <a:lnTo>
                  <a:pt x="738" y="1354"/>
                </a:lnTo>
                <a:lnTo>
                  <a:pt x="738" y="1354"/>
                </a:lnTo>
                <a:lnTo>
                  <a:pt x="738" y="1352"/>
                </a:lnTo>
                <a:lnTo>
                  <a:pt x="738" y="1352"/>
                </a:lnTo>
                <a:lnTo>
                  <a:pt x="740" y="1350"/>
                </a:lnTo>
                <a:lnTo>
                  <a:pt x="740" y="1350"/>
                </a:lnTo>
                <a:lnTo>
                  <a:pt x="740" y="1348"/>
                </a:lnTo>
                <a:lnTo>
                  <a:pt x="740" y="1348"/>
                </a:lnTo>
                <a:lnTo>
                  <a:pt x="740" y="1346"/>
                </a:lnTo>
                <a:lnTo>
                  <a:pt x="740" y="1346"/>
                </a:lnTo>
                <a:lnTo>
                  <a:pt x="740" y="1342"/>
                </a:lnTo>
                <a:lnTo>
                  <a:pt x="740" y="1342"/>
                </a:lnTo>
                <a:lnTo>
                  <a:pt x="740" y="1342"/>
                </a:lnTo>
                <a:lnTo>
                  <a:pt x="740" y="1342"/>
                </a:lnTo>
                <a:lnTo>
                  <a:pt x="740" y="1330"/>
                </a:lnTo>
                <a:lnTo>
                  <a:pt x="736" y="1320"/>
                </a:lnTo>
                <a:lnTo>
                  <a:pt x="734" y="1312"/>
                </a:lnTo>
                <a:lnTo>
                  <a:pt x="728" y="1306"/>
                </a:lnTo>
                <a:lnTo>
                  <a:pt x="716" y="1296"/>
                </a:lnTo>
                <a:lnTo>
                  <a:pt x="700" y="1286"/>
                </a:lnTo>
                <a:lnTo>
                  <a:pt x="686" y="1278"/>
                </a:lnTo>
                <a:lnTo>
                  <a:pt x="674" y="1268"/>
                </a:lnTo>
                <a:lnTo>
                  <a:pt x="668" y="1262"/>
                </a:lnTo>
                <a:lnTo>
                  <a:pt x="664" y="1254"/>
                </a:lnTo>
                <a:lnTo>
                  <a:pt x="662" y="1244"/>
                </a:lnTo>
                <a:lnTo>
                  <a:pt x="660" y="1232"/>
                </a:lnTo>
                <a:lnTo>
                  <a:pt x="660" y="1232"/>
                </a:lnTo>
                <a:lnTo>
                  <a:pt x="660" y="1232"/>
                </a:lnTo>
                <a:lnTo>
                  <a:pt x="660" y="1232"/>
                </a:lnTo>
                <a:lnTo>
                  <a:pt x="660" y="1232"/>
                </a:lnTo>
                <a:lnTo>
                  <a:pt x="662" y="1222"/>
                </a:lnTo>
                <a:lnTo>
                  <a:pt x="664" y="1212"/>
                </a:lnTo>
                <a:lnTo>
                  <a:pt x="670" y="1202"/>
                </a:lnTo>
                <a:lnTo>
                  <a:pt x="676" y="1194"/>
                </a:lnTo>
                <a:lnTo>
                  <a:pt x="684" y="1186"/>
                </a:lnTo>
                <a:lnTo>
                  <a:pt x="694" y="1178"/>
                </a:lnTo>
                <a:lnTo>
                  <a:pt x="714" y="1166"/>
                </a:lnTo>
                <a:lnTo>
                  <a:pt x="738" y="1158"/>
                </a:lnTo>
                <a:lnTo>
                  <a:pt x="762" y="1152"/>
                </a:lnTo>
                <a:lnTo>
                  <a:pt x="786" y="1150"/>
                </a:lnTo>
                <a:lnTo>
                  <a:pt x="804" y="1148"/>
                </a:lnTo>
                <a:lnTo>
                  <a:pt x="804" y="1148"/>
                </a:lnTo>
                <a:lnTo>
                  <a:pt x="824" y="1150"/>
                </a:lnTo>
                <a:lnTo>
                  <a:pt x="846" y="1152"/>
                </a:lnTo>
                <a:lnTo>
                  <a:pt x="870" y="1158"/>
                </a:lnTo>
                <a:lnTo>
                  <a:pt x="894" y="1166"/>
                </a:lnTo>
                <a:lnTo>
                  <a:pt x="916" y="1178"/>
                </a:lnTo>
                <a:lnTo>
                  <a:pt x="924" y="1186"/>
                </a:lnTo>
                <a:lnTo>
                  <a:pt x="932" y="1194"/>
                </a:lnTo>
                <a:lnTo>
                  <a:pt x="940" y="1202"/>
                </a:lnTo>
                <a:lnTo>
                  <a:pt x="944" y="1212"/>
                </a:lnTo>
                <a:lnTo>
                  <a:pt x="948" y="1222"/>
                </a:lnTo>
                <a:lnTo>
                  <a:pt x="948" y="1232"/>
                </a:lnTo>
                <a:lnTo>
                  <a:pt x="948" y="1232"/>
                </a:lnTo>
                <a:lnTo>
                  <a:pt x="948" y="1232"/>
                </a:lnTo>
                <a:lnTo>
                  <a:pt x="948" y="1232"/>
                </a:lnTo>
                <a:lnTo>
                  <a:pt x="948" y="1232"/>
                </a:lnTo>
                <a:lnTo>
                  <a:pt x="948" y="1244"/>
                </a:lnTo>
                <a:lnTo>
                  <a:pt x="944" y="1254"/>
                </a:lnTo>
                <a:lnTo>
                  <a:pt x="940" y="1262"/>
                </a:lnTo>
                <a:lnTo>
                  <a:pt x="936" y="1268"/>
                </a:lnTo>
                <a:lnTo>
                  <a:pt x="922" y="1278"/>
                </a:lnTo>
                <a:lnTo>
                  <a:pt x="908" y="1286"/>
                </a:lnTo>
                <a:lnTo>
                  <a:pt x="894" y="1296"/>
                </a:lnTo>
                <a:lnTo>
                  <a:pt x="880" y="1306"/>
                </a:lnTo>
                <a:lnTo>
                  <a:pt x="876" y="1312"/>
                </a:lnTo>
                <a:lnTo>
                  <a:pt x="872" y="1320"/>
                </a:lnTo>
                <a:lnTo>
                  <a:pt x="870" y="1330"/>
                </a:lnTo>
                <a:lnTo>
                  <a:pt x="868" y="1342"/>
                </a:lnTo>
                <a:lnTo>
                  <a:pt x="868" y="1342"/>
                </a:lnTo>
                <a:lnTo>
                  <a:pt x="868" y="1342"/>
                </a:lnTo>
                <a:lnTo>
                  <a:pt x="868" y="1342"/>
                </a:lnTo>
                <a:lnTo>
                  <a:pt x="868" y="1346"/>
                </a:lnTo>
                <a:lnTo>
                  <a:pt x="868" y="1346"/>
                </a:lnTo>
                <a:lnTo>
                  <a:pt x="868" y="1348"/>
                </a:lnTo>
                <a:lnTo>
                  <a:pt x="868" y="1348"/>
                </a:lnTo>
                <a:lnTo>
                  <a:pt x="870" y="1350"/>
                </a:lnTo>
                <a:lnTo>
                  <a:pt x="870" y="1350"/>
                </a:lnTo>
                <a:lnTo>
                  <a:pt x="870" y="1352"/>
                </a:lnTo>
                <a:lnTo>
                  <a:pt x="870" y="1352"/>
                </a:lnTo>
                <a:lnTo>
                  <a:pt x="872" y="1354"/>
                </a:lnTo>
                <a:lnTo>
                  <a:pt x="872" y="1354"/>
                </a:lnTo>
                <a:lnTo>
                  <a:pt x="872" y="1354"/>
                </a:lnTo>
                <a:lnTo>
                  <a:pt x="872" y="1354"/>
                </a:lnTo>
                <a:lnTo>
                  <a:pt x="874" y="1356"/>
                </a:lnTo>
                <a:lnTo>
                  <a:pt x="874" y="1356"/>
                </a:lnTo>
                <a:lnTo>
                  <a:pt x="874" y="1358"/>
                </a:lnTo>
                <a:lnTo>
                  <a:pt x="874" y="1358"/>
                </a:lnTo>
                <a:lnTo>
                  <a:pt x="876" y="1360"/>
                </a:lnTo>
                <a:lnTo>
                  <a:pt x="876" y="1360"/>
                </a:lnTo>
                <a:lnTo>
                  <a:pt x="876" y="1360"/>
                </a:lnTo>
                <a:lnTo>
                  <a:pt x="876" y="1360"/>
                </a:lnTo>
                <a:lnTo>
                  <a:pt x="878" y="1362"/>
                </a:lnTo>
                <a:lnTo>
                  <a:pt x="878" y="1362"/>
                </a:lnTo>
                <a:lnTo>
                  <a:pt x="880" y="1364"/>
                </a:lnTo>
                <a:lnTo>
                  <a:pt x="880" y="1364"/>
                </a:lnTo>
                <a:lnTo>
                  <a:pt x="882" y="1366"/>
                </a:lnTo>
                <a:lnTo>
                  <a:pt x="882" y="1366"/>
                </a:lnTo>
                <a:lnTo>
                  <a:pt x="884" y="1368"/>
                </a:lnTo>
                <a:lnTo>
                  <a:pt x="884" y="1368"/>
                </a:lnTo>
                <a:lnTo>
                  <a:pt x="886" y="1368"/>
                </a:lnTo>
                <a:lnTo>
                  <a:pt x="886" y="1368"/>
                </a:lnTo>
                <a:lnTo>
                  <a:pt x="888" y="1370"/>
                </a:lnTo>
                <a:lnTo>
                  <a:pt x="888" y="1370"/>
                </a:lnTo>
                <a:lnTo>
                  <a:pt x="890" y="1372"/>
                </a:lnTo>
                <a:lnTo>
                  <a:pt x="890" y="1372"/>
                </a:lnTo>
                <a:lnTo>
                  <a:pt x="892" y="1372"/>
                </a:lnTo>
                <a:lnTo>
                  <a:pt x="892" y="1372"/>
                </a:lnTo>
                <a:lnTo>
                  <a:pt x="894" y="1374"/>
                </a:lnTo>
                <a:lnTo>
                  <a:pt x="894" y="1374"/>
                </a:lnTo>
                <a:lnTo>
                  <a:pt x="896" y="1374"/>
                </a:lnTo>
                <a:lnTo>
                  <a:pt x="896" y="1374"/>
                </a:lnTo>
                <a:lnTo>
                  <a:pt x="898" y="1376"/>
                </a:lnTo>
                <a:lnTo>
                  <a:pt x="898" y="1376"/>
                </a:lnTo>
                <a:lnTo>
                  <a:pt x="902" y="1378"/>
                </a:lnTo>
                <a:lnTo>
                  <a:pt x="902" y="1378"/>
                </a:lnTo>
                <a:lnTo>
                  <a:pt x="902" y="1378"/>
                </a:lnTo>
                <a:lnTo>
                  <a:pt x="902" y="1378"/>
                </a:lnTo>
                <a:lnTo>
                  <a:pt x="914" y="1382"/>
                </a:lnTo>
                <a:lnTo>
                  <a:pt x="940" y="1382"/>
                </a:lnTo>
                <a:lnTo>
                  <a:pt x="940" y="1382"/>
                </a:lnTo>
                <a:lnTo>
                  <a:pt x="934" y="1382"/>
                </a:lnTo>
                <a:lnTo>
                  <a:pt x="1198" y="1386"/>
                </a:lnTo>
                <a:lnTo>
                  <a:pt x="1322" y="1172"/>
                </a:lnTo>
                <a:lnTo>
                  <a:pt x="1322" y="1172"/>
                </a:lnTo>
                <a:lnTo>
                  <a:pt x="1326" y="1150"/>
                </a:lnTo>
                <a:lnTo>
                  <a:pt x="1330" y="1126"/>
                </a:lnTo>
                <a:lnTo>
                  <a:pt x="1328" y="1114"/>
                </a:lnTo>
                <a:lnTo>
                  <a:pt x="1326" y="1104"/>
                </a:lnTo>
                <a:lnTo>
                  <a:pt x="1322" y="1094"/>
                </a:lnTo>
                <a:lnTo>
                  <a:pt x="1316" y="1088"/>
                </a:lnTo>
                <a:lnTo>
                  <a:pt x="1316" y="1088"/>
                </a:lnTo>
                <a:lnTo>
                  <a:pt x="1304" y="1084"/>
                </a:lnTo>
                <a:lnTo>
                  <a:pt x="1294" y="1080"/>
                </a:lnTo>
                <a:lnTo>
                  <a:pt x="1286" y="1080"/>
                </a:lnTo>
                <a:lnTo>
                  <a:pt x="1278" y="1082"/>
                </a:lnTo>
                <a:lnTo>
                  <a:pt x="1262" y="1086"/>
                </a:lnTo>
                <a:lnTo>
                  <a:pt x="1248" y="1096"/>
                </a:lnTo>
                <a:lnTo>
                  <a:pt x="1232" y="1104"/>
                </a:lnTo>
                <a:lnTo>
                  <a:pt x="1218" y="1110"/>
                </a:lnTo>
                <a:lnTo>
                  <a:pt x="1208" y="1110"/>
                </a:lnTo>
                <a:lnTo>
                  <a:pt x="1200" y="1110"/>
                </a:lnTo>
                <a:lnTo>
                  <a:pt x="1190" y="1108"/>
                </a:lnTo>
                <a:lnTo>
                  <a:pt x="1180" y="1102"/>
                </a:lnTo>
                <a:lnTo>
                  <a:pt x="1180" y="1102"/>
                </a:lnTo>
                <a:lnTo>
                  <a:pt x="1170" y="1096"/>
                </a:lnTo>
                <a:lnTo>
                  <a:pt x="1164" y="1088"/>
                </a:lnTo>
                <a:lnTo>
                  <a:pt x="1158" y="1080"/>
                </a:lnTo>
                <a:lnTo>
                  <a:pt x="1154" y="1070"/>
                </a:lnTo>
                <a:lnTo>
                  <a:pt x="1152" y="1060"/>
                </a:lnTo>
                <a:lnTo>
                  <a:pt x="1150" y="1048"/>
                </a:lnTo>
                <a:lnTo>
                  <a:pt x="1150" y="1024"/>
                </a:lnTo>
                <a:lnTo>
                  <a:pt x="1154" y="998"/>
                </a:lnTo>
                <a:lnTo>
                  <a:pt x="1162" y="974"/>
                </a:lnTo>
                <a:lnTo>
                  <a:pt x="1170" y="954"/>
                </a:lnTo>
                <a:lnTo>
                  <a:pt x="1180" y="936"/>
                </a:lnTo>
                <a:lnTo>
                  <a:pt x="1180" y="936"/>
                </a:lnTo>
                <a:lnTo>
                  <a:pt x="1190" y="920"/>
                </a:lnTo>
                <a:lnTo>
                  <a:pt x="1204" y="902"/>
                </a:lnTo>
                <a:lnTo>
                  <a:pt x="1220" y="884"/>
                </a:lnTo>
                <a:lnTo>
                  <a:pt x="1240" y="868"/>
                </a:lnTo>
                <a:lnTo>
                  <a:pt x="1260" y="856"/>
                </a:lnTo>
                <a:lnTo>
                  <a:pt x="1272" y="850"/>
                </a:lnTo>
                <a:lnTo>
                  <a:pt x="1282" y="848"/>
                </a:lnTo>
                <a:lnTo>
                  <a:pt x="1292" y="846"/>
                </a:lnTo>
                <a:lnTo>
                  <a:pt x="1304" y="846"/>
                </a:lnTo>
                <a:lnTo>
                  <a:pt x="1314" y="848"/>
                </a:lnTo>
                <a:lnTo>
                  <a:pt x="1324" y="854"/>
                </a:lnTo>
                <a:lnTo>
                  <a:pt x="1324" y="854"/>
                </a:lnTo>
                <a:lnTo>
                  <a:pt x="1334" y="860"/>
                </a:lnTo>
                <a:lnTo>
                  <a:pt x="1340" y="868"/>
                </a:lnTo>
                <a:lnTo>
                  <a:pt x="1346" y="874"/>
                </a:lnTo>
                <a:lnTo>
                  <a:pt x="1348" y="882"/>
                </a:lnTo>
                <a:lnTo>
                  <a:pt x="1350" y="900"/>
                </a:lnTo>
                <a:lnTo>
                  <a:pt x="1350" y="916"/>
                </a:lnTo>
                <a:lnTo>
                  <a:pt x="1350" y="932"/>
                </a:lnTo>
                <a:lnTo>
                  <a:pt x="1354" y="948"/>
                </a:lnTo>
                <a:lnTo>
                  <a:pt x="1358" y="956"/>
                </a:lnTo>
                <a:lnTo>
                  <a:pt x="1362" y="964"/>
                </a:lnTo>
                <a:lnTo>
                  <a:pt x="1370" y="972"/>
                </a:lnTo>
                <a:lnTo>
                  <a:pt x="1380" y="978"/>
                </a:lnTo>
                <a:lnTo>
                  <a:pt x="1380" y="978"/>
                </a:lnTo>
                <a:lnTo>
                  <a:pt x="1388" y="980"/>
                </a:lnTo>
                <a:lnTo>
                  <a:pt x="1398" y="980"/>
                </a:lnTo>
                <a:lnTo>
                  <a:pt x="1408" y="976"/>
                </a:lnTo>
                <a:lnTo>
                  <a:pt x="1418" y="972"/>
                </a:lnTo>
                <a:lnTo>
                  <a:pt x="1438" y="958"/>
                </a:lnTo>
                <a:lnTo>
                  <a:pt x="1456" y="942"/>
                </a:lnTo>
                <a:lnTo>
                  <a:pt x="1598" y="696"/>
                </a:lnTo>
                <a:lnTo>
                  <a:pt x="1436" y="418"/>
                </a:lnTo>
                <a:lnTo>
                  <a:pt x="1436" y="418"/>
                </a:lnTo>
                <a:lnTo>
                  <a:pt x="1434" y="400"/>
                </a:lnTo>
                <a:lnTo>
                  <a:pt x="1432" y="382"/>
                </a:lnTo>
                <a:lnTo>
                  <a:pt x="1432" y="382"/>
                </a:lnTo>
                <a:lnTo>
                  <a:pt x="1432" y="370"/>
                </a:lnTo>
                <a:lnTo>
                  <a:pt x="1434" y="358"/>
                </a:lnTo>
                <a:lnTo>
                  <a:pt x="1440" y="348"/>
                </a:lnTo>
                <a:lnTo>
                  <a:pt x="1446" y="342"/>
                </a:lnTo>
                <a:lnTo>
                  <a:pt x="1446" y="342"/>
                </a:lnTo>
                <a:lnTo>
                  <a:pt x="1456" y="338"/>
                </a:lnTo>
                <a:lnTo>
                  <a:pt x="1466" y="334"/>
                </a:lnTo>
                <a:lnTo>
                  <a:pt x="1476" y="334"/>
                </a:lnTo>
                <a:lnTo>
                  <a:pt x="1484" y="334"/>
                </a:lnTo>
                <a:lnTo>
                  <a:pt x="1500" y="340"/>
                </a:lnTo>
                <a:lnTo>
                  <a:pt x="1514" y="348"/>
                </a:lnTo>
                <a:lnTo>
                  <a:pt x="1528" y="358"/>
                </a:lnTo>
                <a:lnTo>
                  <a:pt x="1544" y="364"/>
                </a:lnTo>
                <a:lnTo>
                  <a:pt x="1552" y="364"/>
                </a:lnTo>
                <a:lnTo>
                  <a:pt x="1562" y="364"/>
                </a:lnTo>
                <a:lnTo>
                  <a:pt x="1572" y="362"/>
                </a:lnTo>
                <a:lnTo>
                  <a:pt x="1582" y="356"/>
                </a:lnTo>
                <a:lnTo>
                  <a:pt x="1582" y="356"/>
                </a:lnTo>
                <a:lnTo>
                  <a:pt x="1590" y="352"/>
                </a:lnTo>
                <a:lnTo>
                  <a:pt x="1596" y="346"/>
                </a:lnTo>
                <a:lnTo>
                  <a:pt x="1600" y="340"/>
                </a:lnTo>
                <a:lnTo>
                  <a:pt x="1604" y="332"/>
                </a:lnTo>
                <a:lnTo>
                  <a:pt x="1610" y="316"/>
                </a:lnTo>
                <a:lnTo>
                  <a:pt x="1612" y="296"/>
                </a:lnTo>
                <a:lnTo>
                  <a:pt x="1612" y="296"/>
                </a:lnTo>
                <a:lnTo>
                  <a:pt x="1608" y="268"/>
                </a:lnTo>
                <a:lnTo>
                  <a:pt x="1602" y="242"/>
                </a:lnTo>
                <a:lnTo>
                  <a:pt x="1592" y="218"/>
                </a:lnTo>
                <a:lnTo>
                  <a:pt x="1582" y="198"/>
                </a:lnTo>
                <a:lnTo>
                  <a:pt x="1582" y="198"/>
                </a:lnTo>
                <a:lnTo>
                  <a:pt x="1572" y="182"/>
                </a:lnTo>
                <a:lnTo>
                  <a:pt x="1558" y="164"/>
                </a:lnTo>
                <a:lnTo>
                  <a:pt x="1542" y="146"/>
                </a:lnTo>
                <a:lnTo>
                  <a:pt x="1522" y="130"/>
                </a:lnTo>
                <a:lnTo>
                  <a:pt x="1500" y="116"/>
                </a:lnTo>
                <a:lnTo>
                  <a:pt x="1490" y="112"/>
                </a:lnTo>
                <a:lnTo>
                  <a:pt x="1480" y="108"/>
                </a:lnTo>
                <a:lnTo>
                  <a:pt x="1468" y="108"/>
                </a:lnTo>
                <a:lnTo>
                  <a:pt x="1458" y="108"/>
                </a:lnTo>
                <a:lnTo>
                  <a:pt x="1448" y="110"/>
                </a:lnTo>
                <a:lnTo>
                  <a:pt x="1438" y="116"/>
                </a:lnTo>
                <a:lnTo>
                  <a:pt x="1438" y="116"/>
                </a:lnTo>
                <a:lnTo>
                  <a:pt x="1430" y="120"/>
                </a:lnTo>
                <a:lnTo>
                  <a:pt x="1424" y="126"/>
                </a:lnTo>
                <a:lnTo>
                  <a:pt x="1416" y="138"/>
                </a:lnTo>
                <a:lnTo>
                  <a:pt x="1412" y="150"/>
                </a:lnTo>
                <a:lnTo>
                  <a:pt x="1410" y="164"/>
                </a:lnTo>
                <a:lnTo>
                  <a:pt x="1410" y="164"/>
                </a:lnTo>
                <a:lnTo>
                  <a:pt x="1412" y="182"/>
                </a:lnTo>
                <a:lnTo>
                  <a:pt x="1412" y="182"/>
                </a:lnTo>
                <a:lnTo>
                  <a:pt x="1410" y="198"/>
                </a:lnTo>
                <a:lnTo>
                  <a:pt x="1408" y="212"/>
                </a:lnTo>
                <a:lnTo>
                  <a:pt x="1404" y="220"/>
                </a:lnTo>
                <a:lnTo>
                  <a:pt x="1398" y="226"/>
                </a:lnTo>
                <a:lnTo>
                  <a:pt x="1392" y="234"/>
                </a:lnTo>
                <a:lnTo>
                  <a:pt x="1382" y="240"/>
                </a:lnTo>
                <a:lnTo>
                  <a:pt x="1382" y="240"/>
                </a:lnTo>
                <a:lnTo>
                  <a:pt x="1376" y="242"/>
                </a:lnTo>
                <a:lnTo>
                  <a:pt x="1368" y="242"/>
                </a:lnTo>
                <a:lnTo>
                  <a:pt x="1360" y="240"/>
                </a:lnTo>
                <a:lnTo>
                  <a:pt x="1352" y="238"/>
                </a:lnTo>
                <a:lnTo>
                  <a:pt x="1334" y="228"/>
                </a:lnTo>
                <a:lnTo>
                  <a:pt x="1320" y="216"/>
                </a:lnTo>
                <a:lnTo>
                  <a:pt x="1198" y="0"/>
                </a:lnTo>
                <a:lnTo>
                  <a:pt x="400" y="0"/>
                </a:lnTo>
                <a:lnTo>
                  <a:pt x="0" y="694"/>
                </a:lnTo>
                <a:lnTo>
                  <a:pt x="398" y="1384"/>
                </a:lnTo>
                <a:lnTo>
                  <a:pt x="400" y="1382"/>
                </a:lnTo>
                <a:lnTo>
                  <a:pt x="674" y="1382"/>
                </a:lnTo>
                <a:close/>
              </a:path>
            </a:pathLst>
          </a:custGeom>
          <a:solidFill>
            <a:srgbClr val="20B7EC"/>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dirty="0" smtClean="0"/>
              <a:t>     </a:t>
            </a:r>
          </a:p>
          <a:p>
            <a:r>
              <a:rPr lang="en-US" dirty="0"/>
              <a:t> </a:t>
            </a:r>
            <a:r>
              <a:rPr lang="en-US" dirty="0" smtClean="0"/>
              <a:t>   External          Systems </a:t>
            </a:r>
          </a:p>
          <a:p>
            <a:r>
              <a:rPr lang="en-US" dirty="0" smtClean="0"/>
              <a:t>Soap over HTTP</a:t>
            </a:r>
            <a:endParaRPr lang="en-US" dirty="0"/>
          </a:p>
        </p:txBody>
      </p:sp>
      <p:sp>
        <p:nvSpPr>
          <p:cNvPr id="86022" name="Freeform 6"/>
          <p:cNvSpPr>
            <a:spLocks/>
          </p:cNvSpPr>
          <p:nvPr/>
        </p:nvSpPr>
        <p:spPr bwMode="auto">
          <a:xfrm>
            <a:off x="5765800" y="4392613"/>
            <a:ext cx="1739900" cy="1503362"/>
          </a:xfrm>
          <a:custGeom>
            <a:avLst/>
            <a:gdLst>
              <a:gd name="T0" fmla="*/ 908 w 1600"/>
              <a:gd name="T1" fmla="*/ 4 h 1382"/>
              <a:gd name="T2" fmla="*/ 892 w 1600"/>
              <a:gd name="T3" fmla="*/ 10 h 1382"/>
              <a:gd name="T4" fmla="*/ 884 w 1600"/>
              <a:gd name="T5" fmla="*/ 14 h 1382"/>
              <a:gd name="T6" fmla="*/ 876 w 1600"/>
              <a:gd name="T7" fmla="*/ 18 h 1382"/>
              <a:gd name="T8" fmla="*/ 870 w 1600"/>
              <a:gd name="T9" fmla="*/ 22 h 1382"/>
              <a:gd name="T10" fmla="*/ 862 w 1600"/>
              <a:gd name="T11" fmla="*/ 28 h 1382"/>
              <a:gd name="T12" fmla="*/ 858 w 1600"/>
              <a:gd name="T13" fmla="*/ 34 h 1382"/>
              <a:gd name="T14" fmla="*/ 856 w 1600"/>
              <a:gd name="T15" fmla="*/ 40 h 1382"/>
              <a:gd name="T16" fmla="*/ 854 w 1600"/>
              <a:gd name="T17" fmla="*/ 46 h 1382"/>
              <a:gd name="T18" fmla="*/ 856 w 1600"/>
              <a:gd name="T19" fmla="*/ 58 h 1382"/>
              <a:gd name="T20" fmla="*/ 856 w 1600"/>
              <a:gd name="T21" fmla="*/ 64 h 1382"/>
              <a:gd name="T22" fmla="*/ 866 w 1600"/>
              <a:gd name="T23" fmla="*/ 82 h 1382"/>
              <a:gd name="T24" fmla="*/ 906 w 1600"/>
              <a:gd name="T25" fmla="*/ 110 h 1382"/>
              <a:gd name="T26" fmla="*/ 914 w 1600"/>
              <a:gd name="T27" fmla="*/ 114 h 1382"/>
              <a:gd name="T28" fmla="*/ 924 w 1600"/>
              <a:gd name="T29" fmla="*/ 124 h 1382"/>
              <a:gd name="T30" fmla="*/ 928 w 1600"/>
              <a:gd name="T31" fmla="*/ 130 h 1382"/>
              <a:gd name="T32" fmla="*/ 934 w 1600"/>
              <a:gd name="T33" fmla="*/ 146 h 1382"/>
              <a:gd name="T34" fmla="*/ 934 w 1600"/>
              <a:gd name="T35" fmla="*/ 156 h 1382"/>
              <a:gd name="T36" fmla="*/ 910 w 1600"/>
              <a:gd name="T37" fmla="*/ 204 h 1382"/>
              <a:gd name="T38" fmla="*/ 790 w 1600"/>
              <a:gd name="T39" fmla="*/ 240 h 1382"/>
              <a:gd name="T40" fmla="*/ 680 w 1600"/>
              <a:gd name="T41" fmla="*/ 210 h 1382"/>
              <a:gd name="T42" fmla="*/ 646 w 1600"/>
              <a:gd name="T43" fmla="*/ 156 h 1382"/>
              <a:gd name="T44" fmla="*/ 648 w 1600"/>
              <a:gd name="T45" fmla="*/ 148 h 1382"/>
              <a:gd name="T46" fmla="*/ 650 w 1600"/>
              <a:gd name="T47" fmla="*/ 138 h 1382"/>
              <a:gd name="T48" fmla="*/ 656 w 1600"/>
              <a:gd name="T49" fmla="*/ 124 h 1382"/>
              <a:gd name="T50" fmla="*/ 662 w 1600"/>
              <a:gd name="T51" fmla="*/ 118 h 1382"/>
              <a:gd name="T52" fmla="*/ 672 w 1600"/>
              <a:gd name="T53" fmla="*/ 110 h 1382"/>
              <a:gd name="T54" fmla="*/ 702 w 1600"/>
              <a:gd name="T55" fmla="*/ 92 h 1382"/>
              <a:gd name="T56" fmla="*/ 724 w 1600"/>
              <a:gd name="T57" fmla="*/ 64 h 1382"/>
              <a:gd name="T58" fmla="*/ 726 w 1600"/>
              <a:gd name="T59" fmla="*/ 58 h 1382"/>
              <a:gd name="T60" fmla="*/ 726 w 1600"/>
              <a:gd name="T61" fmla="*/ 46 h 1382"/>
              <a:gd name="T62" fmla="*/ 726 w 1600"/>
              <a:gd name="T63" fmla="*/ 40 h 1382"/>
              <a:gd name="T64" fmla="*/ 722 w 1600"/>
              <a:gd name="T65" fmla="*/ 34 h 1382"/>
              <a:gd name="T66" fmla="*/ 718 w 1600"/>
              <a:gd name="T67" fmla="*/ 28 h 1382"/>
              <a:gd name="T68" fmla="*/ 710 w 1600"/>
              <a:gd name="T69" fmla="*/ 22 h 1382"/>
              <a:gd name="T70" fmla="*/ 704 w 1600"/>
              <a:gd name="T71" fmla="*/ 18 h 1382"/>
              <a:gd name="T72" fmla="*/ 696 w 1600"/>
              <a:gd name="T73" fmla="*/ 14 h 1382"/>
              <a:gd name="T74" fmla="*/ 688 w 1600"/>
              <a:gd name="T75" fmla="*/ 10 h 1382"/>
              <a:gd name="T76" fmla="*/ 674 w 1600"/>
              <a:gd name="T77" fmla="*/ 4 h 1382"/>
              <a:gd name="T78" fmla="*/ 402 w 1600"/>
              <a:gd name="T79" fmla="*/ 2 h 1382"/>
              <a:gd name="T80" fmla="*/ 262 w 1600"/>
              <a:gd name="T81" fmla="*/ 300 h 1382"/>
              <a:gd name="T82" fmla="*/ 302 w 1600"/>
              <a:gd name="T83" fmla="*/ 322 h 1382"/>
              <a:gd name="T84" fmla="*/ 380 w 1600"/>
              <a:gd name="T85" fmla="*/ 292 h 1382"/>
              <a:gd name="T86" fmla="*/ 424 w 1600"/>
              <a:gd name="T87" fmla="*/ 314 h 1382"/>
              <a:gd name="T88" fmla="*/ 434 w 1600"/>
              <a:gd name="T89" fmla="*/ 404 h 1382"/>
              <a:gd name="T90" fmla="*/ 384 w 1600"/>
              <a:gd name="T91" fmla="*/ 500 h 1382"/>
              <a:gd name="T92" fmla="*/ 296 w 1600"/>
              <a:gd name="T93" fmla="*/ 556 h 1382"/>
              <a:gd name="T94" fmla="*/ 248 w 1600"/>
              <a:gd name="T95" fmla="*/ 534 h 1382"/>
              <a:gd name="T96" fmla="*/ 234 w 1600"/>
              <a:gd name="T97" fmla="*/ 454 h 1382"/>
              <a:gd name="T98" fmla="*/ 202 w 1600"/>
              <a:gd name="T99" fmla="*/ 422 h 1382"/>
              <a:gd name="T100" fmla="*/ 4 w 1600"/>
              <a:gd name="T101" fmla="*/ 690 h 1382"/>
              <a:gd name="T102" fmla="*/ 146 w 1600"/>
              <a:gd name="T103" fmla="*/ 930 h 1382"/>
              <a:gd name="T104" fmla="*/ 198 w 1600"/>
              <a:gd name="T105" fmla="*/ 954 h 1382"/>
              <a:gd name="T106" fmla="*/ 228 w 1600"/>
              <a:gd name="T107" fmla="*/ 922 h 1382"/>
              <a:gd name="T108" fmla="*/ 242 w 1600"/>
              <a:gd name="T109" fmla="*/ 842 h 1382"/>
              <a:gd name="T110" fmla="*/ 286 w 1600"/>
              <a:gd name="T111" fmla="*/ 820 h 1382"/>
              <a:gd name="T112" fmla="*/ 372 w 1600"/>
              <a:gd name="T113" fmla="*/ 866 h 1382"/>
              <a:gd name="T114" fmla="*/ 424 w 1600"/>
              <a:gd name="T115" fmla="*/ 948 h 1382"/>
              <a:gd name="T116" fmla="*/ 428 w 1600"/>
              <a:gd name="T117" fmla="*/ 1054 h 1382"/>
              <a:gd name="T118" fmla="*/ 376 w 1600"/>
              <a:gd name="T119" fmla="*/ 1084 h 1382"/>
              <a:gd name="T120" fmla="*/ 308 w 1600"/>
              <a:gd name="T121" fmla="*/ 1056 h 1382"/>
              <a:gd name="T122" fmla="*/ 264 w 1600"/>
              <a:gd name="T123" fmla="*/ 1068 h 1382"/>
              <a:gd name="T124" fmla="*/ 402 w 1600"/>
              <a:gd name="T125" fmla="*/ 1382 h 1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0" h="1382">
                <a:moveTo>
                  <a:pt x="1200" y="2"/>
                </a:moveTo>
                <a:lnTo>
                  <a:pt x="912" y="2"/>
                </a:lnTo>
                <a:lnTo>
                  <a:pt x="912" y="2"/>
                </a:lnTo>
                <a:lnTo>
                  <a:pt x="912" y="2"/>
                </a:lnTo>
                <a:lnTo>
                  <a:pt x="912" y="2"/>
                </a:lnTo>
                <a:lnTo>
                  <a:pt x="908" y="4"/>
                </a:lnTo>
                <a:lnTo>
                  <a:pt x="908" y="4"/>
                </a:lnTo>
                <a:lnTo>
                  <a:pt x="906" y="4"/>
                </a:lnTo>
                <a:lnTo>
                  <a:pt x="906" y="4"/>
                </a:lnTo>
                <a:lnTo>
                  <a:pt x="894" y="8"/>
                </a:lnTo>
                <a:lnTo>
                  <a:pt x="894" y="8"/>
                </a:lnTo>
                <a:lnTo>
                  <a:pt x="892" y="10"/>
                </a:lnTo>
                <a:lnTo>
                  <a:pt x="892" y="10"/>
                </a:lnTo>
                <a:lnTo>
                  <a:pt x="890" y="10"/>
                </a:lnTo>
                <a:lnTo>
                  <a:pt x="890" y="10"/>
                </a:lnTo>
                <a:lnTo>
                  <a:pt x="886" y="12"/>
                </a:lnTo>
                <a:lnTo>
                  <a:pt x="886" y="12"/>
                </a:lnTo>
                <a:lnTo>
                  <a:pt x="884" y="14"/>
                </a:lnTo>
                <a:lnTo>
                  <a:pt x="884" y="14"/>
                </a:lnTo>
                <a:lnTo>
                  <a:pt x="882" y="14"/>
                </a:lnTo>
                <a:lnTo>
                  <a:pt x="882" y="14"/>
                </a:lnTo>
                <a:lnTo>
                  <a:pt x="880" y="16"/>
                </a:lnTo>
                <a:lnTo>
                  <a:pt x="880" y="16"/>
                </a:lnTo>
                <a:lnTo>
                  <a:pt x="876" y="18"/>
                </a:lnTo>
                <a:lnTo>
                  <a:pt x="876" y="18"/>
                </a:lnTo>
                <a:lnTo>
                  <a:pt x="874" y="18"/>
                </a:lnTo>
                <a:lnTo>
                  <a:pt x="874" y="18"/>
                </a:lnTo>
                <a:lnTo>
                  <a:pt x="870" y="22"/>
                </a:lnTo>
                <a:lnTo>
                  <a:pt x="870" y="22"/>
                </a:lnTo>
                <a:lnTo>
                  <a:pt x="870" y="22"/>
                </a:lnTo>
                <a:lnTo>
                  <a:pt x="870" y="22"/>
                </a:lnTo>
                <a:lnTo>
                  <a:pt x="866" y="26"/>
                </a:lnTo>
                <a:lnTo>
                  <a:pt x="866" y="26"/>
                </a:lnTo>
                <a:lnTo>
                  <a:pt x="864" y="26"/>
                </a:lnTo>
                <a:lnTo>
                  <a:pt x="864" y="26"/>
                </a:lnTo>
                <a:lnTo>
                  <a:pt x="862" y="28"/>
                </a:lnTo>
                <a:lnTo>
                  <a:pt x="862" y="28"/>
                </a:lnTo>
                <a:lnTo>
                  <a:pt x="862" y="30"/>
                </a:lnTo>
                <a:lnTo>
                  <a:pt x="862" y="30"/>
                </a:lnTo>
                <a:lnTo>
                  <a:pt x="860" y="32"/>
                </a:lnTo>
                <a:lnTo>
                  <a:pt x="860" y="32"/>
                </a:lnTo>
                <a:lnTo>
                  <a:pt x="858" y="34"/>
                </a:lnTo>
                <a:lnTo>
                  <a:pt x="858" y="34"/>
                </a:lnTo>
                <a:lnTo>
                  <a:pt x="856" y="36"/>
                </a:lnTo>
                <a:lnTo>
                  <a:pt x="856" y="36"/>
                </a:lnTo>
                <a:lnTo>
                  <a:pt x="856" y="38"/>
                </a:lnTo>
                <a:lnTo>
                  <a:pt x="856" y="38"/>
                </a:lnTo>
                <a:lnTo>
                  <a:pt x="856" y="40"/>
                </a:lnTo>
                <a:lnTo>
                  <a:pt x="856" y="40"/>
                </a:lnTo>
                <a:lnTo>
                  <a:pt x="854" y="42"/>
                </a:lnTo>
                <a:lnTo>
                  <a:pt x="854" y="42"/>
                </a:lnTo>
                <a:lnTo>
                  <a:pt x="854" y="46"/>
                </a:lnTo>
                <a:lnTo>
                  <a:pt x="854" y="46"/>
                </a:lnTo>
                <a:lnTo>
                  <a:pt x="854" y="46"/>
                </a:lnTo>
                <a:lnTo>
                  <a:pt x="854" y="46"/>
                </a:lnTo>
                <a:lnTo>
                  <a:pt x="854" y="52"/>
                </a:lnTo>
                <a:lnTo>
                  <a:pt x="854" y="52"/>
                </a:lnTo>
                <a:lnTo>
                  <a:pt x="854" y="54"/>
                </a:lnTo>
                <a:lnTo>
                  <a:pt x="854" y="54"/>
                </a:lnTo>
                <a:lnTo>
                  <a:pt x="856" y="58"/>
                </a:lnTo>
                <a:lnTo>
                  <a:pt x="856" y="58"/>
                </a:lnTo>
                <a:lnTo>
                  <a:pt x="856" y="60"/>
                </a:lnTo>
                <a:lnTo>
                  <a:pt x="856" y="60"/>
                </a:lnTo>
                <a:lnTo>
                  <a:pt x="856" y="64"/>
                </a:lnTo>
                <a:lnTo>
                  <a:pt x="856" y="64"/>
                </a:lnTo>
                <a:lnTo>
                  <a:pt x="856" y="64"/>
                </a:lnTo>
                <a:lnTo>
                  <a:pt x="856" y="64"/>
                </a:lnTo>
                <a:lnTo>
                  <a:pt x="858" y="70"/>
                </a:lnTo>
                <a:lnTo>
                  <a:pt x="858" y="70"/>
                </a:lnTo>
                <a:lnTo>
                  <a:pt x="858" y="70"/>
                </a:lnTo>
                <a:lnTo>
                  <a:pt x="862" y="76"/>
                </a:lnTo>
                <a:lnTo>
                  <a:pt x="866" y="82"/>
                </a:lnTo>
                <a:lnTo>
                  <a:pt x="878" y="92"/>
                </a:lnTo>
                <a:lnTo>
                  <a:pt x="890" y="100"/>
                </a:lnTo>
                <a:lnTo>
                  <a:pt x="904" y="108"/>
                </a:lnTo>
                <a:lnTo>
                  <a:pt x="904" y="108"/>
                </a:lnTo>
                <a:lnTo>
                  <a:pt x="906" y="110"/>
                </a:lnTo>
                <a:lnTo>
                  <a:pt x="906" y="110"/>
                </a:lnTo>
                <a:lnTo>
                  <a:pt x="908" y="110"/>
                </a:lnTo>
                <a:lnTo>
                  <a:pt x="908" y="110"/>
                </a:lnTo>
                <a:lnTo>
                  <a:pt x="912" y="114"/>
                </a:lnTo>
                <a:lnTo>
                  <a:pt x="912" y="114"/>
                </a:lnTo>
                <a:lnTo>
                  <a:pt x="914" y="114"/>
                </a:lnTo>
                <a:lnTo>
                  <a:pt x="914" y="114"/>
                </a:lnTo>
                <a:lnTo>
                  <a:pt x="918" y="118"/>
                </a:lnTo>
                <a:lnTo>
                  <a:pt x="918" y="118"/>
                </a:lnTo>
                <a:lnTo>
                  <a:pt x="920" y="120"/>
                </a:lnTo>
                <a:lnTo>
                  <a:pt x="920" y="120"/>
                </a:lnTo>
                <a:lnTo>
                  <a:pt x="924" y="124"/>
                </a:lnTo>
                <a:lnTo>
                  <a:pt x="924" y="124"/>
                </a:lnTo>
                <a:lnTo>
                  <a:pt x="924" y="124"/>
                </a:lnTo>
                <a:lnTo>
                  <a:pt x="924" y="124"/>
                </a:lnTo>
                <a:lnTo>
                  <a:pt x="928" y="130"/>
                </a:lnTo>
                <a:lnTo>
                  <a:pt x="928" y="130"/>
                </a:lnTo>
                <a:lnTo>
                  <a:pt x="928" y="130"/>
                </a:lnTo>
                <a:lnTo>
                  <a:pt x="928" y="130"/>
                </a:lnTo>
                <a:lnTo>
                  <a:pt x="930" y="138"/>
                </a:lnTo>
                <a:lnTo>
                  <a:pt x="930" y="138"/>
                </a:lnTo>
                <a:lnTo>
                  <a:pt x="932" y="138"/>
                </a:lnTo>
                <a:lnTo>
                  <a:pt x="932" y="138"/>
                </a:lnTo>
                <a:lnTo>
                  <a:pt x="934" y="146"/>
                </a:lnTo>
                <a:lnTo>
                  <a:pt x="934" y="146"/>
                </a:lnTo>
                <a:lnTo>
                  <a:pt x="934" y="148"/>
                </a:lnTo>
                <a:lnTo>
                  <a:pt x="934" y="148"/>
                </a:lnTo>
                <a:lnTo>
                  <a:pt x="934" y="156"/>
                </a:lnTo>
                <a:lnTo>
                  <a:pt x="934" y="156"/>
                </a:lnTo>
                <a:lnTo>
                  <a:pt x="934" y="156"/>
                </a:lnTo>
                <a:lnTo>
                  <a:pt x="934" y="156"/>
                </a:lnTo>
                <a:lnTo>
                  <a:pt x="934" y="156"/>
                </a:lnTo>
                <a:lnTo>
                  <a:pt x="934" y="168"/>
                </a:lnTo>
                <a:lnTo>
                  <a:pt x="930" y="178"/>
                </a:lnTo>
                <a:lnTo>
                  <a:pt x="926" y="188"/>
                </a:lnTo>
                <a:lnTo>
                  <a:pt x="918" y="196"/>
                </a:lnTo>
                <a:lnTo>
                  <a:pt x="910" y="204"/>
                </a:lnTo>
                <a:lnTo>
                  <a:pt x="902" y="210"/>
                </a:lnTo>
                <a:lnTo>
                  <a:pt x="880" y="222"/>
                </a:lnTo>
                <a:lnTo>
                  <a:pt x="856" y="230"/>
                </a:lnTo>
                <a:lnTo>
                  <a:pt x="832" y="236"/>
                </a:lnTo>
                <a:lnTo>
                  <a:pt x="810" y="240"/>
                </a:lnTo>
                <a:lnTo>
                  <a:pt x="790" y="240"/>
                </a:lnTo>
                <a:lnTo>
                  <a:pt x="790" y="240"/>
                </a:lnTo>
                <a:lnTo>
                  <a:pt x="770" y="240"/>
                </a:lnTo>
                <a:lnTo>
                  <a:pt x="748" y="236"/>
                </a:lnTo>
                <a:lnTo>
                  <a:pt x="724" y="230"/>
                </a:lnTo>
                <a:lnTo>
                  <a:pt x="700" y="222"/>
                </a:lnTo>
                <a:lnTo>
                  <a:pt x="680" y="210"/>
                </a:lnTo>
                <a:lnTo>
                  <a:pt x="670" y="204"/>
                </a:lnTo>
                <a:lnTo>
                  <a:pt x="662" y="196"/>
                </a:lnTo>
                <a:lnTo>
                  <a:pt x="656" y="188"/>
                </a:lnTo>
                <a:lnTo>
                  <a:pt x="650" y="178"/>
                </a:lnTo>
                <a:lnTo>
                  <a:pt x="648" y="168"/>
                </a:lnTo>
                <a:lnTo>
                  <a:pt x="646" y="156"/>
                </a:lnTo>
                <a:lnTo>
                  <a:pt x="646" y="156"/>
                </a:lnTo>
                <a:lnTo>
                  <a:pt x="646" y="156"/>
                </a:lnTo>
                <a:lnTo>
                  <a:pt x="646" y="156"/>
                </a:lnTo>
                <a:lnTo>
                  <a:pt x="646" y="156"/>
                </a:lnTo>
                <a:lnTo>
                  <a:pt x="648" y="148"/>
                </a:lnTo>
                <a:lnTo>
                  <a:pt x="648" y="148"/>
                </a:lnTo>
                <a:lnTo>
                  <a:pt x="648" y="146"/>
                </a:lnTo>
                <a:lnTo>
                  <a:pt x="648" y="146"/>
                </a:lnTo>
                <a:lnTo>
                  <a:pt x="650" y="138"/>
                </a:lnTo>
                <a:lnTo>
                  <a:pt x="650" y="138"/>
                </a:lnTo>
                <a:lnTo>
                  <a:pt x="650" y="138"/>
                </a:lnTo>
                <a:lnTo>
                  <a:pt x="650" y="138"/>
                </a:lnTo>
                <a:lnTo>
                  <a:pt x="652" y="130"/>
                </a:lnTo>
                <a:lnTo>
                  <a:pt x="652" y="130"/>
                </a:lnTo>
                <a:lnTo>
                  <a:pt x="652" y="130"/>
                </a:lnTo>
                <a:lnTo>
                  <a:pt x="652" y="130"/>
                </a:lnTo>
                <a:lnTo>
                  <a:pt x="656" y="124"/>
                </a:lnTo>
                <a:lnTo>
                  <a:pt x="656" y="124"/>
                </a:lnTo>
                <a:lnTo>
                  <a:pt x="656" y="124"/>
                </a:lnTo>
                <a:lnTo>
                  <a:pt x="656" y="124"/>
                </a:lnTo>
                <a:lnTo>
                  <a:pt x="660" y="120"/>
                </a:lnTo>
                <a:lnTo>
                  <a:pt x="660" y="120"/>
                </a:lnTo>
                <a:lnTo>
                  <a:pt x="662" y="118"/>
                </a:lnTo>
                <a:lnTo>
                  <a:pt x="662" y="118"/>
                </a:lnTo>
                <a:lnTo>
                  <a:pt x="666" y="114"/>
                </a:lnTo>
                <a:lnTo>
                  <a:pt x="666" y="114"/>
                </a:lnTo>
                <a:lnTo>
                  <a:pt x="668" y="114"/>
                </a:lnTo>
                <a:lnTo>
                  <a:pt x="668" y="114"/>
                </a:lnTo>
                <a:lnTo>
                  <a:pt x="672" y="110"/>
                </a:lnTo>
                <a:lnTo>
                  <a:pt x="672" y="110"/>
                </a:lnTo>
                <a:lnTo>
                  <a:pt x="674" y="110"/>
                </a:lnTo>
                <a:lnTo>
                  <a:pt x="674" y="110"/>
                </a:lnTo>
                <a:lnTo>
                  <a:pt x="676" y="108"/>
                </a:lnTo>
                <a:lnTo>
                  <a:pt x="676" y="108"/>
                </a:lnTo>
                <a:lnTo>
                  <a:pt x="690" y="100"/>
                </a:lnTo>
                <a:lnTo>
                  <a:pt x="702" y="92"/>
                </a:lnTo>
                <a:lnTo>
                  <a:pt x="714" y="82"/>
                </a:lnTo>
                <a:lnTo>
                  <a:pt x="718" y="76"/>
                </a:lnTo>
                <a:lnTo>
                  <a:pt x="722" y="70"/>
                </a:lnTo>
                <a:lnTo>
                  <a:pt x="722" y="70"/>
                </a:lnTo>
                <a:lnTo>
                  <a:pt x="724" y="64"/>
                </a:lnTo>
                <a:lnTo>
                  <a:pt x="724" y="64"/>
                </a:lnTo>
                <a:lnTo>
                  <a:pt x="724" y="64"/>
                </a:lnTo>
                <a:lnTo>
                  <a:pt x="724" y="64"/>
                </a:lnTo>
                <a:lnTo>
                  <a:pt x="724" y="60"/>
                </a:lnTo>
                <a:lnTo>
                  <a:pt x="724" y="60"/>
                </a:lnTo>
                <a:lnTo>
                  <a:pt x="726" y="58"/>
                </a:lnTo>
                <a:lnTo>
                  <a:pt x="726" y="58"/>
                </a:lnTo>
                <a:lnTo>
                  <a:pt x="726" y="54"/>
                </a:lnTo>
                <a:lnTo>
                  <a:pt x="726" y="54"/>
                </a:lnTo>
                <a:lnTo>
                  <a:pt x="726" y="52"/>
                </a:lnTo>
                <a:lnTo>
                  <a:pt x="726" y="52"/>
                </a:lnTo>
                <a:lnTo>
                  <a:pt x="726" y="46"/>
                </a:lnTo>
                <a:lnTo>
                  <a:pt x="726" y="46"/>
                </a:lnTo>
                <a:lnTo>
                  <a:pt x="726" y="46"/>
                </a:lnTo>
                <a:lnTo>
                  <a:pt x="726" y="46"/>
                </a:lnTo>
                <a:lnTo>
                  <a:pt x="726" y="42"/>
                </a:lnTo>
                <a:lnTo>
                  <a:pt x="726" y="42"/>
                </a:lnTo>
                <a:lnTo>
                  <a:pt x="726" y="40"/>
                </a:lnTo>
                <a:lnTo>
                  <a:pt x="726" y="40"/>
                </a:lnTo>
                <a:lnTo>
                  <a:pt x="724" y="38"/>
                </a:lnTo>
                <a:lnTo>
                  <a:pt x="724" y="38"/>
                </a:lnTo>
                <a:lnTo>
                  <a:pt x="724" y="36"/>
                </a:lnTo>
                <a:lnTo>
                  <a:pt x="724" y="36"/>
                </a:lnTo>
                <a:lnTo>
                  <a:pt x="722" y="34"/>
                </a:lnTo>
                <a:lnTo>
                  <a:pt x="722" y="34"/>
                </a:lnTo>
                <a:lnTo>
                  <a:pt x="722" y="32"/>
                </a:lnTo>
                <a:lnTo>
                  <a:pt x="722" y="32"/>
                </a:lnTo>
                <a:lnTo>
                  <a:pt x="720" y="30"/>
                </a:lnTo>
                <a:lnTo>
                  <a:pt x="720" y="30"/>
                </a:lnTo>
                <a:lnTo>
                  <a:pt x="718" y="28"/>
                </a:lnTo>
                <a:lnTo>
                  <a:pt x="718" y="28"/>
                </a:lnTo>
                <a:lnTo>
                  <a:pt x="716" y="26"/>
                </a:lnTo>
                <a:lnTo>
                  <a:pt x="716" y="26"/>
                </a:lnTo>
                <a:lnTo>
                  <a:pt x="714" y="26"/>
                </a:lnTo>
                <a:lnTo>
                  <a:pt x="714" y="26"/>
                </a:lnTo>
                <a:lnTo>
                  <a:pt x="710" y="22"/>
                </a:lnTo>
                <a:lnTo>
                  <a:pt x="710" y="22"/>
                </a:lnTo>
                <a:lnTo>
                  <a:pt x="710" y="22"/>
                </a:lnTo>
                <a:lnTo>
                  <a:pt x="710" y="22"/>
                </a:lnTo>
                <a:lnTo>
                  <a:pt x="706" y="18"/>
                </a:lnTo>
                <a:lnTo>
                  <a:pt x="706" y="18"/>
                </a:lnTo>
                <a:lnTo>
                  <a:pt x="704" y="18"/>
                </a:lnTo>
                <a:lnTo>
                  <a:pt x="704" y="18"/>
                </a:lnTo>
                <a:lnTo>
                  <a:pt x="702" y="16"/>
                </a:lnTo>
                <a:lnTo>
                  <a:pt x="702" y="16"/>
                </a:lnTo>
                <a:lnTo>
                  <a:pt x="700" y="14"/>
                </a:lnTo>
                <a:lnTo>
                  <a:pt x="700" y="14"/>
                </a:lnTo>
                <a:lnTo>
                  <a:pt x="696" y="14"/>
                </a:lnTo>
                <a:lnTo>
                  <a:pt x="696" y="14"/>
                </a:lnTo>
                <a:lnTo>
                  <a:pt x="694" y="12"/>
                </a:lnTo>
                <a:lnTo>
                  <a:pt x="694" y="12"/>
                </a:lnTo>
                <a:lnTo>
                  <a:pt x="692" y="10"/>
                </a:lnTo>
                <a:lnTo>
                  <a:pt x="692" y="10"/>
                </a:lnTo>
                <a:lnTo>
                  <a:pt x="688" y="10"/>
                </a:lnTo>
                <a:lnTo>
                  <a:pt x="688" y="10"/>
                </a:lnTo>
                <a:lnTo>
                  <a:pt x="686" y="8"/>
                </a:lnTo>
                <a:lnTo>
                  <a:pt x="686" y="8"/>
                </a:lnTo>
                <a:lnTo>
                  <a:pt x="674" y="4"/>
                </a:lnTo>
                <a:lnTo>
                  <a:pt x="674" y="4"/>
                </a:lnTo>
                <a:lnTo>
                  <a:pt x="674" y="4"/>
                </a:lnTo>
                <a:lnTo>
                  <a:pt x="674" y="4"/>
                </a:lnTo>
                <a:lnTo>
                  <a:pt x="668" y="2"/>
                </a:lnTo>
                <a:lnTo>
                  <a:pt x="668" y="2"/>
                </a:lnTo>
                <a:lnTo>
                  <a:pt x="668" y="2"/>
                </a:lnTo>
                <a:lnTo>
                  <a:pt x="402" y="2"/>
                </a:lnTo>
                <a:lnTo>
                  <a:pt x="402" y="2"/>
                </a:lnTo>
                <a:lnTo>
                  <a:pt x="402" y="2"/>
                </a:lnTo>
                <a:lnTo>
                  <a:pt x="264" y="238"/>
                </a:lnTo>
                <a:lnTo>
                  <a:pt x="264" y="238"/>
                </a:lnTo>
                <a:lnTo>
                  <a:pt x="260" y="260"/>
                </a:lnTo>
                <a:lnTo>
                  <a:pt x="260" y="282"/>
                </a:lnTo>
                <a:lnTo>
                  <a:pt x="260" y="292"/>
                </a:lnTo>
                <a:lnTo>
                  <a:pt x="262" y="300"/>
                </a:lnTo>
                <a:lnTo>
                  <a:pt x="268" y="308"/>
                </a:lnTo>
                <a:lnTo>
                  <a:pt x="274" y="314"/>
                </a:lnTo>
                <a:lnTo>
                  <a:pt x="274" y="314"/>
                </a:lnTo>
                <a:lnTo>
                  <a:pt x="284" y="318"/>
                </a:lnTo>
                <a:lnTo>
                  <a:pt x="294" y="322"/>
                </a:lnTo>
                <a:lnTo>
                  <a:pt x="302" y="322"/>
                </a:lnTo>
                <a:lnTo>
                  <a:pt x="312" y="322"/>
                </a:lnTo>
                <a:lnTo>
                  <a:pt x="326" y="316"/>
                </a:lnTo>
                <a:lnTo>
                  <a:pt x="342" y="308"/>
                </a:lnTo>
                <a:lnTo>
                  <a:pt x="356" y="298"/>
                </a:lnTo>
                <a:lnTo>
                  <a:pt x="372" y="292"/>
                </a:lnTo>
                <a:lnTo>
                  <a:pt x="380" y="292"/>
                </a:lnTo>
                <a:lnTo>
                  <a:pt x="388" y="292"/>
                </a:lnTo>
                <a:lnTo>
                  <a:pt x="398" y="294"/>
                </a:lnTo>
                <a:lnTo>
                  <a:pt x="408" y="300"/>
                </a:lnTo>
                <a:lnTo>
                  <a:pt x="408" y="300"/>
                </a:lnTo>
                <a:lnTo>
                  <a:pt x="418" y="306"/>
                </a:lnTo>
                <a:lnTo>
                  <a:pt x="424" y="314"/>
                </a:lnTo>
                <a:lnTo>
                  <a:pt x="430" y="322"/>
                </a:lnTo>
                <a:lnTo>
                  <a:pt x="434" y="332"/>
                </a:lnTo>
                <a:lnTo>
                  <a:pt x="438" y="344"/>
                </a:lnTo>
                <a:lnTo>
                  <a:pt x="438" y="354"/>
                </a:lnTo>
                <a:lnTo>
                  <a:pt x="438" y="380"/>
                </a:lnTo>
                <a:lnTo>
                  <a:pt x="434" y="404"/>
                </a:lnTo>
                <a:lnTo>
                  <a:pt x="426" y="428"/>
                </a:lnTo>
                <a:lnTo>
                  <a:pt x="418" y="448"/>
                </a:lnTo>
                <a:lnTo>
                  <a:pt x="410" y="466"/>
                </a:lnTo>
                <a:lnTo>
                  <a:pt x="410" y="466"/>
                </a:lnTo>
                <a:lnTo>
                  <a:pt x="398" y="482"/>
                </a:lnTo>
                <a:lnTo>
                  <a:pt x="384" y="500"/>
                </a:lnTo>
                <a:lnTo>
                  <a:pt x="368" y="518"/>
                </a:lnTo>
                <a:lnTo>
                  <a:pt x="348" y="534"/>
                </a:lnTo>
                <a:lnTo>
                  <a:pt x="328" y="548"/>
                </a:lnTo>
                <a:lnTo>
                  <a:pt x="318" y="552"/>
                </a:lnTo>
                <a:lnTo>
                  <a:pt x="306" y="554"/>
                </a:lnTo>
                <a:lnTo>
                  <a:pt x="296" y="556"/>
                </a:lnTo>
                <a:lnTo>
                  <a:pt x="284" y="556"/>
                </a:lnTo>
                <a:lnTo>
                  <a:pt x="274" y="554"/>
                </a:lnTo>
                <a:lnTo>
                  <a:pt x="264" y="548"/>
                </a:lnTo>
                <a:lnTo>
                  <a:pt x="264" y="548"/>
                </a:lnTo>
                <a:lnTo>
                  <a:pt x="256" y="542"/>
                </a:lnTo>
                <a:lnTo>
                  <a:pt x="248" y="534"/>
                </a:lnTo>
                <a:lnTo>
                  <a:pt x="244" y="528"/>
                </a:lnTo>
                <a:lnTo>
                  <a:pt x="240" y="520"/>
                </a:lnTo>
                <a:lnTo>
                  <a:pt x="238" y="504"/>
                </a:lnTo>
                <a:lnTo>
                  <a:pt x="238" y="486"/>
                </a:lnTo>
                <a:lnTo>
                  <a:pt x="238" y="470"/>
                </a:lnTo>
                <a:lnTo>
                  <a:pt x="234" y="454"/>
                </a:lnTo>
                <a:lnTo>
                  <a:pt x="232" y="446"/>
                </a:lnTo>
                <a:lnTo>
                  <a:pt x="226" y="438"/>
                </a:lnTo>
                <a:lnTo>
                  <a:pt x="218" y="430"/>
                </a:lnTo>
                <a:lnTo>
                  <a:pt x="210" y="424"/>
                </a:lnTo>
                <a:lnTo>
                  <a:pt x="210" y="424"/>
                </a:lnTo>
                <a:lnTo>
                  <a:pt x="202" y="422"/>
                </a:lnTo>
                <a:lnTo>
                  <a:pt x="194" y="422"/>
                </a:lnTo>
                <a:lnTo>
                  <a:pt x="184" y="424"/>
                </a:lnTo>
                <a:lnTo>
                  <a:pt x="174" y="428"/>
                </a:lnTo>
                <a:lnTo>
                  <a:pt x="156" y="440"/>
                </a:lnTo>
                <a:lnTo>
                  <a:pt x="140" y="454"/>
                </a:lnTo>
                <a:lnTo>
                  <a:pt x="4" y="690"/>
                </a:lnTo>
                <a:lnTo>
                  <a:pt x="0" y="690"/>
                </a:lnTo>
                <a:lnTo>
                  <a:pt x="2" y="694"/>
                </a:lnTo>
                <a:lnTo>
                  <a:pt x="4" y="694"/>
                </a:lnTo>
                <a:lnTo>
                  <a:pt x="132" y="918"/>
                </a:lnTo>
                <a:lnTo>
                  <a:pt x="132" y="918"/>
                </a:lnTo>
                <a:lnTo>
                  <a:pt x="146" y="930"/>
                </a:lnTo>
                <a:lnTo>
                  <a:pt x="160" y="942"/>
                </a:lnTo>
                <a:lnTo>
                  <a:pt x="176" y="950"/>
                </a:lnTo>
                <a:lnTo>
                  <a:pt x="184" y="954"/>
                </a:lnTo>
                <a:lnTo>
                  <a:pt x="192" y="954"/>
                </a:lnTo>
                <a:lnTo>
                  <a:pt x="192" y="954"/>
                </a:lnTo>
                <a:lnTo>
                  <a:pt x="198" y="954"/>
                </a:lnTo>
                <a:lnTo>
                  <a:pt x="202" y="952"/>
                </a:lnTo>
                <a:lnTo>
                  <a:pt x="202" y="952"/>
                </a:lnTo>
                <a:lnTo>
                  <a:pt x="212" y="944"/>
                </a:lnTo>
                <a:lnTo>
                  <a:pt x="220" y="938"/>
                </a:lnTo>
                <a:lnTo>
                  <a:pt x="224" y="930"/>
                </a:lnTo>
                <a:lnTo>
                  <a:pt x="228" y="922"/>
                </a:lnTo>
                <a:lnTo>
                  <a:pt x="230" y="906"/>
                </a:lnTo>
                <a:lnTo>
                  <a:pt x="230" y="890"/>
                </a:lnTo>
                <a:lnTo>
                  <a:pt x="230" y="872"/>
                </a:lnTo>
                <a:lnTo>
                  <a:pt x="234" y="856"/>
                </a:lnTo>
                <a:lnTo>
                  <a:pt x="236" y="848"/>
                </a:lnTo>
                <a:lnTo>
                  <a:pt x="242" y="842"/>
                </a:lnTo>
                <a:lnTo>
                  <a:pt x="248" y="834"/>
                </a:lnTo>
                <a:lnTo>
                  <a:pt x="258" y="828"/>
                </a:lnTo>
                <a:lnTo>
                  <a:pt x="258" y="828"/>
                </a:lnTo>
                <a:lnTo>
                  <a:pt x="272" y="822"/>
                </a:lnTo>
                <a:lnTo>
                  <a:pt x="286" y="820"/>
                </a:lnTo>
                <a:lnTo>
                  <a:pt x="286" y="820"/>
                </a:lnTo>
                <a:lnTo>
                  <a:pt x="296" y="820"/>
                </a:lnTo>
                <a:lnTo>
                  <a:pt x="304" y="822"/>
                </a:lnTo>
                <a:lnTo>
                  <a:pt x="322" y="828"/>
                </a:lnTo>
                <a:lnTo>
                  <a:pt x="340" y="838"/>
                </a:lnTo>
                <a:lnTo>
                  <a:pt x="358" y="852"/>
                </a:lnTo>
                <a:lnTo>
                  <a:pt x="372" y="866"/>
                </a:lnTo>
                <a:lnTo>
                  <a:pt x="386" y="882"/>
                </a:lnTo>
                <a:lnTo>
                  <a:pt x="398" y="896"/>
                </a:lnTo>
                <a:lnTo>
                  <a:pt x="406" y="910"/>
                </a:lnTo>
                <a:lnTo>
                  <a:pt x="406" y="910"/>
                </a:lnTo>
                <a:lnTo>
                  <a:pt x="414" y="928"/>
                </a:lnTo>
                <a:lnTo>
                  <a:pt x="424" y="948"/>
                </a:lnTo>
                <a:lnTo>
                  <a:pt x="430" y="972"/>
                </a:lnTo>
                <a:lnTo>
                  <a:pt x="434" y="996"/>
                </a:lnTo>
                <a:lnTo>
                  <a:pt x="436" y="1022"/>
                </a:lnTo>
                <a:lnTo>
                  <a:pt x="434" y="1032"/>
                </a:lnTo>
                <a:lnTo>
                  <a:pt x="432" y="1044"/>
                </a:lnTo>
                <a:lnTo>
                  <a:pt x="428" y="1054"/>
                </a:lnTo>
                <a:lnTo>
                  <a:pt x="422" y="1062"/>
                </a:lnTo>
                <a:lnTo>
                  <a:pt x="414" y="1070"/>
                </a:lnTo>
                <a:lnTo>
                  <a:pt x="404" y="1076"/>
                </a:lnTo>
                <a:lnTo>
                  <a:pt x="404" y="1076"/>
                </a:lnTo>
                <a:lnTo>
                  <a:pt x="390" y="1082"/>
                </a:lnTo>
                <a:lnTo>
                  <a:pt x="376" y="1084"/>
                </a:lnTo>
                <a:lnTo>
                  <a:pt x="376" y="1084"/>
                </a:lnTo>
                <a:lnTo>
                  <a:pt x="366" y="1084"/>
                </a:lnTo>
                <a:lnTo>
                  <a:pt x="354" y="1080"/>
                </a:lnTo>
                <a:lnTo>
                  <a:pt x="336" y="1070"/>
                </a:lnTo>
                <a:lnTo>
                  <a:pt x="318" y="1060"/>
                </a:lnTo>
                <a:lnTo>
                  <a:pt x="308" y="1056"/>
                </a:lnTo>
                <a:lnTo>
                  <a:pt x="296" y="1054"/>
                </a:lnTo>
                <a:lnTo>
                  <a:pt x="296" y="1054"/>
                </a:lnTo>
                <a:lnTo>
                  <a:pt x="284" y="1056"/>
                </a:lnTo>
                <a:lnTo>
                  <a:pt x="270" y="1062"/>
                </a:lnTo>
                <a:lnTo>
                  <a:pt x="270" y="1062"/>
                </a:lnTo>
                <a:lnTo>
                  <a:pt x="264" y="1068"/>
                </a:lnTo>
                <a:lnTo>
                  <a:pt x="258" y="1076"/>
                </a:lnTo>
                <a:lnTo>
                  <a:pt x="256" y="1086"/>
                </a:lnTo>
                <a:lnTo>
                  <a:pt x="256" y="1096"/>
                </a:lnTo>
                <a:lnTo>
                  <a:pt x="258" y="1120"/>
                </a:lnTo>
                <a:lnTo>
                  <a:pt x="262" y="1142"/>
                </a:lnTo>
                <a:lnTo>
                  <a:pt x="402" y="1382"/>
                </a:lnTo>
                <a:lnTo>
                  <a:pt x="1200" y="1382"/>
                </a:lnTo>
                <a:lnTo>
                  <a:pt x="1600" y="690"/>
                </a:lnTo>
                <a:lnTo>
                  <a:pt x="1200" y="0"/>
                </a:lnTo>
                <a:lnTo>
                  <a:pt x="1200" y="0"/>
                </a:lnTo>
                <a:lnTo>
                  <a:pt x="1200" y="2"/>
                </a:lnTo>
                <a:close/>
              </a:path>
            </a:pathLst>
          </a:custGeom>
          <a:solidFill>
            <a:srgbClr val="FB8037"/>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dirty="0" smtClean="0"/>
              <a:t>      </a:t>
            </a:r>
          </a:p>
          <a:p>
            <a:r>
              <a:rPr lang="en-US" dirty="0"/>
              <a:t> </a:t>
            </a:r>
            <a:r>
              <a:rPr lang="en-US" dirty="0" smtClean="0"/>
              <a:t>        Payment        Gateways</a:t>
            </a:r>
          </a:p>
          <a:p>
            <a:endParaRPr lang="en-US" dirty="0"/>
          </a:p>
        </p:txBody>
      </p:sp>
      <p:sp>
        <p:nvSpPr>
          <p:cNvPr id="86023" name="Freeform 7"/>
          <p:cNvSpPr>
            <a:spLocks/>
          </p:cNvSpPr>
          <p:nvPr/>
        </p:nvSpPr>
        <p:spPr bwMode="auto">
          <a:xfrm>
            <a:off x="3854450" y="1417638"/>
            <a:ext cx="1781175" cy="1508125"/>
          </a:xfrm>
          <a:custGeom>
            <a:avLst/>
            <a:gdLst>
              <a:gd name="T0" fmla="*/ 198 w 1636"/>
              <a:gd name="T1" fmla="*/ 906 h 1386"/>
              <a:gd name="T2" fmla="*/ 214 w 1636"/>
              <a:gd name="T3" fmla="*/ 868 h 1386"/>
              <a:gd name="T4" fmla="*/ 214 w 1636"/>
              <a:gd name="T5" fmla="*/ 834 h 1386"/>
              <a:gd name="T6" fmla="*/ 232 w 1636"/>
              <a:gd name="T7" fmla="*/ 800 h 1386"/>
              <a:gd name="T8" fmla="*/ 260 w 1636"/>
              <a:gd name="T9" fmla="*/ 786 h 1386"/>
              <a:gd name="T10" fmla="*/ 302 w 1636"/>
              <a:gd name="T11" fmla="*/ 794 h 1386"/>
              <a:gd name="T12" fmla="*/ 374 w 1636"/>
              <a:gd name="T13" fmla="*/ 860 h 1386"/>
              <a:gd name="T14" fmla="*/ 406 w 1636"/>
              <a:gd name="T15" fmla="*/ 924 h 1386"/>
              <a:gd name="T16" fmla="*/ 414 w 1636"/>
              <a:gd name="T17" fmla="*/ 982 h 1386"/>
              <a:gd name="T18" fmla="*/ 404 w 1636"/>
              <a:gd name="T19" fmla="*/ 1032 h 1386"/>
              <a:gd name="T20" fmla="*/ 384 w 1636"/>
              <a:gd name="T21" fmla="*/ 1050 h 1386"/>
              <a:gd name="T22" fmla="*/ 346 w 1636"/>
              <a:gd name="T23" fmla="*/ 1058 h 1386"/>
              <a:gd name="T24" fmla="*/ 286 w 1636"/>
              <a:gd name="T25" fmla="*/ 1028 h 1386"/>
              <a:gd name="T26" fmla="*/ 248 w 1636"/>
              <a:gd name="T27" fmla="*/ 1036 h 1386"/>
              <a:gd name="T28" fmla="*/ 236 w 1636"/>
              <a:gd name="T29" fmla="*/ 1058 h 1386"/>
              <a:gd name="T30" fmla="*/ 240 w 1636"/>
              <a:gd name="T31" fmla="*/ 1102 h 1386"/>
              <a:gd name="T32" fmla="*/ 400 w 1636"/>
              <a:gd name="T33" fmla="*/ 1382 h 1386"/>
              <a:gd name="T34" fmla="*/ 664 w 1636"/>
              <a:gd name="T35" fmla="*/ 1386 h 1386"/>
              <a:gd name="T36" fmla="*/ 726 w 1636"/>
              <a:gd name="T37" fmla="*/ 1356 h 1386"/>
              <a:gd name="T38" fmla="*/ 734 w 1636"/>
              <a:gd name="T39" fmla="*/ 1326 h 1386"/>
              <a:gd name="T40" fmla="*/ 710 w 1636"/>
              <a:gd name="T41" fmla="*/ 1290 h 1386"/>
              <a:gd name="T42" fmla="*/ 662 w 1636"/>
              <a:gd name="T43" fmla="*/ 1256 h 1386"/>
              <a:gd name="T44" fmla="*/ 654 w 1636"/>
              <a:gd name="T45" fmla="*/ 1228 h 1386"/>
              <a:gd name="T46" fmla="*/ 670 w 1636"/>
              <a:gd name="T47" fmla="*/ 1188 h 1386"/>
              <a:gd name="T48" fmla="*/ 732 w 1636"/>
              <a:gd name="T49" fmla="*/ 1154 h 1386"/>
              <a:gd name="T50" fmla="*/ 798 w 1636"/>
              <a:gd name="T51" fmla="*/ 1144 h 1386"/>
              <a:gd name="T52" fmla="*/ 888 w 1636"/>
              <a:gd name="T53" fmla="*/ 1162 h 1386"/>
              <a:gd name="T54" fmla="*/ 934 w 1636"/>
              <a:gd name="T55" fmla="*/ 1198 h 1386"/>
              <a:gd name="T56" fmla="*/ 942 w 1636"/>
              <a:gd name="T57" fmla="*/ 1228 h 1386"/>
              <a:gd name="T58" fmla="*/ 930 w 1636"/>
              <a:gd name="T59" fmla="*/ 1264 h 1386"/>
              <a:gd name="T60" fmla="*/ 874 w 1636"/>
              <a:gd name="T61" fmla="*/ 1302 h 1386"/>
              <a:gd name="T62" fmla="*/ 862 w 1636"/>
              <a:gd name="T63" fmla="*/ 1338 h 1386"/>
              <a:gd name="T64" fmla="*/ 878 w 1636"/>
              <a:gd name="T65" fmla="*/ 1362 h 1386"/>
              <a:gd name="T66" fmla="*/ 1194 w 1636"/>
              <a:gd name="T67" fmla="*/ 1386 h 1386"/>
              <a:gd name="T68" fmla="*/ 1202 w 1636"/>
              <a:gd name="T69" fmla="*/ 1378 h 1386"/>
              <a:gd name="T70" fmla="*/ 1340 w 1636"/>
              <a:gd name="T71" fmla="*/ 1138 h 1386"/>
              <a:gd name="T72" fmla="*/ 1394 w 1636"/>
              <a:gd name="T73" fmla="*/ 1104 h 1386"/>
              <a:gd name="T74" fmla="*/ 1420 w 1636"/>
              <a:gd name="T75" fmla="*/ 1114 h 1386"/>
              <a:gd name="T76" fmla="*/ 1438 w 1636"/>
              <a:gd name="T77" fmla="*/ 1152 h 1386"/>
              <a:gd name="T78" fmla="*/ 1444 w 1636"/>
              <a:gd name="T79" fmla="*/ 1210 h 1386"/>
              <a:gd name="T80" fmla="*/ 1466 w 1636"/>
              <a:gd name="T81" fmla="*/ 1232 h 1386"/>
              <a:gd name="T82" fmla="*/ 1506 w 1636"/>
              <a:gd name="T83" fmla="*/ 1238 h 1386"/>
              <a:gd name="T84" fmla="*/ 1568 w 1636"/>
              <a:gd name="T85" fmla="*/ 1202 h 1386"/>
              <a:gd name="T86" fmla="*/ 1610 w 1636"/>
              <a:gd name="T87" fmla="*/ 1150 h 1386"/>
              <a:gd name="T88" fmla="*/ 1632 w 1636"/>
              <a:gd name="T89" fmla="*/ 1094 h 1386"/>
              <a:gd name="T90" fmla="*/ 1634 w 1636"/>
              <a:gd name="T91" fmla="*/ 1026 h 1386"/>
              <a:gd name="T92" fmla="*/ 1606 w 1636"/>
              <a:gd name="T93" fmla="*/ 990 h 1386"/>
              <a:gd name="T94" fmla="*/ 1570 w 1636"/>
              <a:gd name="T95" fmla="*/ 984 h 1386"/>
              <a:gd name="T96" fmla="*/ 1510 w 1636"/>
              <a:gd name="T97" fmla="*/ 1012 h 1386"/>
              <a:gd name="T98" fmla="*/ 1472 w 1636"/>
              <a:gd name="T99" fmla="*/ 1004 h 1386"/>
              <a:gd name="T100" fmla="*/ 1458 w 1636"/>
              <a:gd name="T101" fmla="*/ 982 h 1386"/>
              <a:gd name="T102" fmla="*/ 1464 w 1636"/>
              <a:gd name="T103" fmla="*/ 926 h 1386"/>
              <a:gd name="T104" fmla="*/ 1582 w 1636"/>
              <a:gd name="T105" fmla="*/ 668 h 1386"/>
              <a:gd name="T106" fmla="*/ 322 w 1636"/>
              <a:gd name="T107" fmla="*/ 132 h 1386"/>
              <a:gd name="T108" fmla="*/ 132 w 1636"/>
              <a:gd name="T109" fmla="*/ 902 h 1386"/>
              <a:gd name="T110" fmla="*/ 176 w 1636"/>
              <a:gd name="T111" fmla="*/ 92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36" h="1386">
                <a:moveTo>
                  <a:pt x="184" y="918"/>
                </a:moveTo>
                <a:lnTo>
                  <a:pt x="184" y="918"/>
                </a:lnTo>
                <a:lnTo>
                  <a:pt x="192" y="912"/>
                </a:lnTo>
                <a:lnTo>
                  <a:pt x="198" y="906"/>
                </a:lnTo>
                <a:lnTo>
                  <a:pt x="204" y="900"/>
                </a:lnTo>
                <a:lnTo>
                  <a:pt x="208" y="894"/>
                </a:lnTo>
                <a:lnTo>
                  <a:pt x="212" y="882"/>
                </a:lnTo>
                <a:lnTo>
                  <a:pt x="214" y="868"/>
                </a:lnTo>
                <a:lnTo>
                  <a:pt x="214" y="868"/>
                </a:lnTo>
                <a:lnTo>
                  <a:pt x="212" y="850"/>
                </a:lnTo>
                <a:lnTo>
                  <a:pt x="212" y="850"/>
                </a:lnTo>
                <a:lnTo>
                  <a:pt x="214" y="834"/>
                </a:lnTo>
                <a:lnTo>
                  <a:pt x="216" y="820"/>
                </a:lnTo>
                <a:lnTo>
                  <a:pt x="220" y="812"/>
                </a:lnTo>
                <a:lnTo>
                  <a:pt x="224" y="806"/>
                </a:lnTo>
                <a:lnTo>
                  <a:pt x="232" y="800"/>
                </a:lnTo>
                <a:lnTo>
                  <a:pt x="240" y="794"/>
                </a:lnTo>
                <a:lnTo>
                  <a:pt x="240" y="794"/>
                </a:lnTo>
                <a:lnTo>
                  <a:pt x="250" y="788"/>
                </a:lnTo>
                <a:lnTo>
                  <a:pt x="260" y="786"/>
                </a:lnTo>
                <a:lnTo>
                  <a:pt x="270" y="786"/>
                </a:lnTo>
                <a:lnTo>
                  <a:pt x="282" y="786"/>
                </a:lnTo>
                <a:lnTo>
                  <a:pt x="292" y="790"/>
                </a:lnTo>
                <a:lnTo>
                  <a:pt x="302" y="794"/>
                </a:lnTo>
                <a:lnTo>
                  <a:pt x="324" y="808"/>
                </a:lnTo>
                <a:lnTo>
                  <a:pt x="344" y="824"/>
                </a:lnTo>
                <a:lnTo>
                  <a:pt x="360" y="842"/>
                </a:lnTo>
                <a:lnTo>
                  <a:pt x="374" y="860"/>
                </a:lnTo>
                <a:lnTo>
                  <a:pt x="384" y="876"/>
                </a:lnTo>
                <a:lnTo>
                  <a:pt x="384" y="876"/>
                </a:lnTo>
                <a:lnTo>
                  <a:pt x="396" y="898"/>
                </a:lnTo>
                <a:lnTo>
                  <a:pt x="406" y="924"/>
                </a:lnTo>
                <a:lnTo>
                  <a:pt x="412" y="954"/>
                </a:lnTo>
                <a:lnTo>
                  <a:pt x="414" y="968"/>
                </a:lnTo>
                <a:lnTo>
                  <a:pt x="414" y="982"/>
                </a:lnTo>
                <a:lnTo>
                  <a:pt x="414" y="982"/>
                </a:lnTo>
                <a:lnTo>
                  <a:pt x="414" y="1004"/>
                </a:lnTo>
                <a:lnTo>
                  <a:pt x="412" y="1014"/>
                </a:lnTo>
                <a:lnTo>
                  <a:pt x="408" y="1022"/>
                </a:lnTo>
                <a:lnTo>
                  <a:pt x="404" y="1032"/>
                </a:lnTo>
                <a:lnTo>
                  <a:pt x="398" y="1038"/>
                </a:lnTo>
                <a:lnTo>
                  <a:pt x="392" y="1046"/>
                </a:lnTo>
                <a:lnTo>
                  <a:pt x="384" y="1050"/>
                </a:lnTo>
                <a:lnTo>
                  <a:pt x="384" y="1050"/>
                </a:lnTo>
                <a:lnTo>
                  <a:pt x="374" y="1056"/>
                </a:lnTo>
                <a:lnTo>
                  <a:pt x="364" y="1058"/>
                </a:lnTo>
                <a:lnTo>
                  <a:pt x="354" y="1058"/>
                </a:lnTo>
                <a:lnTo>
                  <a:pt x="346" y="1058"/>
                </a:lnTo>
                <a:lnTo>
                  <a:pt x="330" y="1052"/>
                </a:lnTo>
                <a:lnTo>
                  <a:pt x="316" y="1042"/>
                </a:lnTo>
                <a:lnTo>
                  <a:pt x="302" y="1034"/>
                </a:lnTo>
                <a:lnTo>
                  <a:pt x="286" y="1028"/>
                </a:lnTo>
                <a:lnTo>
                  <a:pt x="278" y="1028"/>
                </a:lnTo>
                <a:lnTo>
                  <a:pt x="268" y="1028"/>
                </a:lnTo>
                <a:lnTo>
                  <a:pt x="258" y="1032"/>
                </a:lnTo>
                <a:lnTo>
                  <a:pt x="248" y="1036"/>
                </a:lnTo>
                <a:lnTo>
                  <a:pt x="248" y="1036"/>
                </a:lnTo>
                <a:lnTo>
                  <a:pt x="242" y="1042"/>
                </a:lnTo>
                <a:lnTo>
                  <a:pt x="238" y="1048"/>
                </a:lnTo>
                <a:lnTo>
                  <a:pt x="236" y="1058"/>
                </a:lnTo>
                <a:lnTo>
                  <a:pt x="234" y="1068"/>
                </a:lnTo>
                <a:lnTo>
                  <a:pt x="234" y="1068"/>
                </a:lnTo>
                <a:lnTo>
                  <a:pt x="236" y="1086"/>
                </a:lnTo>
                <a:lnTo>
                  <a:pt x="240" y="1102"/>
                </a:lnTo>
                <a:lnTo>
                  <a:pt x="398" y="1378"/>
                </a:lnTo>
                <a:lnTo>
                  <a:pt x="402" y="1378"/>
                </a:lnTo>
                <a:lnTo>
                  <a:pt x="402" y="1380"/>
                </a:lnTo>
                <a:lnTo>
                  <a:pt x="400" y="1382"/>
                </a:lnTo>
                <a:lnTo>
                  <a:pt x="400" y="1382"/>
                </a:lnTo>
                <a:lnTo>
                  <a:pt x="402" y="1386"/>
                </a:lnTo>
                <a:lnTo>
                  <a:pt x="664" y="1386"/>
                </a:lnTo>
                <a:lnTo>
                  <a:pt x="664" y="1386"/>
                </a:lnTo>
                <a:lnTo>
                  <a:pt x="686" y="1380"/>
                </a:lnTo>
                <a:lnTo>
                  <a:pt x="708" y="1368"/>
                </a:lnTo>
                <a:lnTo>
                  <a:pt x="718" y="1362"/>
                </a:lnTo>
                <a:lnTo>
                  <a:pt x="726" y="1356"/>
                </a:lnTo>
                <a:lnTo>
                  <a:pt x="732" y="1346"/>
                </a:lnTo>
                <a:lnTo>
                  <a:pt x="734" y="1338"/>
                </a:lnTo>
                <a:lnTo>
                  <a:pt x="734" y="1338"/>
                </a:lnTo>
                <a:lnTo>
                  <a:pt x="734" y="1326"/>
                </a:lnTo>
                <a:lnTo>
                  <a:pt x="730" y="1316"/>
                </a:lnTo>
                <a:lnTo>
                  <a:pt x="728" y="1308"/>
                </a:lnTo>
                <a:lnTo>
                  <a:pt x="722" y="1302"/>
                </a:lnTo>
                <a:lnTo>
                  <a:pt x="710" y="1290"/>
                </a:lnTo>
                <a:lnTo>
                  <a:pt x="694" y="1282"/>
                </a:lnTo>
                <a:lnTo>
                  <a:pt x="680" y="1274"/>
                </a:lnTo>
                <a:lnTo>
                  <a:pt x="668" y="1264"/>
                </a:lnTo>
                <a:lnTo>
                  <a:pt x="662" y="1256"/>
                </a:lnTo>
                <a:lnTo>
                  <a:pt x="658" y="1248"/>
                </a:lnTo>
                <a:lnTo>
                  <a:pt x="656" y="1240"/>
                </a:lnTo>
                <a:lnTo>
                  <a:pt x="654" y="1228"/>
                </a:lnTo>
                <a:lnTo>
                  <a:pt x="654" y="1228"/>
                </a:lnTo>
                <a:lnTo>
                  <a:pt x="656" y="1216"/>
                </a:lnTo>
                <a:lnTo>
                  <a:pt x="658" y="1206"/>
                </a:lnTo>
                <a:lnTo>
                  <a:pt x="664" y="1198"/>
                </a:lnTo>
                <a:lnTo>
                  <a:pt x="670" y="1188"/>
                </a:lnTo>
                <a:lnTo>
                  <a:pt x="678" y="1180"/>
                </a:lnTo>
                <a:lnTo>
                  <a:pt x="688" y="1174"/>
                </a:lnTo>
                <a:lnTo>
                  <a:pt x="708" y="1162"/>
                </a:lnTo>
                <a:lnTo>
                  <a:pt x="732" y="1154"/>
                </a:lnTo>
                <a:lnTo>
                  <a:pt x="756" y="1148"/>
                </a:lnTo>
                <a:lnTo>
                  <a:pt x="780" y="1144"/>
                </a:lnTo>
                <a:lnTo>
                  <a:pt x="798" y="1144"/>
                </a:lnTo>
                <a:lnTo>
                  <a:pt x="798" y="1144"/>
                </a:lnTo>
                <a:lnTo>
                  <a:pt x="818" y="1144"/>
                </a:lnTo>
                <a:lnTo>
                  <a:pt x="840" y="1148"/>
                </a:lnTo>
                <a:lnTo>
                  <a:pt x="864" y="1154"/>
                </a:lnTo>
                <a:lnTo>
                  <a:pt x="888" y="1162"/>
                </a:lnTo>
                <a:lnTo>
                  <a:pt x="910" y="1174"/>
                </a:lnTo>
                <a:lnTo>
                  <a:pt x="918" y="1180"/>
                </a:lnTo>
                <a:lnTo>
                  <a:pt x="926" y="1188"/>
                </a:lnTo>
                <a:lnTo>
                  <a:pt x="934" y="1198"/>
                </a:lnTo>
                <a:lnTo>
                  <a:pt x="938" y="1206"/>
                </a:lnTo>
                <a:lnTo>
                  <a:pt x="942" y="1216"/>
                </a:lnTo>
                <a:lnTo>
                  <a:pt x="942" y="1228"/>
                </a:lnTo>
                <a:lnTo>
                  <a:pt x="942" y="1228"/>
                </a:lnTo>
                <a:lnTo>
                  <a:pt x="942" y="1240"/>
                </a:lnTo>
                <a:lnTo>
                  <a:pt x="938" y="1248"/>
                </a:lnTo>
                <a:lnTo>
                  <a:pt x="934" y="1256"/>
                </a:lnTo>
                <a:lnTo>
                  <a:pt x="930" y="1264"/>
                </a:lnTo>
                <a:lnTo>
                  <a:pt x="916" y="1274"/>
                </a:lnTo>
                <a:lnTo>
                  <a:pt x="902" y="1282"/>
                </a:lnTo>
                <a:lnTo>
                  <a:pt x="888" y="1290"/>
                </a:lnTo>
                <a:lnTo>
                  <a:pt x="874" y="1302"/>
                </a:lnTo>
                <a:lnTo>
                  <a:pt x="870" y="1308"/>
                </a:lnTo>
                <a:lnTo>
                  <a:pt x="866" y="1316"/>
                </a:lnTo>
                <a:lnTo>
                  <a:pt x="864" y="1326"/>
                </a:lnTo>
                <a:lnTo>
                  <a:pt x="862" y="1338"/>
                </a:lnTo>
                <a:lnTo>
                  <a:pt x="862" y="1338"/>
                </a:lnTo>
                <a:lnTo>
                  <a:pt x="864" y="1346"/>
                </a:lnTo>
                <a:lnTo>
                  <a:pt x="870" y="1356"/>
                </a:lnTo>
                <a:lnTo>
                  <a:pt x="878" y="1362"/>
                </a:lnTo>
                <a:lnTo>
                  <a:pt x="888" y="1368"/>
                </a:lnTo>
                <a:lnTo>
                  <a:pt x="912" y="1380"/>
                </a:lnTo>
                <a:lnTo>
                  <a:pt x="934" y="1386"/>
                </a:lnTo>
                <a:lnTo>
                  <a:pt x="1194" y="1386"/>
                </a:lnTo>
                <a:lnTo>
                  <a:pt x="1198" y="1380"/>
                </a:lnTo>
                <a:lnTo>
                  <a:pt x="1198" y="1380"/>
                </a:lnTo>
                <a:lnTo>
                  <a:pt x="1198" y="1378"/>
                </a:lnTo>
                <a:lnTo>
                  <a:pt x="1202" y="1378"/>
                </a:lnTo>
                <a:lnTo>
                  <a:pt x="1204" y="1372"/>
                </a:lnTo>
                <a:lnTo>
                  <a:pt x="1240" y="1310"/>
                </a:lnTo>
                <a:lnTo>
                  <a:pt x="1340" y="1138"/>
                </a:lnTo>
                <a:lnTo>
                  <a:pt x="1340" y="1138"/>
                </a:lnTo>
                <a:lnTo>
                  <a:pt x="1356" y="1124"/>
                </a:lnTo>
                <a:lnTo>
                  <a:pt x="1376" y="1112"/>
                </a:lnTo>
                <a:lnTo>
                  <a:pt x="1384" y="1108"/>
                </a:lnTo>
                <a:lnTo>
                  <a:pt x="1394" y="1104"/>
                </a:lnTo>
                <a:lnTo>
                  <a:pt x="1402" y="1104"/>
                </a:lnTo>
                <a:lnTo>
                  <a:pt x="1410" y="1108"/>
                </a:lnTo>
                <a:lnTo>
                  <a:pt x="1410" y="1108"/>
                </a:lnTo>
                <a:lnTo>
                  <a:pt x="1420" y="1114"/>
                </a:lnTo>
                <a:lnTo>
                  <a:pt x="1426" y="1122"/>
                </a:lnTo>
                <a:lnTo>
                  <a:pt x="1432" y="1128"/>
                </a:lnTo>
                <a:lnTo>
                  <a:pt x="1436" y="1136"/>
                </a:lnTo>
                <a:lnTo>
                  <a:pt x="1438" y="1152"/>
                </a:lnTo>
                <a:lnTo>
                  <a:pt x="1438" y="1170"/>
                </a:lnTo>
                <a:lnTo>
                  <a:pt x="1438" y="1186"/>
                </a:lnTo>
                <a:lnTo>
                  <a:pt x="1440" y="1202"/>
                </a:lnTo>
                <a:lnTo>
                  <a:pt x="1444" y="1210"/>
                </a:lnTo>
                <a:lnTo>
                  <a:pt x="1448" y="1218"/>
                </a:lnTo>
                <a:lnTo>
                  <a:pt x="1456" y="1226"/>
                </a:lnTo>
                <a:lnTo>
                  <a:pt x="1466" y="1232"/>
                </a:lnTo>
                <a:lnTo>
                  <a:pt x="1466" y="1232"/>
                </a:lnTo>
                <a:lnTo>
                  <a:pt x="1476" y="1236"/>
                </a:lnTo>
                <a:lnTo>
                  <a:pt x="1486" y="1240"/>
                </a:lnTo>
                <a:lnTo>
                  <a:pt x="1496" y="1240"/>
                </a:lnTo>
                <a:lnTo>
                  <a:pt x="1506" y="1238"/>
                </a:lnTo>
                <a:lnTo>
                  <a:pt x="1518" y="1234"/>
                </a:lnTo>
                <a:lnTo>
                  <a:pt x="1528" y="1230"/>
                </a:lnTo>
                <a:lnTo>
                  <a:pt x="1550" y="1218"/>
                </a:lnTo>
                <a:lnTo>
                  <a:pt x="1568" y="1202"/>
                </a:lnTo>
                <a:lnTo>
                  <a:pt x="1586" y="1184"/>
                </a:lnTo>
                <a:lnTo>
                  <a:pt x="1600" y="1166"/>
                </a:lnTo>
                <a:lnTo>
                  <a:pt x="1610" y="1150"/>
                </a:lnTo>
                <a:lnTo>
                  <a:pt x="1610" y="1150"/>
                </a:lnTo>
                <a:lnTo>
                  <a:pt x="1618" y="1132"/>
                </a:lnTo>
                <a:lnTo>
                  <a:pt x="1628" y="1112"/>
                </a:lnTo>
                <a:lnTo>
                  <a:pt x="1628" y="1112"/>
                </a:lnTo>
                <a:lnTo>
                  <a:pt x="1632" y="1094"/>
                </a:lnTo>
                <a:lnTo>
                  <a:pt x="1636" y="1076"/>
                </a:lnTo>
                <a:lnTo>
                  <a:pt x="1636" y="1060"/>
                </a:lnTo>
                <a:lnTo>
                  <a:pt x="1636" y="1042"/>
                </a:lnTo>
                <a:lnTo>
                  <a:pt x="1634" y="1026"/>
                </a:lnTo>
                <a:lnTo>
                  <a:pt x="1628" y="1012"/>
                </a:lnTo>
                <a:lnTo>
                  <a:pt x="1618" y="1000"/>
                </a:lnTo>
                <a:lnTo>
                  <a:pt x="1606" y="990"/>
                </a:lnTo>
                <a:lnTo>
                  <a:pt x="1606" y="990"/>
                </a:lnTo>
                <a:lnTo>
                  <a:pt x="1596" y="986"/>
                </a:lnTo>
                <a:lnTo>
                  <a:pt x="1586" y="984"/>
                </a:lnTo>
                <a:lnTo>
                  <a:pt x="1578" y="982"/>
                </a:lnTo>
                <a:lnTo>
                  <a:pt x="1570" y="984"/>
                </a:lnTo>
                <a:lnTo>
                  <a:pt x="1554" y="990"/>
                </a:lnTo>
                <a:lnTo>
                  <a:pt x="1540" y="998"/>
                </a:lnTo>
                <a:lnTo>
                  <a:pt x="1524" y="1006"/>
                </a:lnTo>
                <a:lnTo>
                  <a:pt x="1510" y="1012"/>
                </a:lnTo>
                <a:lnTo>
                  <a:pt x="1500" y="1014"/>
                </a:lnTo>
                <a:lnTo>
                  <a:pt x="1492" y="1012"/>
                </a:lnTo>
                <a:lnTo>
                  <a:pt x="1482" y="1010"/>
                </a:lnTo>
                <a:lnTo>
                  <a:pt x="1472" y="1004"/>
                </a:lnTo>
                <a:lnTo>
                  <a:pt x="1472" y="1004"/>
                </a:lnTo>
                <a:lnTo>
                  <a:pt x="1464" y="1000"/>
                </a:lnTo>
                <a:lnTo>
                  <a:pt x="1460" y="992"/>
                </a:lnTo>
                <a:lnTo>
                  <a:pt x="1458" y="982"/>
                </a:lnTo>
                <a:lnTo>
                  <a:pt x="1458" y="972"/>
                </a:lnTo>
                <a:lnTo>
                  <a:pt x="1458" y="950"/>
                </a:lnTo>
                <a:lnTo>
                  <a:pt x="1462" y="928"/>
                </a:lnTo>
                <a:lnTo>
                  <a:pt x="1464" y="926"/>
                </a:lnTo>
                <a:lnTo>
                  <a:pt x="1464" y="926"/>
                </a:lnTo>
                <a:lnTo>
                  <a:pt x="1466" y="920"/>
                </a:lnTo>
                <a:lnTo>
                  <a:pt x="1598" y="692"/>
                </a:lnTo>
                <a:lnTo>
                  <a:pt x="1582" y="668"/>
                </a:lnTo>
                <a:lnTo>
                  <a:pt x="1584" y="668"/>
                </a:lnTo>
                <a:lnTo>
                  <a:pt x="1198" y="0"/>
                </a:lnTo>
                <a:lnTo>
                  <a:pt x="398" y="0"/>
                </a:lnTo>
                <a:lnTo>
                  <a:pt x="322" y="132"/>
                </a:lnTo>
                <a:lnTo>
                  <a:pt x="0" y="690"/>
                </a:lnTo>
                <a:lnTo>
                  <a:pt x="116" y="888"/>
                </a:lnTo>
                <a:lnTo>
                  <a:pt x="116" y="888"/>
                </a:lnTo>
                <a:lnTo>
                  <a:pt x="132" y="902"/>
                </a:lnTo>
                <a:lnTo>
                  <a:pt x="150" y="914"/>
                </a:lnTo>
                <a:lnTo>
                  <a:pt x="160" y="918"/>
                </a:lnTo>
                <a:lnTo>
                  <a:pt x="168" y="920"/>
                </a:lnTo>
                <a:lnTo>
                  <a:pt x="176" y="920"/>
                </a:lnTo>
                <a:lnTo>
                  <a:pt x="184" y="918"/>
                </a:lnTo>
                <a:lnTo>
                  <a:pt x="184" y="918"/>
                </a:lnTo>
                <a:close/>
              </a:path>
            </a:pathLst>
          </a:custGeom>
          <a:solidFill>
            <a:srgbClr val="438DEF"/>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smtClean="0"/>
          </a:p>
          <a:p>
            <a:r>
              <a:rPr lang="en-US" dirty="0" smtClean="0"/>
              <a:t>        CRM </a:t>
            </a:r>
          </a:p>
          <a:p>
            <a:r>
              <a:rPr lang="en-US" dirty="0" smtClean="0"/>
              <a:t>     Proprietary      Interface</a:t>
            </a:r>
            <a:endParaRPr lang="en-US" dirty="0"/>
          </a:p>
        </p:txBody>
      </p:sp>
      <p:sp>
        <p:nvSpPr>
          <p:cNvPr id="86024" name="Freeform 8"/>
          <p:cNvSpPr>
            <a:spLocks/>
          </p:cNvSpPr>
          <p:nvPr/>
        </p:nvSpPr>
        <p:spPr bwMode="auto">
          <a:xfrm>
            <a:off x="5765800" y="2347913"/>
            <a:ext cx="1739900" cy="1765300"/>
          </a:xfrm>
          <a:custGeom>
            <a:avLst/>
            <a:gdLst>
              <a:gd name="T0" fmla="*/ 262 w 1600"/>
              <a:gd name="T1" fmla="*/ 260 h 1624"/>
              <a:gd name="T2" fmla="*/ 286 w 1600"/>
              <a:gd name="T3" fmla="*/ 316 h 1624"/>
              <a:gd name="T4" fmla="*/ 374 w 1600"/>
              <a:gd name="T5" fmla="*/ 290 h 1624"/>
              <a:gd name="T6" fmla="*/ 424 w 1600"/>
              <a:gd name="T7" fmla="*/ 306 h 1624"/>
              <a:gd name="T8" fmla="*/ 430 w 1600"/>
              <a:gd name="T9" fmla="*/ 426 h 1624"/>
              <a:gd name="T10" fmla="*/ 368 w 1600"/>
              <a:gd name="T11" fmla="*/ 524 h 1624"/>
              <a:gd name="T12" fmla="*/ 274 w 1600"/>
              <a:gd name="T13" fmla="*/ 558 h 1624"/>
              <a:gd name="T14" fmla="*/ 238 w 1600"/>
              <a:gd name="T15" fmla="*/ 508 h 1624"/>
              <a:gd name="T16" fmla="*/ 210 w 1600"/>
              <a:gd name="T17" fmla="*/ 430 h 1624"/>
              <a:gd name="T18" fmla="*/ 140 w 1600"/>
              <a:gd name="T19" fmla="*/ 460 h 1624"/>
              <a:gd name="T20" fmla="*/ 140 w 1600"/>
              <a:gd name="T21" fmla="*/ 934 h 1624"/>
              <a:gd name="T22" fmla="*/ 214 w 1600"/>
              <a:gd name="T23" fmla="*/ 968 h 1624"/>
              <a:gd name="T24" fmla="*/ 242 w 1600"/>
              <a:gd name="T25" fmla="*/ 906 h 1624"/>
              <a:gd name="T26" fmla="*/ 268 w 1600"/>
              <a:gd name="T27" fmla="*/ 844 h 1624"/>
              <a:gd name="T28" fmla="*/ 352 w 1600"/>
              <a:gd name="T29" fmla="*/ 858 h 1624"/>
              <a:gd name="T30" fmla="*/ 432 w 1600"/>
              <a:gd name="T31" fmla="*/ 964 h 1624"/>
              <a:gd name="T32" fmla="*/ 430 w 1600"/>
              <a:gd name="T33" fmla="*/ 1078 h 1624"/>
              <a:gd name="T34" fmla="*/ 376 w 1600"/>
              <a:gd name="T35" fmla="*/ 1100 h 1624"/>
              <a:gd name="T36" fmla="*/ 288 w 1600"/>
              <a:gd name="T37" fmla="*/ 1074 h 1624"/>
              <a:gd name="T38" fmla="*/ 266 w 1600"/>
              <a:gd name="T39" fmla="*/ 1136 h 1624"/>
              <a:gd name="T40" fmla="*/ 668 w 1600"/>
              <a:gd name="T41" fmla="*/ 1386 h 1624"/>
              <a:gd name="T42" fmla="*/ 686 w 1600"/>
              <a:gd name="T43" fmla="*/ 1392 h 1624"/>
              <a:gd name="T44" fmla="*/ 696 w 1600"/>
              <a:gd name="T45" fmla="*/ 1398 h 1624"/>
              <a:gd name="T46" fmla="*/ 704 w 1600"/>
              <a:gd name="T47" fmla="*/ 1402 h 1624"/>
              <a:gd name="T48" fmla="*/ 714 w 1600"/>
              <a:gd name="T49" fmla="*/ 1410 h 1624"/>
              <a:gd name="T50" fmla="*/ 720 w 1600"/>
              <a:gd name="T51" fmla="*/ 1414 h 1624"/>
              <a:gd name="T52" fmla="*/ 724 w 1600"/>
              <a:gd name="T53" fmla="*/ 1422 h 1624"/>
              <a:gd name="T54" fmla="*/ 726 w 1600"/>
              <a:gd name="T55" fmla="*/ 1430 h 1624"/>
              <a:gd name="T56" fmla="*/ 726 w 1600"/>
              <a:gd name="T57" fmla="*/ 1436 h 1624"/>
              <a:gd name="T58" fmla="*/ 724 w 1600"/>
              <a:gd name="T59" fmla="*/ 1448 h 1624"/>
              <a:gd name="T60" fmla="*/ 704 w 1600"/>
              <a:gd name="T61" fmla="*/ 1476 h 1624"/>
              <a:gd name="T62" fmla="*/ 672 w 1600"/>
              <a:gd name="T63" fmla="*/ 1494 h 1624"/>
              <a:gd name="T64" fmla="*/ 660 w 1600"/>
              <a:gd name="T65" fmla="*/ 1504 h 1624"/>
              <a:gd name="T66" fmla="*/ 652 w 1600"/>
              <a:gd name="T67" fmla="*/ 1514 h 1624"/>
              <a:gd name="T68" fmla="*/ 648 w 1600"/>
              <a:gd name="T69" fmla="*/ 1530 h 1624"/>
              <a:gd name="T70" fmla="*/ 650 w 1600"/>
              <a:gd name="T71" fmla="*/ 1562 h 1624"/>
              <a:gd name="T72" fmla="*/ 748 w 1600"/>
              <a:gd name="T73" fmla="*/ 1620 h 1624"/>
              <a:gd name="T74" fmla="*/ 880 w 1600"/>
              <a:gd name="T75" fmla="*/ 1606 h 1624"/>
              <a:gd name="T76" fmla="*/ 934 w 1600"/>
              <a:gd name="T77" fmla="*/ 1540 h 1624"/>
              <a:gd name="T78" fmla="*/ 932 w 1600"/>
              <a:gd name="T79" fmla="*/ 1522 h 1624"/>
              <a:gd name="T80" fmla="*/ 924 w 1600"/>
              <a:gd name="T81" fmla="*/ 1508 h 1624"/>
              <a:gd name="T82" fmla="*/ 918 w 1600"/>
              <a:gd name="T83" fmla="*/ 1502 h 1624"/>
              <a:gd name="T84" fmla="*/ 906 w 1600"/>
              <a:gd name="T85" fmla="*/ 1494 h 1624"/>
              <a:gd name="T86" fmla="*/ 862 w 1600"/>
              <a:gd name="T87" fmla="*/ 1460 h 1624"/>
              <a:gd name="T88" fmla="*/ 856 w 1600"/>
              <a:gd name="T89" fmla="*/ 1448 h 1624"/>
              <a:gd name="T90" fmla="*/ 854 w 1600"/>
              <a:gd name="T91" fmla="*/ 1438 h 1624"/>
              <a:gd name="T92" fmla="*/ 854 w 1600"/>
              <a:gd name="T93" fmla="*/ 1430 h 1624"/>
              <a:gd name="T94" fmla="*/ 856 w 1600"/>
              <a:gd name="T95" fmla="*/ 1422 h 1624"/>
              <a:gd name="T96" fmla="*/ 860 w 1600"/>
              <a:gd name="T97" fmla="*/ 1416 h 1624"/>
              <a:gd name="T98" fmla="*/ 866 w 1600"/>
              <a:gd name="T99" fmla="*/ 1410 h 1624"/>
              <a:gd name="T100" fmla="*/ 874 w 1600"/>
              <a:gd name="T101" fmla="*/ 1402 h 1624"/>
              <a:gd name="T102" fmla="*/ 884 w 1600"/>
              <a:gd name="T103" fmla="*/ 1398 h 1624"/>
              <a:gd name="T104" fmla="*/ 892 w 1600"/>
              <a:gd name="T105" fmla="*/ 1394 h 1624"/>
              <a:gd name="T106" fmla="*/ 912 w 1600"/>
              <a:gd name="T107" fmla="*/ 1386 h 1624"/>
              <a:gd name="T108" fmla="*/ 1200 w 1600"/>
              <a:gd name="T109" fmla="*/ 0 h 1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1624">
                <a:moveTo>
                  <a:pt x="1200" y="0"/>
                </a:moveTo>
                <a:lnTo>
                  <a:pt x="402" y="0"/>
                </a:lnTo>
                <a:lnTo>
                  <a:pt x="400" y="6"/>
                </a:lnTo>
                <a:lnTo>
                  <a:pt x="400" y="8"/>
                </a:lnTo>
                <a:lnTo>
                  <a:pt x="266" y="240"/>
                </a:lnTo>
                <a:lnTo>
                  <a:pt x="266" y="240"/>
                </a:lnTo>
                <a:lnTo>
                  <a:pt x="262" y="260"/>
                </a:lnTo>
                <a:lnTo>
                  <a:pt x="262" y="282"/>
                </a:lnTo>
                <a:lnTo>
                  <a:pt x="264" y="290"/>
                </a:lnTo>
                <a:lnTo>
                  <a:pt x="266" y="298"/>
                </a:lnTo>
                <a:lnTo>
                  <a:pt x="270" y="306"/>
                </a:lnTo>
                <a:lnTo>
                  <a:pt x="276" y="310"/>
                </a:lnTo>
                <a:lnTo>
                  <a:pt x="276" y="310"/>
                </a:lnTo>
                <a:lnTo>
                  <a:pt x="286" y="316"/>
                </a:lnTo>
                <a:lnTo>
                  <a:pt x="296" y="318"/>
                </a:lnTo>
                <a:lnTo>
                  <a:pt x="306" y="320"/>
                </a:lnTo>
                <a:lnTo>
                  <a:pt x="314" y="318"/>
                </a:lnTo>
                <a:lnTo>
                  <a:pt x="330" y="312"/>
                </a:lnTo>
                <a:lnTo>
                  <a:pt x="344" y="304"/>
                </a:lnTo>
                <a:lnTo>
                  <a:pt x="358" y="296"/>
                </a:lnTo>
                <a:lnTo>
                  <a:pt x="374" y="290"/>
                </a:lnTo>
                <a:lnTo>
                  <a:pt x="382" y="288"/>
                </a:lnTo>
                <a:lnTo>
                  <a:pt x="392" y="290"/>
                </a:lnTo>
                <a:lnTo>
                  <a:pt x="400" y="292"/>
                </a:lnTo>
                <a:lnTo>
                  <a:pt x="412" y="296"/>
                </a:lnTo>
                <a:lnTo>
                  <a:pt x="412" y="296"/>
                </a:lnTo>
                <a:lnTo>
                  <a:pt x="418" y="302"/>
                </a:lnTo>
                <a:lnTo>
                  <a:pt x="424" y="306"/>
                </a:lnTo>
                <a:lnTo>
                  <a:pt x="434" y="320"/>
                </a:lnTo>
                <a:lnTo>
                  <a:pt x="438" y="336"/>
                </a:lnTo>
                <a:lnTo>
                  <a:pt x="442" y="352"/>
                </a:lnTo>
                <a:lnTo>
                  <a:pt x="442" y="370"/>
                </a:lnTo>
                <a:lnTo>
                  <a:pt x="438" y="390"/>
                </a:lnTo>
                <a:lnTo>
                  <a:pt x="434" y="408"/>
                </a:lnTo>
                <a:lnTo>
                  <a:pt x="430" y="426"/>
                </a:lnTo>
                <a:lnTo>
                  <a:pt x="430" y="426"/>
                </a:lnTo>
                <a:lnTo>
                  <a:pt x="420" y="450"/>
                </a:lnTo>
                <a:lnTo>
                  <a:pt x="410" y="472"/>
                </a:lnTo>
                <a:lnTo>
                  <a:pt x="410" y="472"/>
                </a:lnTo>
                <a:lnTo>
                  <a:pt x="398" y="488"/>
                </a:lnTo>
                <a:lnTo>
                  <a:pt x="384" y="506"/>
                </a:lnTo>
                <a:lnTo>
                  <a:pt x="368" y="524"/>
                </a:lnTo>
                <a:lnTo>
                  <a:pt x="348" y="540"/>
                </a:lnTo>
                <a:lnTo>
                  <a:pt x="328" y="552"/>
                </a:lnTo>
                <a:lnTo>
                  <a:pt x="318" y="556"/>
                </a:lnTo>
                <a:lnTo>
                  <a:pt x="306" y="560"/>
                </a:lnTo>
                <a:lnTo>
                  <a:pt x="296" y="562"/>
                </a:lnTo>
                <a:lnTo>
                  <a:pt x="284" y="562"/>
                </a:lnTo>
                <a:lnTo>
                  <a:pt x="274" y="558"/>
                </a:lnTo>
                <a:lnTo>
                  <a:pt x="264" y="554"/>
                </a:lnTo>
                <a:lnTo>
                  <a:pt x="264" y="554"/>
                </a:lnTo>
                <a:lnTo>
                  <a:pt x="256" y="548"/>
                </a:lnTo>
                <a:lnTo>
                  <a:pt x="248" y="540"/>
                </a:lnTo>
                <a:lnTo>
                  <a:pt x="244" y="532"/>
                </a:lnTo>
                <a:lnTo>
                  <a:pt x="240" y="524"/>
                </a:lnTo>
                <a:lnTo>
                  <a:pt x="238" y="508"/>
                </a:lnTo>
                <a:lnTo>
                  <a:pt x="238" y="492"/>
                </a:lnTo>
                <a:lnTo>
                  <a:pt x="238" y="474"/>
                </a:lnTo>
                <a:lnTo>
                  <a:pt x="234" y="458"/>
                </a:lnTo>
                <a:lnTo>
                  <a:pt x="232" y="450"/>
                </a:lnTo>
                <a:lnTo>
                  <a:pt x="226" y="444"/>
                </a:lnTo>
                <a:lnTo>
                  <a:pt x="218" y="436"/>
                </a:lnTo>
                <a:lnTo>
                  <a:pt x="210" y="430"/>
                </a:lnTo>
                <a:lnTo>
                  <a:pt x="210" y="430"/>
                </a:lnTo>
                <a:lnTo>
                  <a:pt x="202" y="426"/>
                </a:lnTo>
                <a:lnTo>
                  <a:pt x="192" y="426"/>
                </a:lnTo>
                <a:lnTo>
                  <a:pt x="184" y="430"/>
                </a:lnTo>
                <a:lnTo>
                  <a:pt x="174" y="434"/>
                </a:lnTo>
                <a:lnTo>
                  <a:pt x="156" y="446"/>
                </a:lnTo>
                <a:lnTo>
                  <a:pt x="140" y="460"/>
                </a:lnTo>
                <a:lnTo>
                  <a:pt x="40" y="632"/>
                </a:lnTo>
                <a:lnTo>
                  <a:pt x="4" y="694"/>
                </a:lnTo>
                <a:lnTo>
                  <a:pt x="0" y="694"/>
                </a:lnTo>
                <a:lnTo>
                  <a:pt x="0" y="694"/>
                </a:lnTo>
                <a:lnTo>
                  <a:pt x="2" y="696"/>
                </a:lnTo>
                <a:lnTo>
                  <a:pt x="4" y="696"/>
                </a:lnTo>
                <a:lnTo>
                  <a:pt x="140" y="934"/>
                </a:lnTo>
                <a:lnTo>
                  <a:pt x="140" y="934"/>
                </a:lnTo>
                <a:lnTo>
                  <a:pt x="158" y="948"/>
                </a:lnTo>
                <a:lnTo>
                  <a:pt x="176" y="962"/>
                </a:lnTo>
                <a:lnTo>
                  <a:pt x="186" y="968"/>
                </a:lnTo>
                <a:lnTo>
                  <a:pt x="196" y="970"/>
                </a:lnTo>
                <a:lnTo>
                  <a:pt x="206" y="970"/>
                </a:lnTo>
                <a:lnTo>
                  <a:pt x="214" y="968"/>
                </a:lnTo>
                <a:lnTo>
                  <a:pt x="214" y="968"/>
                </a:lnTo>
                <a:lnTo>
                  <a:pt x="224" y="960"/>
                </a:lnTo>
                <a:lnTo>
                  <a:pt x="230" y="954"/>
                </a:lnTo>
                <a:lnTo>
                  <a:pt x="236" y="946"/>
                </a:lnTo>
                <a:lnTo>
                  <a:pt x="240" y="938"/>
                </a:lnTo>
                <a:lnTo>
                  <a:pt x="242" y="922"/>
                </a:lnTo>
                <a:lnTo>
                  <a:pt x="242" y="906"/>
                </a:lnTo>
                <a:lnTo>
                  <a:pt x="242" y="888"/>
                </a:lnTo>
                <a:lnTo>
                  <a:pt x="244" y="872"/>
                </a:lnTo>
                <a:lnTo>
                  <a:pt x="248" y="864"/>
                </a:lnTo>
                <a:lnTo>
                  <a:pt x="252" y="858"/>
                </a:lnTo>
                <a:lnTo>
                  <a:pt x="260" y="850"/>
                </a:lnTo>
                <a:lnTo>
                  <a:pt x="268" y="844"/>
                </a:lnTo>
                <a:lnTo>
                  <a:pt x="268" y="844"/>
                </a:lnTo>
                <a:lnTo>
                  <a:pt x="278" y="838"/>
                </a:lnTo>
                <a:lnTo>
                  <a:pt x="290" y="836"/>
                </a:lnTo>
                <a:lnTo>
                  <a:pt x="300" y="836"/>
                </a:lnTo>
                <a:lnTo>
                  <a:pt x="310" y="836"/>
                </a:lnTo>
                <a:lnTo>
                  <a:pt x="322" y="840"/>
                </a:lnTo>
                <a:lnTo>
                  <a:pt x="332" y="844"/>
                </a:lnTo>
                <a:lnTo>
                  <a:pt x="352" y="858"/>
                </a:lnTo>
                <a:lnTo>
                  <a:pt x="372" y="874"/>
                </a:lnTo>
                <a:lnTo>
                  <a:pt x="390" y="892"/>
                </a:lnTo>
                <a:lnTo>
                  <a:pt x="404" y="910"/>
                </a:lnTo>
                <a:lnTo>
                  <a:pt x="414" y="926"/>
                </a:lnTo>
                <a:lnTo>
                  <a:pt x="414" y="926"/>
                </a:lnTo>
                <a:lnTo>
                  <a:pt x="422" y="944"/>
                </a:lnTo>
                <a:lnTo>
                  <a:pt x="432" y="964"/>
                </a:lnTo>
                <a:lnTo>
                  <a:pt x="438" y="988"/>
                </a:lnTo>
                <a:lnTo>
                  <a:pt x="442" y="1012"/>
                </a:lnTo>
                <a:lnTo>
                  <a:pt x="444" y="1038"/>
                </a:lnTo>
                <a:lnTo>
                  <a:pt x="442" y="1048"/>
                </a:lnTo>
                <a:lnTo>
                  <a:pt x="440" y="1060"/>
                </a:lnTo>
                <a:lnTo>
                  <a:pt x="436" y="1070"/>
                </a:lnTo>
                <a:lnTo>
                  <a:pt x="430" y="1078"/>
                </a:lnTo>
                <a:lnTo>
                  <a:pt x="422" y="1086"/>
                </a:lnTo>
                <a:lnTo>
                  <a:pt x="412" y="1092"/>
                </a:lnTo>
                <a:lnTo>
                  <a:pt x="412" y="1092"/>
                </a:lnTo>
                <a:lnTo>
                  <a:pt x="402" y="1098"/>
                </a:lnTo>
                <a:lnTo>
                  <a:pt x="392" y="1100"/>
                </a:lnTo>
                <a:lnTo>
                  <a:pt x="384" y="1100"/>
                </a:lnTo>
                <a:lnTo>
                  <a:pt x="376" y="1100"/>
                </a:lnTo>
                <a:lnTo>
                  <a:pt x="360" y="1094"/>
                </a:lnTo>
                <a:lnTo>
                  <a:pt x="346" y="1084"/>
                </a:lnTo>
                <a:lnTo>
                  <a:pt x="330" y="1076"/>
                </a:lnTo>
                <a:lnTo>
                  <a:pt x="316" y="1070"/>
                </a:lnTo>
                <a:lnTo>
                  <a:pt x="306" y="1070"/>
                </a:lnTo>
                <a:lnTo>
                  <a:pt x="298" y="1070"/>
                </a:lnTo>
                <a:lnTo>
                  <a:pt x="288" y="1074"/>
                </a:lnTo>
                <a:lnTo>
                  <a:pt x="278" y="1078"/>
                </a:lnTo>
                <a:lnTo>
                  <a:pt x="278" y="1078"/>
                </a:lnTo>
                <a:lnTo>
                  <a:pt x="272" y="1084"/>
                </a:lnTo>
                <a:lnTo>
                  <a:pt x="266" y="1092"/>
                </a:lnTo>
                <a:lnTo>
                  <a:pt x="264" y="1102"/>
                </a:lnTo>
                <a:lnTo>
                  <a:pt x="264" y="1114"/>
                </a:lnTo>
                <a:lnTo>
                  <a:pt x="266" y="1136"/>
                </a:lnTo>
                <a:lnTo>
                  <a:pt x="270" y="1158"/>
                </a:lnTo>
                <a:lnTo>
                  <a:pt x="402" y="1386"/>
                </a:lnTo>
                <a:lnTo>
                  <a:pt x="402" y="1386"/>
                </a:lnTo>
                <a:lnTo>
                  <a:pt x="402" y="1386"/>
                </a:lnTo>
                <a:lnTo>
                  <a:pt x="668" y="1386"/>
                </a:lnTo>
                <a:lnTo>
                  <a:pt x="668" y="1386"/>
                </a:lnTo>
                <a:lnTo>
                  <a:pt x="668" y="1386"/>
                </a:lnTo>
                <a:lnTo>
                  <a:pt x="668" y="1386"/>
                </a:lnTo>
                <a:lnTo>
                  <a:pt x="674" y="1388"/>
                </a:lnTo>
                <a:lnTo>
                  <a:pt x="674" y="1388"/>
                </a:lnTo>
                <a:lnTo>
                  <a:pt x="674" y="1388"/>
                </a:lnTo>
                <a:lnTo>
                  <a:pt x="674" y="1388"/>
                </a:lnTo>
                <a:lnTo>
                  <a:pt x="686" y="1392"/>
                </a:lnTo>
                <a:lnTo>
                  <a:pt x="686" y="1392"/>
                </a:lnTo>
                <a:lnTo>
                  <a:pt x="688" y="1394"/>
                </a:lnTo>
                <a:lnTo>
                  <a:pt x="688" y="1394"/>
                </a:lnTo>
                <a:lnTo>
                  <a:pt x="692" y="1394"/>
                </a:lnTo>
                <a:lnTo>
                  <a:pt x="692" y="1394"/>
                </a:lnTo>
                <a:lnTo>
                  <a:pt x="694" y="1396"/>
                </a:lnTo>
                <a:lnTo>
                  <a:pt x="694" y="1396"/>
                </a:lnTo>
                <a:lnTo>
                  <a:pt x="696" y="1398"/>
                </a:lnTo>
                <a:lnTo>
                  <a:pt x="696" y="1398"/>
                </a:lnTo>
                <a:lnTo>
                  <a:pt x="700" y="1398"/>
                </a:lnTo>
                <a:lnTo>
                  <a:pt x="700" y="1398"/>
                </a:lnTo>
                <a:lnTo>
                  <a:pt x="702" y="1400"/>
                </a:lnTo>
                <a:lnTo>
                  <a:pt x="702" y="1400"/>
                </a:lnTo>
                <a:lnTo>
                  <a:pt x="704" y="1402"/>
                </a:lnTo>
                <a:lnTo>
                  <a:pt x="704" y="1402"/>
                </a:lnTo>
                <a:lnTo>
                  <a:pt x="706" y="1402"/>
                </a:lnTo>
                <a:lnTo>
                  <a:pt x="706" y="1402"/>
                </a:lnTo>
                <a:lnTo>
                  <a:pt x="710" y="1406"/>
                </a:lnTo>
                <a:lnTo>
                  <a:pt x="710" y="1406"/>
                </a:lnTo>
                <a:lnTo>
                  <a:pt x="710" y="1406"/>
                </a:lnTo>
                <a:lnTo>
                  <a:pt x="710" y="1406"/>
                </a:lnTo>
                <a:lnTo>
                  <a:pt x="714" y="1410"/>
                </a:lnTo>
                <a:lnTo>
                  <a:pt x="714" y="1410"/>
                </a:lnTo>
                <a:lnTo>
                  <a:pt x="716" y="1410"/>
                </a:lnTo>
                <a:lnTo>
                  <a:pt x="716" y="1410"/>
                </a:lnTo>
                <a:lnTo>
                  <a:pt x="718" y="1412"/>
                </a:lnTo>
                <a:lnTo>
                  <a:pt x="718" y="1412"/>
                </a:lnTo>
                <a:lnTo>
                  <a:pt x="720" y="1414"/>
                </a:lnTo>
                <a:lnTo>
                  <a:pt x="720" y="1414"/>
                </a:lnTo>
                <a:lnTo>
                  <a:pt x="722" y="1416"/>
                </a:lnTo>
                <a:lnTo>
                  <a:pt x="722" y="1416"/>
                </a:lnTo>
                <a:lnTo>
                  <a:pt x="722" y="1418"/>
                </a:lnTo>
                <a:lnTo>
                  <a:pt x="722" y="1418"/>
                </a:lnTo>
                <a:lnTo>
                  <a:pt x="724" y="1420"/>
                </a:lnTo>
                <a:lnTo>
                  <a:pt x="724" y="1420"/>
                </a:lnTo>
                <a:lnTo>
                  <a:pt x="724" y="1422"/>
                </a:lnTo>
                <a:lnTo>
                  <a:pt x="724" y="1422"/>
                </a:lnTo>
                <a:lnTo>
                  <a:pt x="726" y="1424"/>
                </a:lnTo>
                <a:lnTo>
                  <a:pt x="726" y="1424"/>
                </a:lnTo>
                <a:lnTo>
                  <a:pt x="726" y="1426"/>
                </a:lnTo>
                <a:lnTo>
                  <a:pt x="726" y="1426"/>
                </a:lnTo>
                <a:lnTo>
                  <a:pt x="726" y="1430"/>
                </a:lnTo>
                <a:lnTo>
                  <a:pt x="726" y="1430"/>
                </a:lnTo>
                <a:lnTo>
                  <a:pt x="726" y="1430"/>
                </a:lnTo>
                <a:lnTo>
                  <a:pt x="726" y="1430"/>
                </a:lnTo>
                <a:lnTo>
                  <a:pt x="726" y="1430"/>
                </a:lnTo>
                <a:lnTo>
                  <a:pt x="726" y="1430"/>
                </a:lnTo>
                <a:lnTo>
                  <a:pt x="726" y="1430"/>
                </a:lnTo>
                <a:lnTo>
                  <a:pt x="726" y="1436"/>
                </a:lnTo>
                <a:lnTo>
                  <a:pt x="726" y="1436"/>
                </a:lnTo>
                <a:lnTo>
                  <a:pt x="726" y="1438"/>
                </a:lnTo>
                <a:lnTo>
                  <a:pt x="726" y="1438"/>
                </a:lnTo>
                <a:lnTo>
                  <a:pt x="726" y="1442"/>
                </a:lnTo>
                <a:lnTo>
                  <a:pt x="726" y="1442"/>
                </a:lnTo>
                <a:lnTo>
                  <a:pt x="724" y="1444"/>
                </a:lnTo>
                <a:lnTo>
                  <a:pt x="724" y="1444"/>
                </a:lnTo>
                <a:lnTo>
                  <a:pt x="724" y="1448"/>
                </a:lnTo>
                <a:lnTo>
                  <a:pt x="724" y="1448"/>
                </a:lnTo>
                <a:lnTo>
                  <a:pt x="724" y="1448"/>
                </a:lnTo>
                <a:lnTo>
                  <a:pt x="724" y="1448"/>
                </a:lnTo>
                <a:lnTo>
                  <a:pt x="720" y="1458"/>
                </a:lnTo>
                <a:lnTo>
                  <a:pt x="716" y="1464"/>
                </a:lnTo>
                <a:lnTo>
                  <a:pt x="710" y="1470"/>
                </a:lnTo>
                <a:lnTo>
                  <a:pt x="704" y="1476"/>
                </a:lnTo>
                <a:lnTo>
                  <a:pt x="690" y="1484"/>
                </a:lnTo>
                <a:lnTo>
                  <a:pt x="676" y="1492"/>
                </a:lnTo>
                <a:lnTo>
                  <a:pt x="676" y="1492"/>
                </a:lnTo>
                <a:lnTo>
                  <a:pt x="674" y="1494"/>
                </a:lnTo>
                <a:lnTo>
                  <a:pt x="674" y="1494"/>
                </a:lnTo>
                <a:lnTo>
                  <a:pt x="672" y="1494"/>
                </a:lnTo>
                <a:lnTo>
                  <a:pt x="672" y="1494"/>
                </a:lnTo>
                <a:lnTo>
                  <a:pt x="668" y="1498"/>
                </a:lnTo>
                <a:lnTo>
                  <a:pt x="668" y="1498"/>
                </a:lnTo>
                <a:lnTo>
                  <a:pt x="666" y="1498"/>
                </a:lnTo>
                <a:lnTo>
                  <a:pt x="666" y="1498"/>
                </a:lnTo>
                <a:lnTo>
                  <a:pt x="662" y="1502"/>
                </a:lnTo>
                <a:lnTo>
                  <a:pt x="662" y="1502"/>
                </a:lnTo>
                <a:lnTo>
                  <a:pt x="660" y="1504"/>
                </a:lnTo>
                <a:lnTo>
                  <a:pt x="660" y="1504"/>
                </a:lnTo>
                <a:lnTo>
                  <a:pt x="656" y="1508"/>
                </a:lnTo>
                <a:lnTo>
                  <a:pt x="656" y="1508"/>
                </a:lnTo>
                <a:lnTo>
                  <a:pt x="656" y="1508"/>
                </a:lnTo>
                <a:lnTo>
                  <a:pt x="656" y="1508"/>
                </a:lnTo>
                <a:lnTo>
                  <a:pt x="652" y="1514"/>
                </a:lnTo>
                <a:lnTo>
                  <a:pt x="652" y="1514"/>
                </a:lnTo>
                <a:lnTo>
                  <a:pt x="652" y="1514"/>
                </a:lnTo>
                <a:lnTo>
                  <a:pt x="652" y="1514"/>
                </a:lnTo>
                <a:lnTo>
                  <a:pt x="650" y="1522"/>
                </a:lnTo>
                <a:lnTo>
                  <a:pt x="650" y="1522"/>
                </a:lnTo>
                <a:lnTo>
                  <a:pt x="650" y="1522"/>
                </a:lnTo>
                <a:lnTo>
                  <a:pt x="650" y="1522"/>
                </a:lnTo>
                <a:lnTo>
                  <a:pt x="648" y="1530"/>
                </a:lnTo>
                <a:lnTo>
                  <a:pt x="648" y="1530"/>
                </a:lnTo>
                <a:lnTo>
                  <a:pt x="648" y="1532"/>
                </a:lnTo>
                <a:lnTo>
                  <a:pt x="648" y="1532"/>
                </a:lnTo>
                <a:lnTo>
                  <a:pt x="646" y="1540"/>
                </a:lnTo>
                <a:lnTo>
                  <a:pt x="646" y="1540"/>
                </a:lnTo>
                <a:lnTo>
                  <a:pt x="648" y="1552"/>
                </a:lnTo>
                <a:lnTo>
                  <a:pt x="650" y="1562"/>
                </a:lnTo>
                <a:lnTo>
                  <a:pt x="656" y="1572"/>
                </a:lnTo>
                <a:lnTo>
                  <a:pt x="662" y="1580"/>
                </a:lnTo>
                <a:lnTo>
                  <a:pt x="670" y="1588"/>
                </a:lnTo>
                <a:lnTo>
                  <a:pt x="680" y="1594"/>
                </a:lnTo>
                <a:lnTo>
                  <a:pt x="700" y="1606"/>
                </a:lnTo>
                <a:lnTo>
                  <a:pt x="724" y="1614"/>
                </a:lnTo>
                <a:lnTo>
                  <a:pt x="748" y="1620"/>
                </a:lnTo>
                <a:lnTo>
                  <a:pt x="770" y="1624"/>
                </a:lnTo>
                <a:lnTo>
                  <a:pt x="790" y="1624"/>
                </a:lnTo>
                <a:lnTo>
                  <a:pt x="790" y="1624"/>
                </a:lnTo>
                <a:lnTo>
                  <a:pt x="810" y="1624"/>
                </a:lnTo>
                <a:lnTo>
                  <a:pt x="832" y="1620"/>
                </a:lnTo>
                <a:lnTo>
                  <a:pt x="856" y="1614"/>
                </a:lnTo>
                <a:lnTo>
                  <a:pt x="880" y="1606"/>
                </a:lnTo>
                <a:lnTo>
                  <a:pt x="902" y="1594"/>
                </a:lnTo>
                <a:lnTo>
                  <a:pt x="910" y="1588"/>
                </a:lnTo>
                <a:lnTo>
                  <a:pt x="918" y="1580"/>
                </a:lnTo>
                <a:lnTo>
                  <a:pt x="926" y="1572"/>
                </a:lnTo>
                <a:lnTo>
                  <a:pt x="930" y="1562"/>
                </a:lnTo>
                <a:lnTo>
                  <a:pt x="934" y="1552"/>
                </a:lnTo>
                <a:lnTo>
                  <a:pt x="934" y="1540"/>
                </a:lnTo>
                <a:lnTo>
                  <a:pt x="934" y="1540"/>
                </a:lnTo>
                <a:lnTo>
                  <a:pt x="934" y="1532"/>
                </a:lnTo>
                <a:lnTo>
                  <a:pt x="934" y="1532"/>
                </a:lnTo>
                <a:lnTo>
                  <a:pt x="934" y="1530"/>
                </a:lnTo>
                <a:lnTo>
                  <a:pt x="934" y="1530"/>
                </a:lnTo>
                <a:lnTo>
                  <a:pt x="932" y="1522"/>
                </a:lnTo>
                <a:lnTo>
                  <a:pt x="932" y="1522"/>
                </a:lnTo>
                <a:lnTo>
                  <a:pt x="930" y="1522"/>
                </a:lnTo>
                <a:lnTo>
                  <a:pt x="930" y="1522"/>
                </a:lnTo>
                <a:lnTo>
                  <a:pt x="928" y="1514"/>
                </a:lnTo>
                <a:lnTo>
                  <a:pt x="928" y="1514"/>
                </a:lnTo>
                <a:lnTo>
                  <a:pt x="928" y="1514"/>
                </a:lnTo>
                <a:lnTo>
                  <a:pt x="928" y="1514"/>
                </a:lnTo>
                <a:lnTo>
                  <a:pt x="924" y="1508"/>
                </a:lnTo>
                <a:lnTo>
                  <a:pt x="924" y="1508"/>
                </a:lnTo>
                <a:lnTo>
                  <a:pt x="924" y="1508"/>
                </a:lnTo>
                <a:lnTo>
                  <a:pt x="924" y="1508"/>
                </a:lnTo>
                <a:lnTo>
                  <a:pt x="920" y="1504"/>
                </a:lnTo>
                <a:lnTo>
                  <a:pt x="920" y="1504"/>
                </a:lnTo>
                <a:lnTo>
                  <a:pt x="918" y="1502"/>
                </a:lnTo>
                <a:lnTo>
                  <a:pt x="918" y="1502"/>
                </a:lnTo>
                <a:lnTo>
                  <a:pt x="914" y="1498"/>
                </a:lnTo>
                <a:lnTo>
                  <a:pt x="914" y="1498"/>
                </a:lnTo>
                <a:lnTo>
                  <a:pt x="912" y="1498"/>
                </a:lnTo>
                <a:lnTo>
                  <a:pt x="912" y="1498"/>
                </a:lnTo>
                <a:lnTo>
                  <a:pt x="908" y="1494"/>
                </a:lnTo>
                <a:lnTo>
                  <a:pt x="908" y="1494"/>
                </a:lnTo>
                <a:lnTo>
                  <a:pt x="906" y="1494"/>
                </a:lnTo>
                <a:lnTo>
                  <a:pt x="906" y="1494"/>
                </a:lnTo>
                <a:lnTo>
                  <a:pt x="904" y="1492"/>
                </a:lnTo>
                <a:lnTo>
                  <a:pt x="904" y="1492"/>
                </a:lnTo>
                <a:lnTo>
                  <a:pt x="890" y="1484"/>
                </a:lnTo>
                <a:lnTo>
                  <a:pt x="878" y="1476"/>
                </a:lnTo>
                <a:lnTo>
                  <a:pt x="866" y="1466"/>
                </a:lnTo>
                <a:lnTo>
                  <a:pt x="862" y="1460"/>
                </a:lnTo>
                <a:lnTo>
                  <a:pt x="858" y="1454"/>
                </a:lnTo>
                <a:lnTo>
                  <a:pt x="858" y="1454"/>
                </a:lnTo>
                <a:lnTo>
                  <a:pt x="858" y="1454"/>
                </a:lnTo>
                <a:lnTo>
                  <a:pt x="858" y="1454"/>
                </a:lnTo>
                <a:lnTo>
                  <a:pt x="856" y="1448"/>
                </a:lnTo>
                <a:lnTo>
                  <a:pt x="856" y="1448"/>
                </a:lnTo>
                <a:lnTo>
                  <a:pt x="856" y="1448"/>
                </a:lnTo>
                <a:lnTo>
                  <a:pt x="856" y="1448"/>
                </a:lnTo>
                <a:lnTo>
                  <a:pt x="856" y="1444"/>
                </a:lnTo>
                <a:lnTo>
                  <a:pt x="856" y="1444"/>
                </a:lnTo>
                <a:lnTo>
                  <a:pt x="856" y="1442"/>
                </a:lnTo>
                <a:lnTo>
                  <a:pt x="856" y="1442"/>
                </a:lnTo>
                <a:lnTo>
                  <a:pt x="854" y="1438"/>
                </a:lnTo>
                <a:lnTo>
                  <a:pt x="854" y="1438"/>
                </a:lnTo>
                <a:lnTo>
                  <a:pt x="854" y="1436"/>
                </a:lnTo>
                <a:lnTo>
                  <a:pt x="854" y="1436"/>
                </a:lnTo>
                <a:lnTo>
                  <a:pt x="854" y="1430"/>
                </a:lnTo>
                <a:lnTo>
                  <a:pt x="854" y="1430"/>
                </a:lnTo>
                <a:lnTo>
                  <a:pt x="854" y="1430"/>
                </a:lnTo>
                <a:lnTo>
                  <a:pt x="854" y="1430"/>
                </a:lnTo>
                <a:lnTo>
                  <a:pt x="854" y="1430"/>
                </a:lnTo>
                <a:lnTo>
                  <a:pt x="854" y="1430"/>
                </a:lnTo>
                <a:lnTo>
                  <a:pt x="854" y="1430"/>
                </a:lnTo>
                <a:lnTo>
                  <a:pt x="854" y="1426"/>
                </a:lnTo>
                <a:lnTo>
                  <a:pt x="854" y="1426"/>
                </a:lnTo>
                <a:lnTo>
                  <a:pt x="856" y="1424"/>
                </a:lnTo>
                <a:lnTo>
                  <a:pt x="856" y="1424"/>
                </a:lnTo>
                <a:lnTo>
                  <a:pt x="856" y="1422"/>
                </a:lnTo>
                <a:lnTo>
                  <a:pt x="856" y="1422"/>
                </a:lnTo>
                <a:lnTo>
                  <a:pt x="856" y="1420"/>
                </a:lnTo>
                <a:lnTo>
                  <a:pt x="856" y="1420"/>
                </a:lnTo>
                <a:lnTo>
                  <a:pt x="858" y="1418"/>
                </a:lnTo>
                <a:lnTo>
                  <a:pt x="858" y="1418"/>
                </a:lnTo>
                <a:lnTo>
                  <a:pt x="860" y="1416"/>
                </a:lnTo>
                <a:lnTo>
                  <a:pt x="860" y="1416"/>
                </a:lnTo>
                <a:lnTo>
                  <a:pt x="862" y="1414"/>
                </a:lnTo>
                <a:lnTo>
                  <a:pt x="862" y="1414"/>
                </a:lnTo>
                <a:lnTo>
                  <a:pt x="862" y="1412"/>
                </a:lnTo>
                <a:lnTo>
                  <a:pt x="862" y="1412"/>
                </a:lnTo>
                <a:lnTo>
                  <a:pt x="864" y="1410"/>
                </a:lnTo>
                <a:lnTo>
                  <a:pt x="864" y="1410"/>
                </a:lnTo>
                <a:lnTo>
                  <a:pt x="866" y="1410"/>
                </a:lnTo>
                <a:lnTo>
                  <a:pt x="866" y="1410"/>
                </a:lnTo>
                <a:lnTo>
                  <a:pt x="870" y="1406"/>
                </a:lnTo>
                <a:lnTo>
                  <a:pt x="870" y="1406"/>
                </a:lnTo>
                <a:lnTo>
                  <a:pt x="870" y="1406"/>
                </a:lnTo>
                <a:lnTo>
                  <a:pt x="870" y="1406"/>
                </a:lnTo>
                <a:lnTo>
                  <a:pt x="874" y="1402"/>
                </a:lnTo>
                <a:lnTo>
                  <a:pt x="874" y="1402"/>
                </a:lnTo>
                <a:lnTo>
                  <a:pt x="876" y="1402"/>
                </a:lnTo>
                <a:lnTo>
                  <a:pt x="876" y="1402"/>
                </a:lnTo>
                <a:lnTo>
                  <a:pt x="880" y="1400"/>
                </a:lnTo>
                <a:lnTo>
                  <a:pt x="880" y="1400"/>
                </a:lnTo>
                <a:lnTo>
                  <a:pt x="882" y="1398"/>
                </a:lnTo>
                <a:lnTo>
                  <a:pt x="882" y="1398"/>
                </a:lnTo>
                <a:lnTo>
                  <a:pt x="884" y="1398"/>
                </a:lnTo>
                <a:lnTo>
                  <a:pt x="884" y="1398"/>
                </a:lnTo>
                <a:lnTo>
                  <a:pt x="886" y="1396"/>
                </a:lnTo>
                <a:lnTo>
                  <a:pt x="886" y="1396"/>
                </a:lnTo>
                <a:lnTo>
                  <a:pt x="890" y="1394"/>
                </a:lnTo>
                <a:lnTo>
                  <a:pt x="890" y="1394"/>
                </a:lnTo>
                <a:lnTo>
                  <a:pt x="892" y="1394"/>
                </a:lnTo>
                <a:lnTo>
                  <a:pt x="892" y="1394"/>
                </a:lnTo>
                <a:lnTo>
                  <a:pt x="894" y="1392"/>
                </a:lnTo>
                <a:lnTo>
                  <a:pt x="894" y="1392"/>
                </a:lnTo>
                <a:lnTo>
                  <a:pt x="906" y="1388"/>
                </a:lnTo>
                <a:lnTo>
                  <a:pt x="906" y="1388"/>
                </a:lnTo>
                <a:lnTo>
                  <a:pt x="908" y="1388"/>
                </a:lnTo>
                <a:lnTo>
                  <a:pt x="908" y="1388"/>
                </a:lnTo>
                <a:lnTo>
                  <a:pt x="912" y="1386"/>
                </a:lnTo>
                <a:lnTo>
                  <a:pt x="912" y="1386"/>
                </a:lnTo>
                <a:lnTo>
                  <a:pt x="912" y="1386"/>
                </a:lnTo>
                <a:lnTo>
                  <a:pt x="1200" y="1386"/>
                </a:lnTo>
                <a:lnTo>
                  <a:pt x="1200" y="1384"/>
                </a:lnTo>
                <a:lnTo>
                  <a:pt x="1200" y="1384"/>
                </a:lnTo>
                <a:lnTo>
                  <a:pt x="1600" y="694"/>
                </a:lnTo>
                <a:lnTo>
                  <a:pt x="1200" y="0"/>
                </a:lnTo>
                <a:close/>
              </a:path>
            </a:pathLst>
          </a:custGeom>
          <a:solidFill>
            <a:srgbClr val="FBFB37"/>
          </a:solidFill>
          <a:ln w="38100" cap="flat" cmpd="sng">
            <a:solidFill>
              <a:srgbClr val="5F5F5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dirty="0" smtClean="0"/>
              <a:t>        </a:t>
            </a:r>
          </a:p>
          <a:p>
            <a:r>
              <a:rPr lang="en-US" dirty="0"/>
              <a:t> </a:t>
            </a:r>
            <a:r>
              <a:rPr lang="en-US" dirty="0" smtClean="0"/>
              <a:t>       Billing </a:t>
            </a:r>
          </a:p>
          <a:p>
            <a:r>
              <a:rPr lang="en-US" dirty="0" smtClean="0"/>
              <a:t>XML over RPC</a:t>
            </a:r>
            <a:endParaRPr lang="en-US" dirty="0"/>
          </a:p>
        </p:txBody>
      </p:sp>
      <p:sp>
        <p:nvSpPr>
          <p:cNvPr id="86032" name="Rectangle 16"/>
          <p:cNvSpPr>
            <a:spLocks noGrp="1" noChangeArrowheads="1"/>
          </p:cNvSpPr>
          <p:nvPr>
            <p:ph type="title"/>
          </p:nvPr>
        </p:nvSpPr>
        <p:spPr/>
        <p:txBody>
          <a:bodyPr/>
          <a:lstStyle/>
          <a:p>
            <a:r>
              <a:rPr lang="en-GB" smtClean="0"/>
              <a:t>Information System</a:t>
            </a:r>
            <a:endParaRPr lang="en-GB" dirty="0"/>
          </a:p>
        </p:txBody>
      </p:sp>
    </p:spTree>
    <p:extLst>
      <p:ext uri="{BB962C8B-B14F-4D97-AF65-F5344CB8AC3E}">
        <p14:creationId xmlns:p14="http://schemas.microsoft.com/office/powerpoint/2010/main" val="279958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Integration Architecture Approach</a:t>
            </a:r>
            <a:endParaRPr lang="en-IN" dirty="0"/>
          </a:p>
        </p:txBody>
      </p:sp>
      <p:sp>
        <p:nvSpPr>
          <p:cNvPr id="6"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Point to Point Architecture </a:t>
            </a:r>
          </a:p>
          <a:p>
            <a:r>
              <a:rPr lang="en-US" dirty="0"/>
              <a:t>Hub and Spoke Architecture</a:t>
            </a:r>
          </a:p>
          <a:p>
            <a:r>
              <a:rPr lang="en-US" dirty="0"/>
              <a:t>Distributed Integration Architecture or Peer to Peer Architecture </a:t>
            </a:r>
          </a:p>
          <a:p>
            <a:r>
              <a:rPr lang="en-US" dirty="0"/>
              <a:t>Service Oriented Architecture Integration Approach </a:t>
            </a:r>
          </a:p>
        </p:txBody>
      </p:sp>
    </p:spTree>
    <p:extLst>
      <p:ext uri="{BB962C8B-B14F-4D97-AF65-F5344CB8AC3E}">
        <p14:creationId xmlns:p14="http://schemas.microsoft.com/office/powerpoint/2010/main" val="32143467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 to Point</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0" y="1862137"/>
            <a:ext cx="4953000" cy="3133725"/>
          </a:xfrm>
          <a:prstGeom prst="rect">
            <a:avLst/>
          </a:prstGeom>
        </p:spPr>
      </p:pic>
    </p:spTree>
    <p:extLst>
      <p:ext uri="{BB962C8B-B14F-4D97-AF65-F5344CB8AC3E}">
        <p14:creationId xmlns:p14="http://schemas.microsoft.com/office/powerpoint/2010/main" val="35555883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P2P</a:t>
            </a:r>
            <a:endParaRPr lang="en-IN" dirty="0"/>
          </a:p>
        </p:txBody>
      </p:sp>
      <p:sp>
        <p:nvSpPr>
          <p:cNvPr id="6"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Advantages </a:t>
            </a:r>
            <a:endParaRPr lang="en-US" sz="2400" dirty="0" smtClean="0"/>
          </a:p>
          <a:p>
            <a:pPr lvl="1"/>
            <a:r>
              <a:rPr lang="en-US" sz="2400" dirty="0" smtClean="0"/>
              <a:t> </a:t>
            </a:r>
            <a:r>
              <a:rPr lang="en-US" sz="2400" dirty="0"/>
              <a:t>Point to point solutions are often fast and efficient  </a:t>
            </a:r>
          </a:p>
          <a:p>
            <a:pPr lvl="1"/>
            <a:r>
              <a:rPr lang="en-US" sz="2400" dirty="0"/>
              <a:t> The efficiency is derived from applications being tightly coupled </a:t>
            </a:r>
          </a:p>
          <a:p>
            <a:r>
              <a:rPr lang="en-US" sz="2400" dirty="0"/>
              <a:t> Disadvantages  </a:t>
            </a:r>
            <a:endParaRPr lang="en-US" sz="2400" dirty="0" smtClean="0"/>
          </a:p>
          <a:p>
            <a:pPr lvl="1"/>
            <a:r>
              <a:rPr lang="en-US" sz="2400" dirty="0" smtClean="0"/>
              <a:t>Complexity </a:t>
            </a:r>
            <a:r>
              <a:rPr lang="en-US" sz="2400" dirty="0"/>
              <a:t>increases as applications increase resulting in high maintenance cost </a:t>
            </a:r>
            <a:endParaRPr lang="en-US" sz="2400" dirty="0" smtClean="0"/>
          </a:p>
          <a:p>
            <a:pPr lvl="1"/>
            <a:r>
              <a:rPr lang="en-US" sz="2400" dirty="0" smtClean="0"/>
              <a:t>Lack </a:t>
            </a:r>
            <a:r>
              <a:rPr lang="en-US" sz="2400" dirty="0"/>
              <a:t>of flexibility </a:t>
            </a:r>
          </a:p>
          <a:p>
            <a:pPr lvl="1"/>
            <a:r>
              <a:rPr lang="en-US" sz="2400" dirty="0" smtClean="0"/>
              <a:t> </a:t>
            </a:r>
            <a:r>
              <a:rPr lang="en-US" sz="2400" dirty="0"/>
              <a:t>Tightly coupled nature makes it difficult to manage </a:t>
            </a:r>
          </a:p>
        </p:txBody>
      </p:sp>
    </p:spTree>
    <p:extLst>
      <p:ext uri="{BB962C8B-B14F-4D97-AF65-F5344CB8AC3E}">
        <p14:creationId xmlns:p14="http://schemas.microsoft.com/office/powerpoint/2010/main" val="12000701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Hub and Spoke</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0" y="1866900"/>
            <a:ext cx="4953000" cy="3124200"/>
          </a:xfrm>
          <a:prstGeom prst="rect">
            <a:avLst/>
          </a:prstGeom>
        </p:spPr>
      </p:pic>
    </p:spTree>
    <p:extLst>
      <p:ext uri="{BB962C8B-B14F-4D97-AF65-F5344CB8AC3E}">
        <p14:creationId xmlns:p14="http://schemas.microsoft.com/office/powerpoint/2010/main" val="24267409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Hub And Spoke</a:t>
            </a:r>
            <a:endParaRPr lang="en-IN" dirty="0"/>
          </a:p>
        </p:txBody>
      </p:sp>
      <p:sp>
        <p:nvSpPr>
          <p:cNvPr id="6"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Advantages </a:t>
            </a:r>
            <a:endParaRPr lang="en-US" sz="2000" dirty="0" smtClean="0"/>
          </a:p>
          <a:p>
            <a:pPr lvl="1"/>
            <a:r>
              <a:rPr lang="en-US" sz="2000" dirty="0" smtClean="0"/>
              <a:t> </a:t>
            </a:r>
            <a:r>
              <a:rPr lang="en-US" sz="2000" dirty="0"/>
              <a:t>Less complex than Point to Point. </a:t>
            </a:r>
            <a:endParaRPr lang="en-US" sz="2000" dirty="0" smtClean="0"/>
          </a:p>
          <a:p>
            <a:pPr lvl="1"/>
            <a:r>
              <a:rPr lang="en-US" sz="2000" dirty="0" smtClean="0"/>
              <a:t>Preferred </a:t>
            </a:r>
            <a:r>
              <a:rPr lang="en-US" sz="2000" dirty="0"/>
              <a:t>architecture for achieving an easily controlled and managed environment in medium sized integration project. </a:t>
            </a:r>
          </a:p>
          <a:p>
            <a:r>
              <a:rPr lang="en-US" sz="2000" dirty="0" smtClean="0"/>
              <a:t>Disadvantages </a:t>
            </a:r>
            <a:r>
              <a:rPr lang="en-US" sz="2000" dirty="0"/>
              <a:t>: </a:t>
            </a:r>
            <a:endParaRPr lang="en-US" sz="2000" dirty="0" smtClean="0"/>
          </a:p>
          <a:p>
            <a:pPr lvl="1"/>
            <a:r>
              <a:rPr lang="en-US" sz="2000" dirty="0" smtClean="0"/>
              <a:t>Too </a:t>
            </a:r>
            <a:r>
              <a:rPr lang="en-US" sz="2000" dirty="0"/>
              <a:t>much processing taking place in central hub. </a:t>
            </a:r>
            <a:endParaRPr lang="en-US" sz="2000" dirty="0" smtClean="0"/>
          </a:p>
          <a:p>
            <a:pPr lvl="1"/>
            <a:r>
              <a:rPr lang="en-US" sz="2000" dirty="0" smtClean="0"/>
              <a:t>Lack </a:t>
            </a:r>
            <a:r>
              <a:rPr lang="en-US" sz="2000" dirty="0"/>
              <a:t>of standards </a:t>
            </a:r>
            <a:endParaRPr lang="en-US" sz="2000" dirty="0" smtClean="0"/>
          </a:p>
          <a:p>
            <a:pPr lvl="1"/>
            <a:r>
              <a:rPr lang="en-US" sz="2000" dirty="0" smtClean="0"/>
              <a:t>Most </a:t>
            </a:r>
            <a:r>
              <a:rPr lang="en-US" sz="2000" dirty="0"/>
              <a:t>of the solutions are proprietary hence expensive </a:t>
            </a:r>
            <a:endParaRPr lang="en-US" sz="2000" dirty="0" smtClean="0"/>
          </a:p>
          <a:p>
            <a:pPr lvl="1"/>
            <a:r>
              <a:rPr lang="en-US" sz="2000" dirty="0" smtClean="0"/>
              <a:t>As </a:t>
            </a:r>
            <a:r>
              <a:rPr lang="en-US" sz="2000" dirty="0"/>
              <a:t>the number and complexity of processes increase, performance can suffer and hubs become difficult to manage, maintain and extend </a:t>
            </a:r>
            <a:endParaRPr lang="en-US" sz="2000" dirty="0" smtClean="0"/>
          </a:p>
          <a:p>
            <a:pPr lvl="1"/>
            <a:r>
              <a:rPr lang="en-US" sz="2000" dirty="0" smtClean="0"/>
              <a:t>Pure </a:t>
            </a:r>
            <a:r>
              <a:rPr lang="en-US" sz="2000" dirty="0"/>
              <a:t>Hub and Spoke implementations do not scale well. One solution is to create a federated architecture </a:t>
            </a:r>
          </a:p>
        </p:txBody>
      </p:sp>
    </p:spTree>
    <p:extLst>
      <p:ext uri="{BB962C8B-B14F-4D97-AF65-F5344CB8AC3E}">
        <p14:creationId xmlns:p14="http://schemas.microsoft.com/office/powerpoint/2010/main" val="38414261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a:t>
            </a:r>
            <a:r>
              <a:rPr lang="en-US" dirty="0" err="1" smtClean="0"/>
              <a:t>Architechture</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0" y="1862137"/>
            <a:ext cx="4953000" cy="3133725"/>
          </a:xfrm>
          <a:prstGeom prst="rect">
            <a:avLst/>
          </a:prstGeom>
        </p:spPr>
      </p:pic>
    </p:spTree>
    <p:extLst>
      <p:ext uri="{BB962C8B-B14F-4D97-AF65-F5344CB8AC3E}">
        <p14:creationId xmlns:p14="http://schemas.microsoft.com/office/powerpoint/2010/main" val="2185064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Distributed Architecture</a:t>
            </a:r>
            <a:endParaRPr lang="en-IN" dirty="0"/>
          </a:p>
        </p:txBody>
      </p:sp>
      <p:sp>
        <p:nvSpPr>
          <p:cNvPr id="6"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Advantages : </a:t>
            </a:r>
            <a:endParaRPr lang="en-US" dirty="0" smtClean="0"/>
          </a:p>
          <a:p>
            <a:pPr lvl="1"/>
            <a:r>
              <a:rPr lang="en-US" dirty="0" smtClean="0"/>
              <a:t>Distributed </a:t>
            </a:r>
            <a:r>
              <a:rPr lang="en-US" dirty="0"/>
              <a:t>work load Gain in processing efficiency Ability to scale well </a:t>
            </a:r>
            <a:endParaRPr lang="en-US" dirty="0" smtClean="0"/>
          </a:p>
          <a:p>
            <a:r>
              <a:rPr lang="en-US" dirty="0" smtClean="0"/>
              <a:t>Disadvantages </a:t>
            </a:r>
          </a:p>
          <a:p>
            <a:pPr lvl="1"/>
            <a:r>
              <a:rPr lang="en-US" dirty="0" smtClean="0"/>
              <a:t>Early </a:t>
            </a:r>
            <a:r>
              <a:rPr lang="en-US" dirty="0"/>
              <a:t>attempts at Distributed Architecture would work only where the internal and external facilities operated under the same distributed technology (CORBA, COM, JMI).</a:t>
            </a:r>
          </a:p>
        </p:txBody>
      </p:sp>
    </p:spTree>
    <p:extLst>
      <p:ext uri="{BB962C8B-B14F-4D97-AF65-F5344CB8AC3E}">
        <p14:creationId xmlns:p14="http://schemas.microsoft.com/office/powerpoint/2010/main" val="31677185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a:t>
            </a:r>
            <a:endParaRPr lang="en-IN" dirty="0"/>
          </a:p>
        </p:txBody>
      </p:sp>
      <p:pic>
        <p:nvPicPr>
          <p:cNvPr id="1026" name="Picture 2" descr="https://software.intel.com/sites/default/files/m/d/4/1/d/8/fsi-soa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5438775"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115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SOA</a:t>
            </a:r>
            <a:endParaRPr lang="en-IN" dirty="0"/>
          </a:p>
        </p:txBody>
      </p:sp>
      <p:sp>
        <p:nvSpPr>
          <p:cNvPr id="6" name="Content Placeholder 2"/>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Advantages </a:t>
            </a:r>
            <a:endParaRPr lang="en-US" dirty="0" smtClean="0"/>
          </a:p>
          <a:p>
            <a:pPr lvl="1"/>
            <a:r>
              <a:rPr lang="en-US" dirty="0" smtClean="0"/>
              <a:t>Web </a:t>
            </a:r>
            <a:r>
              <a:rPr lang="en-US" dirty="0"/>
              <a:t>services as the communication standard. Loosely coupled, granular </a:t>
            </a:r>
            <a:r>
              <a:rPr lang="en-US" dirty="0" smtClean="0"/>
              <a:t>Interoperability</a:t>
            </a:r>
          </a:p>
          <a:p>
            <a:pPr lvl="1"/>
            <a:r>
              <a:rPr lang="en-US" dirty="0" smtClean="0"/>
              <a:t>Efficiency </a:t>
            </a:r>
            <a:r>
              <a:rPr lang="en-US" dirty="0"/>
              <a:t>– Because of Reusable nature Scalable Reliable Secure </a:t>
            </a:r>
            <a:r>
              <a:rPr lang="en-US" dirty="0" smtClean="0"/>
              <a:t>Maintainable</a:t>
            </a:r>
          </a:p>
          <a:p>
            <a:pPr lvl="1"/>
            <a:r>
              <a:rPr lang="en-US" dirty="0" smtClean="0"/>
              <a:t> </a:t>
            </a:r>
            <a:r>
              <a:rPr lang="en-US" dirty="0"/>
              <a:t>ESB has become the accepted standard for the creation of an organizations Service oriented architecture</a:t>
            </a:r>
          </a:p>
        </p:txBody>
      </p:sp>
    </p:spTree>
    <p:extLst>
      <p:ext uri="{BB962C8B-B14F-4D97-AF65-F5344CB8AC3E}">
        <p14:creationId xmlns:p14="http://schemas.microsoft.com/office/powerpoint/2010/main" val="24786172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a:t>
            </a:r>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23</a:t>
            </a:fld>
            <a:endParaRPr lang="en-US" dirty="0"/>
          </a:p>
        </p:txBody>
      </p:sp>
      <p:sp>
        <p:nvSpPr>
          <p:cNvPr id="6" name="Rectangle 3"/>
          <p:cNvSpPr txBox="1">
            <a:spLocks noChangeArrowheads="1"/>
          </p:cNvSpPr>
          <p:nvPr/>
        </p:nvSpPr>
        <p:spPr bwMode="auto">
          <a:xfrm>
            <a:off x="533400" y="1146175"/>
            <a:ext cx="8316913" cy="5421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04813" indent="-287338" algn="l" rtl="0" eaLnBrk="1" fontAlgn="base" hangingPunct="1">
              <a:spcBef>
                <a:spcPct val="30000"/>
              </a:spcBef>
              <a:spcAft>
                <a:spcPct val="10000"/>
              </a:spcAft>
              <a:buClrTx/>
              <a:buSzPct val="75000"/>
              <a:buFont typeface="Wingdings" pitchFamily="2" charset="2"/>
              <a:buChar char="§"/>
              <a:defRPr sz="2000">
                <a:solidFill>
                  <a:schemeClr val="tx1"/>
                </a:solidFill>
                <a:latin typeface="+mn-lt"/>
                <a:ea typeface="ＭＳ Ｐゴシック" charset="-128"/>
                <a:cs typeface="ＭＳ Ｐゴシック" charset="-128"/>
              </a:defRPr>
            </a:lvl1pPr>
            <a:lvl2pPr marL="796925" indent="-228600" algn="l" rtl="0" eaLnBrk="1" fontAlgn="base" hangingPunct="1">
              <a:spcBef>
                <a:spcPct val="30000"/>
              </a:spcBef>
              <a:spcAft>
                <a:spcPct val="10000"/>
              </a:spcAft>
              <a:buClrTx/>
              <a:buSzPct val="75000"/>
              <a:buFont typeface="Wingdings" pitchFamily="2" charset="2"/>
              <a:buChar char="§"/>
              <a:defRPr sz="1800">
                <a:solidFill>
                  <a:schemeClr val="tx1"/>
                </a:solidFill>
                <a:latin typeface="+mn-lt"/>
                <a:ea typeface="ＭＳ Ｐゴシック" charset="-128"/>
              </a:defRPr>
            </a:lvl2pPr>
            <a:lvl3pPr marL="1254125" indent="-231775" algn="l" rtl="0" eaLnBrk="1" fontAlgn="base" hangingPunct="1">
              <a:spcBef>
                <a:spcPct val="30000"/>
              </a:spcBef>
              <a:spcAft>
                <a:spcPct val="10000"/>
              </a:spcAft>
              <a:buClrTx/>
              <a:buSzPct val="75000"/>
              <a:buFont typeface="Wingdings" pitchFamily="2" charset="2"/>
              <a:buChar char="§"/>
              <a:defRPr sz="1800" i="0">
                <a:solidFill>
                  <a:schemeClr val="tx1"/>
                </a:solidFill>
                <a:latin typeface="+mn-lt"/>
                <a:ea typeface="ヒラギノ角ゴ Pro W3" charset="-128"/>
                <a:cs typeface="ヒラギノ角ゴ Pro W3" charset="-128"/>
              </a:defRPr>
            </a:lvl3pPr>
            <a:lvl4pPr marL="1771650" indent="-295275"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4pPr>
            <a:lvl5pPr marL="2171700" indent="-241300"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5pPr>
            <a:lvl6pPr marL="28400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6pPr>
            <a:lvl7pPr marL="32972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7pPr>
            <a:lvl8pPr marL="37544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8pPr>
            <a:lvl9pPr marL="42116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9pPr>
          </a:lstStyle>
          <a:p>
            <a:r>
              <a:rPr lang="en-US" b="0" dirty="0" smtClean="0"/>
              <a:t>SOA is a software architecture model </a:t>
            </a:r>
          </a:p>
          <a:p>
            <a:pPr lvl="1"/>
            <a:r>
              <a:rPr lang="en-US" b="0" dirty="0" smtClean="0"/>
              <a:t>in which business functionality are logically grouped and encapsulated into </a:t>
            </a:r>
          </a:p>
          <a:p>
            <a:pPr lvl="2"/>
            <a:r>
              <a:rPr lang="en-US" b="0" dirty="0" smtClean="0"/>
              <a:t>self contained,</a:t>
            </a:r>
          </a:p>
          <a:p>
            <a:pPr lvl="2"/>
            <a:r>
              <a:rPr lang="en-US" b="0" dirty="0" smtClean="0"/>
              <a:t>distinct and reusable units </a:t>
            </a:r>
          </a:p>
          <a:p>
            <a:pPr lvl="2">
              <a:buFontTx/>
              <a:buNone/>
            </a:pPr>
            <a:r>
              <a:rPr lang="en-US" b="0" dirty="0" smtClean="0"/>
              <a:t>		called </a:t>
            </a:r>
            <a:r>
              <a:rPr lang="en-US" b="0" u="sng" dirty="0" smtClean="0"/>
              <a:t>services</a:t>
            </a:r>
            <a:r>
              <a:rPr lang="en-US" b="0" dirty="0" smtClean="0"/>
              <a:t> that</a:t>
            </a:r>
          </a:p>
          <a:p>
            <a:pPr lvl="2"/>
            <a:r>
              <a:rPr lang="en-US" b="0" dirty="0" smtClean="0"/>
              <a:t>represent a high level business concept </a:t>
            </a:r>
          </a:p>
          <a:p>
            <a:pPr lvl="2"/>
            <a:r>
              <a:rPr lang="en-US" b="0" dirty="0" smtClean="0"/>
              <a:t>can be distributed over a network </a:t>
            </a:r>
          </a:p>
          <a:p>
            <a:pPr lvl="2"/>
            <a:r>
              <a:rPr lang="en-US" b="0" dirty="0" smtClean="0"/>
              <a:t>can be  reused to create new business applications </a:t>
            </a:r>
          </a:p>
          <a:p>
            <a:pPr lvl="2"/>
            <a:r>
              <a:rPr lang="en-US" b="0" dirty="0" smtClean="0"/>
              <a:t>contain contract with  specification of the  purpose, functionality, interfaces (coarse grained), constraints, usage</a:t>
            </a:r>
            <a:r>
              <a:rPr lang="en-US" sz="1700" b="0" dirty="0" smtClean="0"/>
              <a:t> </a:t>
            </a:r>
          </a:p>
          <a:p>
            <a:pPr lvl="4">
              <a:lnSpc>
                <a:spcPct val="105000"/>
              </a:lnSpc>
              <a:buFontTx/>
              <a:buNone/>
            </a:pPr>
            <a:r>
              <a:rPr lang="en-US" sz="1900" b="0" dirty="0" smtClean="0"/>
              <a:t>... of the business functionality </a:t>
            </a:r>
            <a:endParaRPr lang="en-US" sz="1900" b="0" dirty="0"/>
          </a:p>
        </p:txBody>
      </p:sp>
    </p:spTree>
    <p:extLst>
      <p:ext uri="{BB962C8B-B14F-4D97-AF65-F5344CB8AC3E}">
        <p14:creationId xmlns:p14="http://schemas.microsoft.com/office/powerpoint/2010/main" val="45044015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Level View of SOA</a:t>
            </a:r>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24</a:t>
            </a:fld>
            <a:endParaRPr lang="en-US" dirty="0"/>
          </a:p>
        </p:txBody>
      </p:sp>
      <p:sp>
        <p:nvSpPr>
          <p:cNvPr id="6" name="AutoShape 3"/>
          <p:cNvSpPr>
            <a:spLocks noChangeArrowheads="1"/>
          </p:cNvSpPr>
          <p:nvPr/>
        </p:nvSpPr>
        <p:spPr bwMode="auto">
          <a:xfrm>
            <a:off x="4692650" y="3698875"/>
            <a:ext cx="3702050" cy="666750"/>
          </a:xfrm>
          <a:prstGeom prst="parallelogram">
            <a:avLst>
              <a:gd name="adj" fmla="val 138810"/>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7" name="AutoShape 4"/>
          <p:cNvSpPr>
            <a:spLocks noChangeArrowheads="1"/>
          </p:cNvSpPr>
          <p:nvPr/>
        </p:nvSpPr>
        <p:spPr bwMode="auto">
          <a:xfrm>
            <a:off x="4676775" y="3516313"/>
            <a:ext cx="3702050" cy="633412"/>
          </a:xfrm>
          <a:prstGeom prst="parallelogram">
            <a:avLst>
              <a:gd name="adj" fmla="val 146115"/>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8" name="Text Box 6"/>
          <p:cNvSpPr txBox="1">
            <a:spLocks noChangeArrowheads="1"/>
          </p:cNvSpPr>
          <p:nvPr/>
        </p:nvSpPr>
        <p:spPr bwMode="auto">
          <a:xfrm>
            <a:off x="946150" y="1157288"/>
            <a:ext cx="333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1950" indent="-361950" algn="l">
              <a:defRPr>
                <a:solidFill>
                  <a:schemeClr val="tx1"/>
                </a:solidFill>
                <a:latin typeface="Arial" charset="0"/>
              </a:defRPr>
            </a:lvl1pPr>
            <a:lvl2pPr marL="541338" algn="l">
              <a:defRPr>
                <a:solidFill>
                  <a:schemeClr val="tx1"/>
                </a:solidFill>
                <a:latin typeface="Arial" charset="0"/>
              </a:defRPr>
            </a:lvl2pPr>
            <a:lvl3pPr algn="l">
              <a:defRPr>
                <a:solidFill>
                  <a:schemeClr val="tx1"/>
                </a:solidFill>
                <a:latin typeface="Arial" charset="0"/>
              </a:defRPr>
            </a:lvl3pPr>
            <a:lvl4pPr algn="l">
              <a:defRPr>
                <a:solidFill>
                  <a:schemeClr val="tx1"/>
                </a:solidFill>
                <a:latin typeface="Arial" charset="0"/>
              </a:defRPr>
            </a:lvl4pPr>
            <a:lvl5pPr algn="l">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buFontTx/>
              <a:buChar char="•"/>
            </a:pPr>
            <a:r>
              <a:rPr lang="en-US" sz="1800" dirty="0"/>
              <a:t>A collection of services</a:t>
            </a:r>
          </a:p>
        </p:txBody>
      </p:sp>
      <p:sp>
        <p:nvSpPr>
          <p:cNvPr id="9" name="Text Box 7"/>
          <p:cNvSpPr txBox="1">
            <a:spLocks noChangeArrowheads="1"/>
          </p:cNvSpPr>
          <p:nvPr/>
        </p:nvSpPr>
        <p:spPr bwMode="auto">
          <a:xfrm>
            <a:off x="958850" y="2338388"/>
            <a:ext cx="2527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61950" indent="-361950" algn="l">
              <a:defRPr>
                <a:solidFill>
                  <a:schemeClr val="tx1"/>
                </a:solidFill>
                <a:latin typeface="Arial" charset="0"/>
              </a:defRPr>
            </a:lvl1pPr>
            <a:lvl2pPr marL="541338" algn="l">
              <a:defRPr>
                <a:solidFill>
                  <a:schemeClr val="tx1"/>
                </a:solidFill>
                <a:latin typeface="Arial" charset="0"/>
              </a:defRPr>
            </a:lvl2pPr>
            <a:lvl3pPr algn="l">
              <a:defRPr>
                <a:solidFill>
                  <a:schemeClr val="tx1"/>
                </a:solidFill>
                <a:latin typeface="Arial" charset="0"/>
              </a:defRPr>
            </a:lvl3pPr>
            <a:lvl4pPr algn="l">
              <a:defRPr>
                <a:solidFill>
                  <a:schemeClr val="tx1"/>
                </a:solidFill>
                <a:latin typeface="Arial" charset="0"/>
              </a:defRPr>
            </a:lvl4pPr>
            <a:lvl5pPr algn="l">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buFontTx/>
              <a:buChar char="•"/>
            </a:pPr>
            <a:r>
              <a:rPr lang="en-US" sz="1800" dirty="0"/>
              <a:t>classified into types</a:t>
            </a:r>
          </a:p>
        </p:txBody>
      </p:sp>
      <p:sp>
        <p:nvSpPr>
          <p:cNvPr id="10" name="Text Box 8"/>
          <p:cNvSpPr txBox="1">
            <a:spLocks noChangeArrowheads="1"/>
          </p:cNvSpPr>
          <p:nvPr/>
        </p:nvSpPr>
        <p:spPr bwMode="auto">
          <a:xfrm>
            <a:off x="960438" y="3717925"/>
            <a:ext cx="27366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a:solidFill>
                  <a:schemeClr val="tx1"/>
                </a:solidFill>
                <a:latin typeface="Arial" charset="0"/>
              </a:defRPr>
            </a:lvl1pPr>
            <a:lvl2pPr marL="800100" indent="-342900" algn="l">
              <a:defRPr>
                <a:solidFill>
                  <a:schemeClr val="tx1"/>
                </a:solidFill>
                <a:latin typeface="Arial" charset="0"/>
              </a:defRPr>
            </a:lvl2pPr>
            <a:lvl3pPr marL="1257300" indent="-342900" algn="l">
              <a:defRPr>
                <a:solidFill>
                  <a:schemeClr val="tx1"/>
                </a:solidFill>
                <a:latin typeface="Arial" charset="0"/>
              </a:defRPr>
            </a:lvl3pPr>
            <a:lvl4pPr marL="1714500" indent="-342900" algn="l">
              <a:defRPr>
                <a:solidFill>
                  <a:schemeClr val="tx1"/>
                </a:solidFill>
                <a:latin typeface="Arial" charset="0"/>
              </a:defRPr>
            </a:lvl4pPr>
            <a:lvl5pPr marL="2171700" indent="-342900" algn="l">
              <a:defRPr>
                <a:solidFill>
                  <a:schemeClr val="tx1"/>
                </a:solidFill>
                <a:latin typeface="Arial" charset="0"/>
              </a:defRPr>
            </a:lvl5pPr>
            <a:lvl6pPr marL="2628900" indent="-342900" fontAlgn="base">
              <a:spcBef>
                <a:spcPct val="0"/>
              </a:spcBef>
              <a:spcAft>
                <a:spcPct val="0"/>
              </a:spcAft>
              <a:defRPr>
                <a:solidFill>
                  <a:schemeClr val="tx1"/>
                </a:solidFill>
                <a:latin typeface="Arial" charset="0"/>
              </a:defRPr>
            </a:lvl6pPr>
            <a:lvl7pPr marL="3086100" indent="-342900" fontAlgn="base">
              <a:spcBef>
                <a:spcPct val="0"/>
              </a:spcBef>
              <a:spcAft>
                <a:spcPct val="0"/>
              </a:spcAft>
              <a:defRPr>
                <a:solidFill>
                  <a:schemeClr val="tx1"/>
                </a:solidFill>
                <a:latin typeface="Arial" charset="0"/>
              </a:defRPr>
            </a:lvl7pPr>
            <a:lvl8pPr marL="3543300" indent="-342900" fontAlgn="base">
              <a:spcBef>
                <a:spcPct val="0"/>
              </a:spcBef>
              <a:spcAft>
                <a:spcPct val="0"/>
              </a:spcAft>
              <a:defRPr>
                <a:solidFill>
                  <a:schemeClr val="tx1"/>
                </a:solidFill>
                <a:latin typeface="Arial" charset="0"/>
              </a:defRPr>
            </a:lvl8pPr>
            <a:lvl9pPr marL="4000500" indent="-342900" fontAlgn="base">
              <a:spcBef>
                <a:spcPct val="0"/>
              </a:spcBef>
              <a:spcAft>
                <a:spcPct val="0"/>
              </a:spcAft>
              <a:defRPr>
                <a:solidFill>
                  <a:schemeClr val="tx1"/>
                </a:solidFill>
                <a:latin typeface="Arial" charset="0"/>
              </a:defRPr>
            </a:lvl9pPr>
          </a:lstStyle>
          <a:p>
            <a:pPr>
              <a:buFontTx/>
              <a:buChar char="•"/>
            </a:pPr>
            <a:r>
              <a:rPr lang="en-US" sz="1800" dirty="0"/>
              <a:t>arranged into </a:t>
            </a:r>
            <a:r>
              <a:rPr lang="en-US" sz="1800" dirty="0" smtClean="0"/>
              <a:t>layers</a:t>
            </a:r>
          </a:p>
          <a:p>
            <a:pPr lvl="1">
              <a:buFontTx/>
              <a:buChar char="•"/>
            </a:pPr>
            <a:r>
              <a:rPr lang="en-US" sz="1800" dirty="0" smtClean="0"/>
              <a:t>Enterprise</a:t>
            </a:r>
          </a:p>
          <a:p>
            <a:pPr lvl="1">
              <a:buFontTx/>
              <a:buChar char="•"/>
            </a:pPr>
            <a:r>
              <a:rPr lang="en-US" sz="1800" dirty="0" smtClean="0"/>
              <a:t>Domain</a:t>
            </a:r>
          </a:p>
          <a:p>
            <a:pPr lvl="1">
              <a:buFontTx/>
              <a:buChar char="•"/>
            </a:pPr>
            <a:r>
              <a:rPr lang="en-US" sz="1800" dirty="0" smtClean="0"/>
              <a:t>Application</a:t>
            </a:r>
            <a:endParaRPr lang="en-US" sz="1800" dirty="0"/>
          </a:p>
        </p:txBody>
      </p:sp>
      <p:sp>
        <p:nvSpPr>
          <p:cNvPr id="11" name="Text Box 9"/>
          <p:cNvSpPr txBox="1">
            <a:spLocks noChangeArrowheads="1"/>
          </p:cNvSpPr>
          <p:nvPr/>
        </p:nvSpPr>
        <p:spPr bwMode="auto">
          <a:xfrm>
            <a:off x="922338" y="5192713"/>
            <a:ext cx="3225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61950" indent="-361950" algn="l">
              <a:defRPr>
                <a:solidFill>
                  <a:schemeClr val="tx1"/>
                </a:solidFill>
                <a:latin typeface="Arial" charset="0"/>
              </a:defRPr>
            </a:lvl1pPr>
            <a:lvl2pPr marL="541338" algn="l">
              <a:defRPr>
                <a:solidFill>
                  <a:schemeClr val="tx1"/>
                </a:solidFill>
                <a:latin typeface="Arial" charset="0"/>
              </a:defRPr>
            </a:lvl2pPr>
            <a:lvl3pPr algn="l">
              <a:defRPr>
                <a:solidFill>
                  <a:schemeClr val="tx1"/>
                </a:solidFill>
                <a:latin typeface="Arial" charset="0"/>
              </a:defRPr>
            </a:lvl3pPr>
            <a:lvl4pPr algn="l">
              <a:defRPr>
                <a:solidFill>
                  <a:schemeClr val="tx1"/>
                </a:solidFill>
                <a:latin typeface="Arial" charset="0"/>
              </a:defRPr>
            </a:lvl4pPr>
            <a:lvl5pPr algn="l">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buFontTx/>
              <a:buChar char="•"/>
            </a:pPr>
            <a:r>
              <a:rPr lang="en-US" sz="1800" dirty="0"/>
              <a:t>Governed by architectural </a:t>
            </a:r>
            <a:br>
              <a:rPr lang="en-US" sz="1800" dirty="0"/>
            </a:br>
            <a:r>
              <a:rPr lang="en-US" sz="1800" dirty="0"/>
              <a:t>patterns and policies</a:t>
            </a:r>
          </a:p>
        </p:txBody>
      </p:sp>
      <p:sp>
        <p:nvSpPr>
          <p:cNvPr id="12" name="Text Box 20"/>
          <p:cNvSpPr txBox="1">
            <a:spLocks noChangeArrowheads="1"/>
          </p:cNvSpPr>
          <p:nvPr/>
        </p:nvSpPr>
        <p:spPr bwMode="auto">
          <a:xfrm>
            <a:off x="6411913" y="1103313"/>
            <a:ext cx="7413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sv-SE" sz="1200"/>
              <a:t>services</a:t>
            </a:r>
          </a:p>
        </p:txBody>
      </p:sp>
      <p:sp>
        <p:nvSpPr>
          <p:cNvPr id="13" name="AutoShape 21"/>
          <p:cNvSpPr>
            <a:spLocks noChangeArrowheads="1"/>
          </p:cNvSpPr>
          <p:nvPr/>
        </p:nvSpPr>
        <p:spPr bwMode="auto">
          <a:xfrm>
            <a:off x="4673600" y="3346450"/>
            <a:ext cx="3702050" cy="587375"/>
          </a:xfrm>
          <a:prstGeom prst="parallelogram">
            <a:avLst>
              <a:gd name="adj" fmla="val 155671"/>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4" name="AutoShape 22"/>
          <p:cNvSpPr>
            <a:spLocks noChangeArrowheads="1"/>
          </p:cNvSpPr>
          <p:nvPr/>
        </p:nvSpPr>
        <p:spPr bwMode="auto">
          <a:xfrm rot="16200000">
            <a:off x="4781550" y="5124450"/>
            <a:ext cx="1057275" cy="942975"/>
          </a:xfrm>
          <a:prstGeom prst="foldedCorner">
            <a:avLst>
              <a:gd name="adj" fmla="val 12500"/>
            </a:avLst>
          </a:prstGeom>
          <a:solidFill>
            <a:srgbClr val="E1F4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5" name="Text Box 23"/>
          <p:cNvSpPr txBox="1">
            <a:spLocks noChangeArrowheads="1"/>
          </p:cNvSpPr>
          <p:nvPr/>
        </p:nvSpPr>
        <p:spPr bwMode="auto">
          <a:xfrm rot="19079945">
            <a:off x="4765675" y="5465763"/>
            <a:ext cx="10271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identification</a:t>
            </a:r>
          </a:p>
        </p:txBody>
      </p:sp>
      <p:sp>
        <p:nvSpPr>
          <p:cNvPr id="16" name="AutoShape 24"/>
          <p:cNvSpPr>
            <a:spLocks noChangeArrowheads="1"/>
          </p:cNvSpPr>
          <p:nvPr/>
        </p:nvSpPr>
        <p:spPr bwMode="auto">
          <a:xfrm rot="16200000">
            <a:off x="6073775" y="5130800"/>
            <a:ext cx="1057275" cy="942975"/>
          </a:xfrm>
          <a:prstGeom prst="foldedCorner">
            <a:avLst>
              <a:gd name="adj" fmla="val 12500"/>
            </a:avLst>
          </a:prstGeom>
          <a:solidFill>
            <a:srgbClr val="E1F4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 name="Text Box 25"/>
          <p:cNvSpPr txBox="1">
            <a:spLocks noChangeArrowheads="1"/>
          </p:cNvSpPr>
          <p:nvPr/>
        </p:nvSpPr>
        <p:spPr bwMode="auto">
          <a:xfrm rot="19079945">
            <a:off x="6130925" y="5486400"/>
            <a:ext cx="8921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granularity</a:t>
            </a:r>
          </a:p>
        </p:txBody>
      </p:sp>
      <p:sp>
        <p:nvSpPr>
          <p:cNvPr id="18" name="AutoShape 26"/>
          <p:cNvSpPr>
            <a:spLocks noChangeArrowheads="1"/>
          </p:cNvSpPr>
          <p:nvPr/>
        </p:nvSpPr>
        <p:spPr bwMode="auto">
          <a:xfrm rot="16200000">
            <a:off x="7416800" y="5130800"/>
            <a:ext cx="1057275" cy="942975"/>
          </a:xfrm>
          <a:prstGeom prst="foldedCorner">
            <a:avLst>
              <a:gd name="adj" fmla="val 12500"/>
            </a:avLst>
          </a:prstGeom>
          <a:solidFill>
            <a:srgbClr val="E1F4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9" name="Text Box 27"/>
          <p:cNvSpPr txBox="1">
            <a:spLocks noChangeArrowheads="1"/>
          </p:cNvSpPr>
          <p:nvPr/>
        </p:nvSpPr>
        <p:spPr bwMode="auto">
          <a:xfrm rot="19079945">
            <a:off x="7440613" y="5475288"/>
            <a:ext cx="10096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dependency</a:t>
            </a:r>
          </a:p>
        </p:txBody>
      </p:sp>
      <p:cxnSp>
        <p:nvCxnSpPr>
          <p:cNvPr id="20" name="AutoShape 28"/>
          <p:cNvCxnSpPr>
            <a:cxnSpLocks noChangeShapeType="1"/>
          </p:cNvCxnSpPr>
          <p:nvPr/>
        </p:nvCxnSpPr>
        <p:spPr bwMode="auto">
          <a:xfrm>
            <a:off x="4600575" y="3276600"/>
            <a:ext cx="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9"/>
          <p:cNvCxnSpPr>
            <a:cxnSpLocks noChangeShapeType="1"/>
            <a:stCxn id="24" idx="2"/>
            <a:endCxn id="34" idx="0"/>
          </p:cNvCxnSpPr>
          <p:nvPr/>
        </p:nvCxnSpPr>
        <p:spPr bwMode="auto">
          <a:xfrm flipH="1">
            <a:off x="5556250" y="1466850"/>
            <a:ext cx="1225550" cy="1038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30"/>
          <p:cNvCxnSpPr>
            <a:cxnSpLocks noChangeShapeType="1"/>
            <a:stCxn id="36" idx="0"/>
            <a:endCxn id="24" idx="2"/>
          </p:cNvCxnSpPr>
          <p:nvPr/>
        </p:nvCxnSpPr>
        <p:spPr bwMode="auto">
          <a:xfrm flipH="1" flipV="1">
            <a:off x="6781800" y="1466850"/>
            <a:ext cx="1196975" cy="1041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31"/>
          <p:cNvCxnSpPr>
            <a:cxnSpLocks noChangeShapeType="1"/>
            <a:stCxn id="35" idx="0"/>
          </p:cNvCxnSpPr>
          <p:nvPr/>
        </p:nvCxnSpPr>
        <p:spPr bwMode="auto">
          <a:xfrm flipV="1">
            <a:off x="6780213" y="1339850"/>
            <a:ext cx="1587" cy="1166813"/>
          </a:xfrm>
          <a:prstGeom prst="straightConnector1">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Rectangle 32"/>
          <p:cNvSpPr>
            <a:spLocks noChangeArrowheads="1"/>
          </p:cNvSpPr>
          <p:nvPr/>
        </p:nvSpPr>
        <p:spPr bwMode="auto">
          <a:xfrm>
            <a:off x="6696075" y="1304925"/>
            <a:ext cx="171450" cy="16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5" name="Oval 33"/>
          <p:cNvSpPr>
            <a:spLocks noChangeArrowheads="1"/>
          </p:cNvSpPr>
          <p:nvPr/>
        </p:nvSpPr>
        <p:spPr bwMode="auto">
          <a:xfrm>
            <a:off x="5149850" y="2395538"/>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6" name="Oval 34"/>
          <p:cNvSpPr>
            <a:spLocks noChangeArrowheads="1"/>
          </p:cNvSpPr>
          <p:nvPr/>
        </p:nvSpPr>
        <p:spPr bwMode="auto">
          <a:xfrm>
            <a:off x="5475288" y="2395538"/>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7" name="Oval 35"/>
          <p:cNvSpPr>
            <a:spLocks noChangeArrowheads="1"/>
          </p:cNvSpPr>
          <p:nvPr/>
        </p:nvSpPr>
        <p:spPr bwMode="auto">
          <a:xfrm>
            <a:off x="5786438" y="2395538"/>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8" name="Oval 36"/>
          <p:cNvSpPr>
            <a:spLocks noChangeArrowheads="1"/>
          </p:cNvSpPr>
          <p:nvPr/>
        </p:nvSpPr>
        <p:spPr bwMode="auto">
          <a:xfrm>
            <a:off x="7577138" y="23844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9" name="Oval 37"/>
          <p:cNvSpPr>
            <a:spLocks noChangeArrowheads="1"/>
          </p:cNvSpPr>
          <p:nvPr/>
        </p:nvSpPr>
        <p:spPr bwMode="auto">
          <a:xfrm>
            <a:off x="7902575" y="23844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0" name="Oval 38"/>
          <p:cNvSpPr>
            <a:spLocks noChangeArrowheads="1"/>
          </p:cNvSpPr>
          <p:nvPr/>
        </p:nvSpPr>
        <p:spPr bwMode="auto">
          <a:xfrm>
            <a:off x="8213725" y="23844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1" name="Oval 39"/>
          <p:cNvSpPr>
            <a:spLocks noChangeArrowheads="1"/>
          </p:cNvSpPr>
          <p:nvPr/>
        </p:nvSpPr>
        <p:spPr bwMode="auto">
          <a:xfrm>
            <a:off x="6357938" y="23971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2" name="Oval 40"/>
          <p:cNvSpPr>
            <a:spLocks noChangeArrowheads="1"/>
          </p:cNvSpPr>
          <p:nvPr/>
        </p:nvSpPr>
        <p:spPr bwMode="auto">
          <a:xfrm>
            <a:off x="6683375" y="23971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3" name="Oval 41"/>
          <p:cNvSpPr>
            <a:spLocks noChangeArrowheads="1"/>
          </p:cNvSpPr>
          <p:nvPr/>
        </p:nvSpPr>
        <p:spPr bwMode="auto">
          <a:xfrm>
            <a:off x="6994525" y="2397125"/>
            <a:ext cx="161925" cy="161925"/>
          </a:xfrm>
          <a:prstGeom prst="ellipse">
            <a:avLst/>
          </a:prstGeom>
          <a:solidFill>
            <a:srgbClr val="339966"/>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4" name="AutoShape 42"/>
          <p:cNvSpPr>
            <a:spLocks noChangeArrowheads="1"/>
          </p:cNvSpPr>
          <p:nvPr/>
        </p:nvSpPr>
        <p:spPr bwMode="auto">
          <a:xfrm>
            <a:off x="5018088" y="2408238"/>
            <a:ext cx="1074737" cy="385762"/>
          </a:xfrm>
          <a:prstGeom prst="horizontalScroll">
            <a:avLst>
              <a:gd name="adj" fmla="val 25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5" name="AutoShape 43"/>
          <p:cNvSpPr>
            <a:spLocks noChangeArrowheads="1"/>
          </p:cNvSpPr>
          <p:nvPr/>
        </p:nvSpPr>
        <p:spPr bwMode="auto">
          <a:xfrm>
            <a:off x="6259513" y="2409825"/>
            <a:ext cx="1041400" cy="385763"/>
          </a:xfrm>
          <a:prstGeom prst="horizontalScroll">
            <a:avLst>
              <a:gd name="adj" fmla="val 250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6" name="AutoShape 44"/>
          <p:cNvSpPr>
            <a:spLocks noChangeArrowheads="1"/>
          </p:cNvSpPr>
          <p:nvPr/>
        </p:nvSpPr>
        <p:spPr bwMode="auto">
          <a:xfrm>
            <a:off x="7458075" y="2411413"/>
            <a:ext cx="1041400" cy="385762"/>
          </a:xfrm>
          <a:prstGeom prst="horizontalScroll">
            <a:avLst>
              <a:gd name="adj" fmla="val 25000"/>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7" name="Text Box 45"/>
          <p:cNvSpPr txBox="1">
            <a:spLocks noChangeArrowheads="1"/>
          </p:cNvSpPr>
          <p:nvPr/>
        </p:nvSpPr>
        <p:spPr bwMode="auto">
          <a:xfrm>
            <a:off x="5327650" y="2457450"/>
            <a:ext cx="4714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type</a:t>
            </a:r>
          </a:p>
        </p:txBody>
      </p:sp>
      <p:sp>
        <p:nvSpPr>
          <p:cNvPr id="38" name="Text Box 46"/>
          <p:cNvSpPr txBox="1">
            <a:spLocks noChangeArrowheads="1"/>
          </p:cNvSpPr>
          <p:nvPr/>
        </p:nvSpPr>
        <p:spPr bwMode="auto">
          <a:xfrm>
            <a:off x="7772400" y="2468563"/>
            <a:ext cx="4714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type</a:t>
            </a:r>
          </a:p>
        </p:txBody>
      </p:sp>
      <p:sp>
        <p:nvSpPr>
          <p:cNvPr id="39" name="Text Box 47"/>
          <p:cNvSpPr txBox="1">
            <a:spLocks noChangeArrowheads="1"/>
          </p:cNvSpPr>
          <p:nvPr/>
        </p:nvSpPr>
        <p:spPr bwMode="auto">
          <a:xfrm>
            <a:off x="6557963" y="2463800"/>
            <a:ext cx="4714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200" dirty="0"/>
              <a:t>type</a:t>
            </a:r>
          </a:p>
        </p:txBody>
      </p:sp>
      <p:cxnSp>
        <p:nvCxnSpPr>
          <p:cNvPr id="40" name="AutoShape 48"/>
          <p:cNvCxnSpPr>
            <a:cxnSpLocks noChangeShapeType="1"/>
            <a:stCxn id="34" idx="2"/>
            <a:endCxn id="13" idx="5"/>
          </p:cNvCxnSpPr>
          <p:nvPr/>
        </p:nvCxnSpPr>
        <p:spPr bwMode="auto">
          <a:xfrm flipH="1">
            <a:off x="5130800" y="2697163"/>
            <a:ext cx="425450" cy="9429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49"/>
          <p:cNvCxnSpPr>
            <a:cxnSpLocks noChangeShapeType="1"/>
            <a:stCxn id="35" idx="2"/>
            <a:endCxn id="7" idx="4"/>
          </p:cNvCxnSpPr>
          <p:nvPr/>
        </p:nvCxnSpPr>
        <p:spPr bwMode="auto">
          <a:xfrm flipH="1">
            <a:off x="6527800" y="2698750"/>
            <a:ext cx="252413" cy="145097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50"/>
          <p:cNvCxnSpPr>
            <a:cxnSpLocks noChangeShapeType="1"/>
            <a:stCxn id="36" idx="2"/>
            <a:endCxn id="6" idx="2"/>
          </p:cNvCxnSpPr>
          <p:nvPr/>
        </p:nvCxnSpPr>
        <p:spPr bwMode="auto">
          <a:xfrm flipH="1">
            <a:off x="7932738" y="2700338"/>
            <a:ext cx="46037" cy="133191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Rounded Rectangle 42"/>
          <p:cNvSpPr/>
          <p:nvPr/>
        </p:nvSpPr>
        <p:spPr bwMode="auto">
          <a:xfrm>
            <a:off x="4495800" y="990600"/>
            <a:ext cx="4343400" cy="5410200"/>
          </a:xfrm>
          <a:prstGeom prst="round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566738" marR="0" indent="-566738" algn="l" defTabSz="914400" rtl="0" eaLnBrk="0" fontAlgn="base" latinLnBrk="0" hangingPunct="0">
              <a:lnSpc>
                <a:spcPct val="90000"/>
              </a:lnSpc>
              <a:spcBef>
                <a:spcPct val="30000"/>
              </a:spcBef>
              <a:spcAft>
                <a:spcPct val="0"/>
              </a:spcAft>
              <a:buClr>
                <a:srgbClr val="DB241C"/>
              </a:buClr>
              <a:buSzPct val="120000"/>
              <a:buFontTx/>
              <a:buChar char="•"/>
              <a:tabLst/>
            </a:pPr>
            <a:endParaRPr kumimoji="0" lang="en-US" sz="1000" b="1" i="0" u="none" strike="noStrike" cap="none" normalizeH="0" baseline="0" dirty="0" smtClean="0">
              <a:ln>
                <a:noFill/>
              </a:ln>
              <a:solidFill>
                <a:srgbClr val="2F5E5E"/>
              </a:solidFill>
              <a:effectLst/>
              <a:latin typeface="Arial" charset="0"/>
            </a:endParaRPr>
          </a:p>
        </p:txBody>
      </p:sp>
    </p:spTree>
    <p:extLst>
      <p:ext uri="{BB962C8B-B14F-4D97-AF65-F5344CB8AC3E}">
        <p14:creationId xmlns:p14="http://schemas.microsoft.com/office/powerpoint/2010/main" val="342146453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what is a service?</a:t>
            </a:r>
            <a:endParaRPr lang="en-US" dirty="0"/>
          </a:p>
        </p:txBody>
      </p:sp>
      <p:sp>
        <p:nvSpPr>
          <p:cNvPr id="3" name="Content Placeholder 2"/>
          <p:cNvSpPr>
            <a:spLocks noGrp="1"/>
          </p:cNvSpPr>
          <p:nvPr>
            <p:ph idx="1"/>
          </p:nvPr>
        </p:nvSpPr>
        <p:spPr>
          <a:xfrm>
            <a:off x="533400" y="1066800"/>
            <a:ext cx="7709848" cy="5334000"/>
          </a:xfrm>
        </p:spPr>
        <p:txBody>
          <a:bodyPr/>
          <a:lstStyle/>
          <a:p>
            <a:r>
              <a:rPr lang="en-US" sz="1600" dirty="0"/>
              <a:t>A Service is a reusable component.</a:t>
            </a:r>
          </a:p>
          <a:p>
            <a:r>
              <a:rPr lang="en-US" sz="1600" dirty="0"/>
              <a:t>A Service changes business data from one state to another.</a:t>
            </a:r>
          </a:p>
          <a:p>
            <a:r>
              <a:rPr lang="en-US" sz="1600" dirty="0"/>
              <a:t>A Service is the only way how data is accessed.</a:t>
            </a:r>
          </a:p>
          <a:p>
            <a:r>
              <a:rPr lang="en-US" altLang="ja-JP" sz="1600" dirty="0">
                <a:ea typeface="ＭＳ Ｐゴシック" pitchFamily="-28" charset="-128"/>
              </a:rPr>
              <a:t>I</a:t>
            </a:r>
            <a:r>
              <a:rPr lang="en-US" sz="1600" dirty="0"/>
              <a:t>f you can describe a component in WSDL, it is a Service.</a:t>
            </a:r>
          </a:p>
          <a:p>
            <a:r>
              <a:rPr lang="en-US" sz="1600" dirty="0" smtClean="0"/>
              <a:t>Examples/Contexts :</a:t>
            </a:r>
          </a:p>
          <a:p>
            <a:pPr lvl="1">
              <a:defRPr/>
            </a:pPr>
            <a:r>
              <a:rPr lang="en-US" sz="1100" dirty="0"/>
              <a:t>A Windows </a:t>
            </a:r>
            <a:r>
              <a:rPr lang="en-US" sz="1100" dirty="0" smtClean="0"/>
              <a:t>Service</a:t>
            </a:r>
            <a:endParaRPr lang="en-US" sz="1100" dirty="0"/>
          </a:p>
          <a:p>
            <a:pPr lvl="2">
              <a:defRPr/>
            </a:pPr>
            <a:r>
              <a:rPr lang="en-US" sz="1100" dirty="0"/>
              <a:t>RPC Locator, </a:t>
            </a:r>
            <a:r>
              <a:rPr lang="en-US" sz="1100" dirty="0" err="1"/>
              <a:t>EventLog</a:t>
            </a:r>
            <a:r>
              <a:rPr lang="en-US" sz="1100" dirty="0"/>
              <a:t>, DHCP Client, </a:t>
            </a:r>
          </a:p>
          <a:p>
            <a:pPr lvl="1">
              <a:defRPr/>
            </a:pPr>
            <a:r>
              <a:rPr lang="en-US" sz="1100" dirty="0" smtClean="0"/>
              <a:t>Software Service</a:t>
            </a:r>
            <a:endParaRPr lang="en-US" sz="1100" dirty="0"/>
          </a:p>
          <a:p>
            <a:pPr lvl="2">
              <a:defRPr/>
            </a:pPr>
            <a:r>
              <a:rPr lang="en-US" sz="1100" dirty="0"/>
              <a:t>Distribution Service, Alert Service</a:t>
            </a:r>
          </a:p>
          <a:p>
            <a:pPr lvl="2">
              <a:defRPr/>
            </a:pPr>
            <a:r>
              <a:rPr lang="en-US" sz="1100" dirty="0"/>
              <a:t>Security Service, Log Service</a:t>
            </a:r>
          </a:p>
          <a:p>
            <a:pPr lvl="1">
              <a:defRPr/>
            </a:pPr>
            <a:r>
              <a:rPr lang="en-US" sz="1100" dirty="0" smtClean="0"/>
              <a:t>Business Service</a:t>
            </a:r>
            <a:endParaRPr lang="en-US" sz="1100" dirty="0"/>
          </a:p>
          <a:p>
            <a:pPr lvl="2">
              <a:defRPr/>
            </a:pPr>
            <a:r>
              <a:rPr lang="en-US" sz="1100" dirty="0"/>
              <a:t>Common Operational Picture, Navigation</a:t>
            </a:r>
          </a:p>
          <a:p>
            <a:pPr lvl="2">
              <a:defRPr/>
            </a:pPr>
            <a:r>
              <a:rPr lang="en-US" sz="1100" dirty="0"/>
              <a:t>Accounts Receivable, Customers  </a:t>
            </a:r>
          </a:p>
          <a:p>
            <a:endParaRPr lang="en-US" sz="1600"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25</a:t>
            </a:fld>
            <a:endParaRPr lang="en-US" dirty="0"/>
          </a:p>
        </p:txBody>
      </p:sp>
    </p:spTree>
    <p:extLst>
      <p:ext uri="{BB962C8B-B14F-4D97-AF65-F5344CB8AC3E}">
        <p14:creationId xmlns:p14="http://schemas.microsoft.com/office/powerpoint/2010/main" val="325967454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 sequence diagram</a:t>
            </a:r>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26</a:t>
            </a:fld>
            <a:endParaRPr lang="en-US" dirty="0"/>
          </a:p>
        </p:txBody>
      </p:sp>
      <p:pic>
        <p:nvPicPr>
          <p:cNvPr id="6" name="Picture 3" descr="E:\Teaching\Lectures\WorkInProgress\async_query_patter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14600"/>
            <a:ext cx="8153400" cy="2747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138805"/>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 workflow</a:t>
            </a:r>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27</a:t>
            </a:fld>
            <a:endParaRPr lang="en-US" dirty="0"/>
          </a:p>
        </p:txBody>
      </p:sp>
      <p:sp>
        <p:nvSpPr>
          <p:cNvPr id="6" name="Rectangle 5"/>
          <p:cNvSpPr/>
          <p:nvPr/>
        </p:nvSpPr>
        <p:spPr>
          <a:xfrm>
            <a:off x="7215188" y="4491038"/>
            <a:ext cx="1428750" cy="642937"/>
          </a:xfrm>
          <a:prstGeom prst="rect">
            <a:avLst/>
          </a:prstGeom>
          <a:noFill/>
          <a:ln w="25400" cap="rnd" cmpd="sng" algn="ctr">
            <a:solidFill>
              <a:schemeClr val="accent4"/>
            </a:solid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a:spLocks noChangeArrowheads="1"/>
          </p:cNvSpPr>
          <p:nvPr/>
        </p:nvSpPr>
        <p:spPr bwMode="auto">
          <a:xfrm>
            <a:off x="6351588" y="3357563"/>
            <a:ext cx="1292225" cy="468312"/>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Service</a:t>
            </a:r>
            <a:endParaRPr lang="en-US" dirty="0">
              <a:solidFill>
                <a:schemeClr val="tx1">
                  <a:alpha val="100000"/>
                </a:schemeClr>
              </a:solidFill>
            </a:endParaRPr>
          </a:p>
        </p:txBody>
      </p:sp>
      <p:cxnSp>
        <p:nvCxnSpPr>
          <p:cNvPr id="8" name="Shape 95239"/>
          <p:cNvCxnSpPr>
            <a:cxnSpLocks noChangeShapeType="1"/>
            <a:stCxn id="18" idx="2"/>
            <a:endCxn id="9" idx="0"/>
          </p:cNvCxnSpPr>
          <p:nvPr/>
        </p:nvCxnSpPr>
        <p:spPr bwMode="auto">
          <a:xfrm rot="5400000" flipV="1">
            <a:off x="3782219" y="3975894"/>
            <a:ext cx="307975" cy="7937"/>
          </a:xfrm>
          <a:prstGeom prst="curvedConnector3">
            <a:avLst>
              <a:gd name="adj1" fmla="val 50000"/>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9" name="TextBox 8"/>
          <p:cNvSpPr txBox="1">
            <a:spLocks noChangeArrowheads="1"/>
          </p:cNvSpPr>
          <p:nvPr/>
        </p:nvSpPr>
        <p:spPr bwMode="auto">
          <a:xfrm>
            <a:off x="3271838" y="4133850"/>
            <a:ext cx="1335087" cy="336550"/>
          </a:xfrm>
          <a:prstGeom prst="rect">
            <a:avLst/>
          </a:prstGeom>
          <a:noFill/>
          <a:ln w="9525" cap="flat" cmpd="sng" algn="ctr">
            <a:noFill/>
            <a:prstDash val="solid"/>
            <a:miter lim="800000"/>
            <a:headEnd type="none" w="med" len="med"/>
            <a:tailEnd type="none" w="med" len="med"/>
          </a:ln>
          <a:effectLst/>
        </p:spPr>
        <p:txBody>
          <a:bodyPr>
            <a:spAutoFit/>
          </a:bodyPr>
          <a:lstStyle/>
          <a:p>
            <a:pPr algn="ctr">
              <a:defRPr/>
            </a:pPr>
            <a:r>
              <a:rPr lang="en-US" sz="1600" dirty="0">
                <a:solidFill>
                  <a:schemeClr val="tx1">
                    <a:alpha val="100000"/>
                  </a:schemeClr>
                </a:solidFill>
              </a:rPr>
              <a:t>describes</a:t>
            </a:r>
            <a:endParaRPr lang="en-US" dirty="0">
              <a:solidFill>
                <a:schemeClr val="tx1">
                  <a:alpha val="100000"/>
                </a:schemeClr>
              </a:solidFill>
            </a:endParaRPr>
          </a:p>
        </p:txBody>
      </p:sp>
      <p:cxnSp>
        <p:nvCxnSpPr>
          <p:cNvPr id="10" name="Shape 95241"/>
          <p:cNvCxnSpPr>
            <a:cxnSpLocks noChangeShapeType="1"/>
            <a:stCxn id="9" idx="2"/>
            <a:endCxn id="14" idx="0"/>
          </p:cNvCxnSpPr>
          <p:nvPr/>
        </p:nvCxnSpPr>
        <p:spPr bwMode="auto">
          <a:xfrm rot="5400000">
            <a:off x="3767138" y="4635500"/>
            <a:ext cx="338138" cy="7937"/>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11" name="Rectangle 10"/>
          <p:cNvSpPr>
            <a:spLocks noChangeArrowheads="1"/>
          </p:cNvSpPr>
          <p:nvPr/>
        </p:nvSpPr>
        <p:spPr bwMode="auto">
          <a:xfrm>
            <a:off x="3284538" y="2205038"/>
            <a:ext cx="1292225" cy="468312"/>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End Point</a:t>
            </a:r>
            <a:endParaRPr lang="en-US" dirty="0">
              <a:solidFill>
                <a:schemeClr val="tx1">
                  <a:alpha val="100000"/>
                </a:schemeClr>
              </a:solidFill>
            </a:endParaRPr>
          </a:p>
        </p:txBody>
      </p:sp>
      <p:sp>
        <p:nvSpPr>
          <p:cNvPr id="12" name="TextBox 11"/>
          <p:cNvSpPr txBox="1">
            <a:spLocks noChangeArrowheads="1"/>
          </p:cNvSpPr>
          <p:nvPr/>
        </p:nvSpPr>
        <p:spPr bwMode="auto">
          <a:xfrm>
            <a:off x="5214938" y="2278063"/>
            <a:ext cx="1041400" cy="336550"/>
          </a:xfrm>
          <a:prstGeom prst="rect">
            <a:avLst/>
          </a:prstGeom>
          <a:noFill/>
          <a:ln w="9525" cap="flat" cmpd="sng" algn="ctr">
            <a:noFill/>
            <a:prstDash val="solid"/>
            <a:miter lim="800000"/>
            <a:headEnd type="none" w="med" len="med"/>
            <a:tailEnd type="none" w="med" len="med"/>
          </a:ln>
          <a:effectLst/>
        </p:spPr>
        <p:txBody>
          <a:bodyPr>
            <a:spAutoFit/>
          </a:bodyPr>
          <a:lstStyle/>
          <a:p>
            <a:pPr algn="ctr">
              <a:defRPr/>
            </a:pPr>
            <a:r>
              <a:rPr lang="en-US" sz="1600" dirty="0">
                <a:solidFill>
                  <a:schemeClr val="tx1">
                    <a:alpha val="100000"/>
                  </a:schemeClr>
                </a:solidFill>
              </a:rPr>
              <a:t>Exposes</a:t>
            </a:r>
            <a:endParaRPr lang="en-US" dirty="0">
              <a:solidFill>
                <a:schemeClr val="tx1">
                  <a:alpha val="100000"/>
                </a:schemeClr>
              </a:solidFill>
            </a:endParaRPr>
          </a:p>
        </p:txBody>
      </p:sp>
      <p:cxnSp>
        <p:nvCxnSpPr>
          <p:cNvPr id="13" name="Curved Connector 95256"/>
          <p:cNvCxnSpPr>
            <a:cxnSpLocks noChangeShapeType="1"/>
            <a:stCxn id="12" idx="3"/>
            <a:endCxn id="7" idx="0"/>
          </p:cNvCxnSpPr>
          <p:nvPr/>
        </p:nvCxnSpPr>
        <p:spPr bwMode="auto">
          <a:xfrm>
            <a:off x="6256338" y="2446338"/>
            <a:ext cx="741362" cy="911225"/>
          </a:xfrm>
          <a:prstGeom prst="curvedConnector2">
            <a:avLst/>
          </a:prstGeom>
          <a:ln>
            <a:headEnd type="none" w="med" len="med"/>
            <a:tailEnd type="none" w="lg" len="lg"/>
          </a:ln>
        </p:spPr>
        <p:style>
          <a:lnRef idx="2">
            <a:schemeClr val="accent5"/>
          </a:lnRef>
          <a:fillRef idx="0">
            <a:schemeClr val="accent5"/>
          </a:fillRef>
          <a:effectRef idx="1">
            <a:schemeClr val="accent5"/>
          </a:effectRef>
          <a:fontRef idx="minor">
            <a:schemeClr val="tx1"/>
          </a:fontRef>
        </p:style>
      </p:cxnSp>
      <p:sp>
        <p:nvSpPr>
          <p:cNvPr id="14" name="Rectangle 13"/>
          <p:cNvSpPr>
            <a:spLocks noChangeArrowheads="1"/>
          </p:cNvSpPr>
          <p:nvPr/>
        </p:nvSpPr>
        <p:spPr bwMode="auto">
          <a:xfrm>
            <a:off x="3286125" y="4808538"/>
            <a:ext cx="1292225" cy="468312"/>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Messages</a:t>
            </a:r>
            <a:endParaRPr lang="en-US" dirty="0">
              <a:solidFill>
                <a:schemeClr val="tx1">
                  <a:alpha val="100000"/>
                </a:schemeClr>
              </a:solidFill>
            </a:endParaRPr>
          </a:p>
        </p:txBody>
      </p:sp>
      <p:cxnSp>
        <p:nvCxnSpPr>
          <p:cNvPr id="15" name="Shape 13"/>
          <p:cNvCxnSpPr>
            <a:cxnSpLocks noChangeShapeType="1"/>
            <a:stCxn id="7" idx="2"/>
            <a:endCxn id="16" idx="3"/>
          </p:cNvCxnSpPr>
          <p:nvPr/>
        </p:nvCxnSpPr>
        <p:spPr bwMode="auto">
          <a:xfrm rot="5400000">
            <a:off x="6205537" y="4238626"/>
            <a:ext cx="1204913" cy="379412"/>
          </a:xfrm>
          <a:prstGeom prst="curvedConnector2">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16" name="TextBox 15"/>
          <p:cNvSpPr txBox="1">
            <a:spLocks noChangeArrowheads="1"/>
          </p:cNvSpPr>
          <p:nvPr/>
        </p:nvSpPr>
        <p:spPr bwMode="auto">
          <a:xfrm>
            <a:off x="4857750" y="4862513"/>
            <a:ext cx="1760538" cy="338137"/>
          </a:xfrm>
          <a:prstGeom prst="rect">
            <a:avLst/>
          </a:prstGeom>
          <a:noFill/>
          <a:ln w="9525" cap="flat" cmpd="sng" algn="ctr">
            <a:noFill/>
            <a:prstDash val="solid"/>
            <a:miter lim="800000"/>
            <a:headEnd type="none" w="med" len="med"/>
            <a:tailEnd type="none" w="med" len="med"/>
          </a:ln>
          <a:effectLst/>
        </p:spPr>
        <p:txBody>
          <a:bodyPr>
            <a:spAutoFit/>
          </a:bodyPr>
          <a:lstStyle/>
          <a:p>
            <a:pPr algn="ctr">
              <a:defRPr/>
            </a:pPr>
            <a:r>
              <a:rPr lang="en-US" sz="1600" dirty="0">
                <a:solidFill>
                  <a:schemeClr val="tx1">
                    <a:alpha val="100000"/>
                  </a:schemeClr>
                </a:solidFill>
              </a:rPr>
              <a:t>Sends/Receives</a:t>
            </a:r>
            <a:endParaRPr lang="en-US" dirty="0">
              <a:solidFill>
                <a:schemeClr val="tx1">
                  <a:alpha val="100000"/>
                </a:schemeClr>
              </a:solidFill>
            </a:endParaRPr>
          </a:p>
        </p:txBody>
      </p:sp>
      <p:cxnSp>
        <p:nvCxnSpPr>
          <p:cNvPr id="17" name="Shape 95261"/>
          <p:cNvCxnSpPr>
            <a:cxnSpLocks noChangeShapeType="1"/>
            <a:stCxn id="16" idx="1"/>
            <a:endCxn id="14" idx="3"/>
          </p:cNvCxnSpPr>
          <p:nvPr/>
        </p:nvCxnSpPr>
        <p:spPr bwMode="auto">
          <a:xfrm rot="10800000" flipV="1">
            <a:off x="4578350" y="5030788"/>
            <a:ext cx="279400" cy="11112"/>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18" name="Rectangle 17"/>
          <p:cNvSpPr>
            <a:spLocks noChangeArrowheads="1"/>
          </p:cNvSpPr>
          <p:nvPr/>
        </p:nvSpPr>
        <p:spPr bwMode="auto">
          <a:xfrm>
            <a:off x="3286125" y="3357563"/>
            <a:ext cx="1292225" cy="468312"/>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Contracts</a:t>
            </a:r>
            <a:endParaRPr lang="en-US" dirty="0">
              <a:solidFill>
                <a:schemeClr val="tx1">
                  <a:alpha val="100000"/>
                </a:schemeClr>
              </a:solidFill>
            </a:endParaRPr>
          </a:p>
        </p:txBody>
      </p:sp>
      <p:cxnSp>
        <p:nvCxnSpPr>
          <p:cNvPr id="19" name="Curved Connector 18"/>
          <p:cNvCxnSpPr>
            <a:cxnSpLocks noChangeShapeType="1"/>
            <a:stCxn id="11" idx="3"/>
            <a:endCxn id="12" idx="1"/>
          </p:cNvCxnSpPr>
          <p:nvPr/>
        </p:nvCxnSpPr>
        <p:spPr bwMode="auto">
          <a:xfrm>
            <a:off x="4576763" y="2438400"/>
            <a:ext cx="638175" cy="7938"/>
          </a:xfrm>
          <a:prstGeom prst="curvedConnector3">
            <a:avLst>
              <a:gd name="adj1" fmla="val 50000"/>
            </a:avLst>
          </a:prstGeom>
          <a:ln>
            <a:headEnd type="stealth" w="lg" len="lg"/>
            <a:tailEnd type="none" w="lg" len="med"/>
          </a:ln>
        </p:spPr>
        <p:style>
          <a:lnRef idx="2">
            <a:schemeClr val="accent5"/>
          </a:lnRef>
          <a:fillRef idx="0">
            <a:schemeClr val="accent5"/>
          </a:fillRef>
          <a:effectRef idx="1">
            <a:schemeClr val="accent5"/>
          </a:effectRef>
          <a:fontRef idx="minor">
            <a:schemeClr val="tx1"/>
          </a:fontRef>
        </p:style>
      </p:cxnSp>
      <p:cxnSp>
        <p:nvCxnSpPr>
          <p:cNvPr id="20" name="Curved Connector 19"/>
          <p:cNvCxnSpPr>
            <a:cxnSpLocks noChangeShapeType="1"/>
            <a:stCxn id="42" idx="3"/>
            <a:endCxn id="18" idx="1"/>
          </p:cNvCxnSpPr>
          <p:nvPr/>
        </p:nvCxnSpPr>
        <p:spPr bwMode="auto">
          <a:xfrm>
            <a:off x="3143250" y="3587750"/>
            <a:ext cx="142875" cy="3175"/>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cxnSp>
        <p:nvCxnSpPr>
          <p:cNvPr id="21" name="Curved Connector 20"/>
          <p:cNvCxnSpPr>
            <a:cxnSpLocks noChangeShapeType="1"/>
            <a:stCxn id="22" idx="3"/>
            <a:endCxn id="11" idx="1"/>
          </p:cNvCxnSpPr>
          <p:nvPr/>
        </p:nvCxnSpPr>
        <p:spPr bwMode="auto">
          <a:xfrm flipV="1">
            <a:off x="2782888" y="2438400"/>
            <a:ext cx="501650" cy="6350"/>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22" name="TextBox 21"/>
          <p:cNvSpPr txBox="1">
            <a:spLocks noChangeArrowheads="1"/>
          </p:cNvSpPr>
          <p:nvPr/>
        </p:nvSpPr>
        <p:spPr bwMode="auto">
          <a:xfrm>
            <a:off x="1903413" y="2276475"/>
            <a:ext cx="879475" cy="338138"/>
          </a:xfrm>
          <a:prstGeom prst="rect">
            <a:avLst/>
          </a:prstGeom>
          <a:noFill/>
          <a:ln w="9525" cap="flat" cmpd="sng" algn="ctr">
            <a:noFill/>
            <a:prstDash val="solid"/>
            <a:miter lim="800000"/>
            <a:headEnd type="none" w="med" len="med"/>
            <a:tailEnd type="none" w="med" len="med"/>
          </a:ln>
          <a:effectLst/>
        </p:spPr>
        <p:txBody>
          <a:bodyPr wrap="none">
            <a:spAutoFit/>
          </a:bodyPr>
          <a:lstStyle/>
          <a:p>
            <a:pPr algn="ctr">
              <a:defRPr/>
            </a:pPr>
            <a:r>
              <a:rPr lang="en-US" sz="1600" dirty="0">
                <a:solidFill>
                  <a:schemeClr val="tx1">
                    <a:alpha val="100000"/>
                  </a:schemeClr>
                </a:solidFill>
              </a:rPr>
              <a:t>Binds to</a:t>
            </a:r>
            <a:endParaRPr lang="en-US" dirty="0">
              <a:solidFill>
                <a:schemeClr val="tx1">
                  <a:alpha val="100000"/>
                </a:schemeClr>
              </a:solidFill>
            </a:endParaRPr>
          </a:p>
        </p:txBody>
      </p:sp>
      <p:cxnSp>
        <p:nvCxnSpPr>
          <p:cNvPr id="23" name="Curved Connector 95284"/>
          <p:cNvCxnSpPr>
            <a:cxnSpLocks noChangeShapeType="1"/>
            <a:stCxn id="22" idx="1"/>
          </p:cNvCxnSpPr>
          <p:nvPr/>
        </p:nvCxnSpPr>
        <p:spPr bwMode="auto">
          <a:xfrm rot="10800000" flipV="1">
            <a:off x="1036638" y="2444750"/>
            <a:ext cx="866775" cy="906463"/>
          </a:xfrm>
          <a:prstGeom prst="curvedConnector2">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cxnSp>
        <p:nvCxnSpPr>
          <p:cNvPr id="24" name="Shape 95288"/>
          <p:cNvCxnSpPr>
            <a:cxnSpLocks noChangeShapeType="1"/>
            <a:stCxn id="7" idx="1"/>
            <a:endCxn id="25" idx="3"/>
          </p:cNvCxnSpPr>
          <p:nvPr/>
        </p:nvCxnSpPr>
        <p:spPr bwMode="auto">
          <a:xfrm rot="10800000">
            <a:off x="6143625" y="3587750"/>
            <a:ext cx="207963" cy="3175"/>
          </a:xfrm>
          <a:prstGeom prst="curvedConnector3">
            <a:avLst>
              <a:gd name="adj1" fmla="val 50000"/>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25" name="TextBox 24"/>
          <p:cNvSpPr txBox="1">
            <a:spLocks noChangeArrowheads="1"/>
          </p:cNvSpPr>
          <p:nvPr/>
        </p:nvSpPr>
        <p:spPr bwMode="auto">
          <a:xfrm>
            <a:off x="4948238" y="3419475"/>
            <a:ext cx="1195387" cy="338138"/>
          </a:xfrm>
          <a:prstGeom prst="rect">
            <a:avLst/>
          </a:prstGeom>
          <a:noFill/>
          <a:ln w="9525" cap="flat" cmpd="sng" algn="ctr">
            <a:noFill/>
            <a:prstDash val="solid"/>
            <a:miter lim="800000"/>
            <a:headEnd type="none" w="med" len="med"/>
            <a:tailEnd type="none" w="med" len="med"/>
          </a:ln>
          <a:effectLst/>
        </p:spPr>
        <p:txBody>
          <a:bodyPr wrap="none">
            <a:spAutoFit/>
          </a:bodyPr>
          <a:lstStyle/>
          <a:p>
            <a:pPr algn="ctr">
              <a:defRPr/>
            </a:pPr>
            <a:r>
              <a:rPr lang="en-US" sz="1600" dirty="0">
                <a:solidFill>
                  <a:schemeClr val="tx1">
                    <a:alpha val="100000"/>
                  </a:schemeClr>
                </a:solidFill>
              </a:rPr>
              <a:t>implements</a:t>
            </a:r>
            <a:endParaRPr lang="en-US" dirty="0">
              <a:solidFill>
                <a:schemeClr val="tx1">
                  <a:alpha val="100000"/>
                </a:schemeClr>
              </a:solidFill>
            </a:endParaRPr>
          </a:p>
        </p:txBody>
      </p:sp>
      <p:cxnSp>
        <p:nvCxnSpPr>
          <p:cNvPr id="26" name="Curved Connector 25"/>
          <p:cNvCxnSpPr>
            <a:cxnSpLocks noChangeShapeType="1"/>
            <a:stCxn id="25" idx="1"/>
            <a:endCxn id="18" idx="3"/>
          </p:cNvCxnSpPr>
          <p:nvPr/>
        </p:nvCxnSpPr>
        <p:spPr bwMode="auto">
          <a:xfrm rot="10800000" flipV="1">
            <a:off x="4578350" y="3587750"/>
            <a:ext cx="369888" cy="3175"/>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27" name="Rectangle 26"/>
          <p:cNvSpPr>
            <a:spLocks noChangeArrowheads="1"/>
          </p:cNvSpPr>
          <p:nvPr/>
        </p:nvSpPr>
        <p:spPr bwMode="auto">
          <a:xfrm>
            <a:off x="3262313" y="1428750"/>
            <a:ext cx="1300162" cy="468313"/>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Policy</a:t>
            </a:r>
            <a:endParaRPr lang="en-US" dirty="0">
              <a:solidFill>
                <a:schemeClr val="tx1">
                  <a:alpha val="100000"/>
                </a:schemeClr>
              </a:solidFill>
            </a:endParaRPr>
          </a:p>
        </p:txBody>
      </p:sp>
      <p:cxnSp>
        <p:nvCxnSpPr>
          <p:cNvPr id="28" name="Shape 197"/>
          <p:cNvCxnSpPr>
            <a:cxnSpLocks noChangeShapeType="1"/>
            <a:stCxn id="27" idx="3"/>
            <a:endCxn id="29" idx="1"/>
          </p:cNvCxnSpPr>
          <p:nvPr/>
        </p:nvCxnSpPr>
        <p:spPr bwMode="auto">
          <a:xfrm flipV="1">
            <a:off x="4562475" y="1658938"/>
            <a:ext cx="295275" cy="3175"/>
          </a:xfrm>
          <a:prstGeom prst="curvedConnector3">
            <a:avLst>
              <a:gd name="adj1" fmla="val 50000"/>
            </a:avLst>
          </a:prstGeom>
          <a:ln>
            <a:headEnd type="stealth" w="lg" len="lg"/>
            <a:tailEnd type="none" w="lg" len="med"/>
          </a:ln>
        </p:spPr>
        <p:style>
          <a:lnRef idx="2">
            <a:schemeClr val="accent5"/>
          </a:lnRef>
          <a:fillRef idx="0">
            <a:schemeClr val="accent5"/>
          </a:fillRef>
          <a:effectRef idx="1">
            <a:schemeClr val="accent5"/>
          </a:effectRef>
          <a:fontRef idx="minor">
            <a:schemeClr val="tx1"/>
          </a:fontRef>
        </p:style>
      </p:cxnSp>
      <p:sp>
        <p:nvSpPr>
          <p:cNvPr id="29" name="TextBox 28"/>
          <p:cNvSpPr txBox="1">
            <a:spLocks noChangeArrowheads="1"/>
          </p:cNvSpPr>
          <p:nvPr/>
        </p:nvSpPr>
        <p:spPr bwMode="auto">
          <a:xfrm>
            <a:off x="4857750" y="1490663"/>
            <a:ext cx="1246188" cy="338137"/>
          </a:xfrm>
          <a:prstGeom prst="rect">
            <a:avLst/>
          </a:prstGeom>
          <a:noFill/>
          <a:ln w="9525" cap="flat" cmpd="sng" algn="ctr">
            <a:noFill/>
            <a:prstDash val="solid"/>
            <a:miter lim="800000"/>
            <a:headEnd type="none" w="med" len="med"/>
            <a:tailEnd type="none" w="med" len="med"/>
          </a:ln>
          <a:effectLst/>
        </p:spPr>
        <p:txBody>
          <a:bodyPr wrap="none">
            <a:spAutoFit/>
          </a:bodyPr>
          <a:lstStyle/>
          <a:p>
            <a:pPr algn="ctr">
              <a:defRPr/>
            </a:pPr>
            <a:r>
              <a:rPr lang="en-US" sz="1600" dirty="0">
                <a:solidFill>
                  <a:schemeClr val="tx1">
                    <a:alpha val="100000"/>
                  </a:schemeClr>
                </a:solidFill>
              </a:rPr>
              <a:t>governed by</a:t>
            </a:r>
            <a:endParaRPr lang="en-US" dirty="0">
              <a:solidFill>
                <a:schemeClr val="tx1">
                  <a:alpha val="100000"/>
                </a:schemeClr>
              </a:solidFill>
            </a:endParaRPr>
          </a:p>
        </p:txBody>
      </p:sp>
      <p:cxnSp>
        <p:nvCxnSpPr>
          <p:cNvPr id="30" name="Curved Connector 251"/>
          <p:cNvCxnSpPr>
            <a:cxnSpLocks noChangeShapeType="1"/>
            <a:endCxn id="31" idx="1"/>
          </p:cNvCxnSpPr>
          <p:nvPr/>
        </p:nvCxnSpPr>
        <p:spPr bwMode="auto">
          <a:xfrm rot="5400000" flipV="1">
            <a:off x="667544" y="4188619"/>
            <a:ext cx="1216025" cy="477837"/>
          </a:xfrm>
          <a:prstGeom prst="curvedConnector2">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31" name="TextBox 30"/>
          <p:cNvSpPr txBox="1">
            <a:spLocks noChangeArrowheads="1"/>
          </p:cNvSpPr>
          <p:nvPr/>
        </p:nvSpPr>
        <p:spPr bwMode="auto">
          <a:xfrm>
            <a:off x="1514475" y="4865688"/>
            <a:ext cx="1514475" cy="339725"/>
          </a:xfrm>
          <a:prstGeom prst="rect">
            <a:avLst/>
          </a:prstGeom>
          <a:noFill/>
          <a:ln w="9525" cap="flat" cmpd="sng" algn="ctr">
            <a:noFill/>
            <a:prstDash val="solid"/>
            <a:miter lim="800000"/>
            <a:headEnd type="none" w="med" len="med"/>
            <a:tailEnd type="none" w="med" len="med"/>
          </a:ln>
          <a:effectLst/>
        </p:spPr>
        <p:txBody>
          <a:bodyPr wrap="none">
            <a:spAutoFit/>
          </a:bodyPr>
          <a:lstStyle/>
          <a:p>
            <a:pPr algn="ctr">
              <a:defRPr/>
            </a:pPr>
            <a:r>
              <a:rPr lang="en-US" sz="1600" dirty="0">
                <a:solidFill>
                  <a:schemeClr val="tx1">
                    <a:alpha val="100000"/>
                  </a:schemeClr>
                </a:solidFill>
              </a:rPr>
              <a:t>Sends/Receives</a:t>
            </a:r>
            <a:endParaRPr lang="en-US" dirty="0">
              <a:solidFill>
                <a:schemeClr val="tx1">
                  <a:alpha val="100000"/>
                </a:schemeClr>
              </a:solidFill>
            </a:endParaRPr>
          </a:p>
        </p:txBody>
      </p:sp>
      <p:cxnSp>
        <p:nvCxnSpPr>
          <p:cNvPr id="32" name="Shape 258"/>
          <p:cNvCxnSpPr>
            <a:cxnSpLocks noChangeShapeType="1"/>
            <a:stCxn id="31" idx="3"/>
            <a:endCxn id="14" idx="1"/>
          </p:cNvCxnSpPr>
          <p:nvPr/>
        </p:nvCxnSpPr>
        <p:spPr bwMode="auto">
          <a:xfrm>
            <a:off x="3028950" y="5035550"/>
            <a:ext cx="257175" cy="6350"/>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cxnSp>
        <p:nvCxnSpPr>
          <p:cNvPr id="33" name="Shape 32"/>
          <p:cNvCxnSpPr>
            <a:cxnSpLocks noChangeShapeType="1"/>
            <a:stCxn id="34" idx="1"/>
          </p:cNvCxnSpPr>
          <p:nvPr/>
        </p:nvCxnSpPr>
        <p:spPr bwMode="auto">
          <a:xfrm rot="10800000" flipV="1">
            <a:off x="1036638" y="1657350"/>
            <a:ext cx="762000" cy="1693863"/>
          </a:xfrm>
          <a:prstGeom prst="curvedConnector2">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34" name="TextBox 33"/>
          <p:cNvSpPr txBox="1">
            <a:spLocks noChangeArrowheads="1"/>
          </p:cNvSpPr>
          <p:nvPr/>
        </p:nvSpPr>
        <p:spPr bwMode="auto">
          <a:xfrm>
            <a:off x="1798638" y="1487488"/>
            <a:ext cx="1119187" cy="338137"/>
          </a:xfrm>
          <a:prstGeom prst="rect">
            <a:avLst/>
          </a:prstGeom>
          <a:noFill/>
          <a:ln w="9525" cap="flat" cmpd="sng" algn="ctr">
            <a:noFill/>
            <a:prstDash val="solid"/>
            <a:miter lim="800000"/>
            <a:headEnd type="none" w="med" len="med"/>
            <a:tailEnd type="none" w="med" len="med"/>
          </a:ln>
          <a:effectLst/>
        </p:spPr>
        <p:txBody>
          <a:bodyPr>
            <a:spAutoFit/>
          </a:bodyPr>
          <a:lstStyle/>
          <a:p>
            <a:pPr algn="ctr">
              <a:defRPr/>
            </a:pPr>
            <a:r>
              <a:rPr lang="en-US" sz="1600" dirty="0">
                <a:solidFill>
                  <a:schemeClr val="tx1">
                    <a:alpha val="100000"/>
                  </a:schemeClr>
                </a:solidFill>
              </a:rPr>
              <a:t>Adheres to</a:t>
            </a:r>
            <a:endParaRPr lang="en-US" dirty="0">
              <a:solidFill>
                <a:schemeClr val="tx1">
                  <a:alpha val="100000"/>
                </a:schemeClr>
              </a:solidFill>
            </a:endParaRPr>
          </a:p>
        </p:txBody>
      </p:sp>
      <p:cxnSp>
        <p:nvCxnSpPr>
          <p:cNvPr id="35" name="Curved Connector 34"/>
          <p:cNvCxnSpPr>
            <a:cxnSpLocks noChangeShapeType="1"/>
            <a:stCxn id="34" idx="3"/>
            <a:endCxn id="27" idx="1"/>
          </p:cNvCxnSpPr>
          <p:nvPr/>
        </p:nvCxnSpPr>
        <p:spPr bwMode="auto">
          <a:xfrm>
            <a:off x="2917825" y="1657350"/>
            <a:ext cx="344488" cy="4763"/>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36" name="Rectangle 35"/>
          <p:cNvSpPr>
            <a:spLocks noChangeArrowheads="1"/>
          </p:cNvSpPr>
          <p:nvPr/>
        </p:nvSpPr>
        <p:spPr bwMode="auto">
          <a:xfrm>
            <a:off x="7494588" y="4773613"/>
            <a:ext cx="142875" cy="142875"/>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endParaRPr lang="en-US" sz="1600" dirty="0">
              <a:solidFill>
                <a:schemeClr val="tx1">
                  <a:alpha val="100000"/>
                </a:schemeClr>
              </a:solidFill>
            </a:endParaRPr>
          </a:p>
        </p:txBody>
      </p:sp>
      <p:cxnSp>
        <p:nvCxnSpPr>
          <p:cNvPr id="37" name="Shape 47"/>
          <p:cNvCxnSpPr>
            <a:cxnSpLocks noChangeShapeType="1"/>
          </p:cNvCxnSpPr>
          <p:nvPr/>
        </p:nvCxnSpPr>
        <p:spPr bwMode="auto">
          <a:xfrm flipV="1">
            <a:off x="7475538" y="5019675"/>
            <a:ext cx="182562" cy="0"/>
          </a:xfrm>
          <a:prstGeom prst="curvedConnector3">
            <a:avLst>
              <a:gd name="adj1" fmla="val 50000"/>
            </a:avLst>
          </a:prstGeom>
          <a:noFill/>
          <a:ln w="25400" algn="ctr">
            <a:solidFill>
              <a:srgbClr val="000000"/>
            </a:solidFill>
            <a:round/>
            <a:headEnd/>
            <a:tailEnd type="stealth" w="med" len="lg"/>
          </a:ln>
          <a:extLst>
            <a:ext uri="{909E8E84-426E-40DD-AFC4-6F175D3DCCD1}">
              <a14:hiddenFill xmlns:a14="http://schemas.microsoft.com/office/drawing/2010/main">
                <a:noFill/>
              </a14:hiddenFill>
            </a:ext>
          </a:extLst>
        </p:spPr>
      </p:cxnSp>
      <p:sp>
        <p:nvSpPr>
          <p:cNvPr id="38" name="TextBox 37"/>
          <p:cNvSpPr txBox="1"/>
          <p:nvPr/>
        </p:nvSpPr>
        <p:spPr>
          <a:xfrm>
            <a:off x="7605713" y="4737100"/>
            <a:ext cx="677862" cy="214313"/>
          </a:xfrm>
          <a:prstGeom prst="rect">
            <a:avLst/>
          </a:prstGeom>
          <a:noFill/>
          <a:ln>
            <a:noFill/>
          </a:ln>
        </p:spPr>
        <p:txBody>
          <a:bodyPr wrap="none">
            <a:spAutoFit/>
          </a:bodyPr>
          <a:lstStyle/>
          <a:p>
            <a:pPr>
              <a:defRPr/>
            </a:pPr>
            <a:r>
              <a:rPr lang="en-US" sz="800" dirty="0"/>
              <a:t>Component</a:t>
            </a:r>
          </a:p>
        </p:txBody>
      </p:sp>
      <p:sp>
        <p:nvSpPr>
          <p:cNvPr id="39" name="TextBox 38"/>
          <p:cNvSpPr txBox="1"/>
          <p:nvPr/>
        </p:nvSpPr>
        <p:spPr>
          <a:xfrm>
            <a:off x="7605713" y="4911725"/>
            <a:ext cx="531812" cy="215900"/>
          </a:xfrm>
          <a:prstGeom prst="rect">
            <a:avLst/>
          </a:prstGeom>
          <a:noFill/>
          <a:ln>
            <a:noFill/>
          </a:ln>
        </p:spPr>
        <p:txBody>
          <a:bodyPr wrap="none">
            <a:spAutoFit/>
          </a:bodyPr>
          <a:lstStyle/>
          <a:p>
            <a:pPr>
              <a:defRPr/>
            </a:pPr>
            <a:r>
              <a:rPr lang="en-US" sz="800" dirty="0"/>
              <a:t>Relation</a:t>
            </a:r>
          </a:p>
        </p:txBody>
      </p:sp>
      <p:sp>
        <p:nvSpPr>
          <p:cNvPr id="40" name="TextBox 39"/>
          <p:cNvSpPr txBox="1"/>
          <p:nvPr/>
        </p:nvSpPr>
        <p:spPr>
          <a:xfrm>
            <a:off x="7391400" y="4500563"/>
            <a:ext cx="339725" cy="214312"/>
          </a:xfrm>
          <a:prstGeom prst="rect">
            <a:avLst/>
          </a:prstGeom>
          <a:noFill/>
          <a:ln>
            <a:noFill/>
          </a:ln>
        </p:spPr>
        <p:txBody>
          <a:bodyPr wrap="none">
            <a:spAutoFit/>
          </a:bodyPr>
          <a:lstStyle/>
          <a:p>
            <a:pPr>
              <a:defRPr/>
            </a:pPr>
            <a:r>
              <a:rPr lang="en-US" sz="800" dirty="0"/>
              <a:t>Key</a:t>
            </a:r>
          </a:p>
        </p:txBody>
      </p:sp>
      <p:cxnSp>
        <p:nvCxnSpPr>
          <p:cNvPr id="41" name="Shape 40"/>
          <p:cNvCxnSpPr>
            <a:cxnSpLocks noChangeShapeType="1"/>
            <a:stCxn id="29" idx="3"/>
            <a:endCxn id="7" idx="0"/>
          </p:cNvCxnSpPr>
          <p:nvPr/>
        </p:nvCxnSpPr>
        <p:spPr bwMode="auto">
          <a:xfrm>
            <a:off x="6103938" y="1658938"/>
            <a:ext cx="893762" cy="1698625"/>
          </a:xfrm>
          <a:prstGeom prst="curvedConnector2">
            <a:avLst/>
          </a:prstGeom>
          <a:ln>
            <a:headEnd type="none" w="med" len="med"/>
            <a:tailEnd type="none" w="lg" len="lg"/>
          </a:ln>
        </p:spPr>
        <p:style>
          <a:lnRef idx="2">
            <a:schemeClr val="accent5"/>
          </a:lnRef>
          <a:fillRef idx="0">
            <a:schemeClr val="accent5"/>
          </a:fillRef>
          <a:effectRef idx="1">
            <a:schemeClr val="accent5"/>
          </a:effectRef>
          <a:fontRef idx="minor">
            <a:schemeClr val="tx1"/>
          </a:fontRef>
        </p:style>
      </p:cxnSp>
      <p:sp>
        <p:nvSpPr>
          <p:cNvPr id="42" name="TextBox 41"/>
          <p:cNvSpPr txBox="1">
            <a:spLocks noChangeArrowheads="1"/>
          </p:cNvSpPr>
          <p:nvPr/>
        </p:nvSpPr>
        <p:spPr bwMode="auto">
          <a:xfrm>
            <a:off x="1870075" y="3419475"/>
            <a:ext cx="1273175" cy="338138"/>
          </a:xfrm>
          <a:prstGeom prst="rect">
            <a:avLst/>
          </a:prstGeom>
          <a:noFill/>
          <a:ln w="9525" cap="flat" cmpd="sng" algn="ctr">
            <a:noFill/>
            <a:prstDash val="solid"/>
            <a:miter lim="800000"/>
            <a:headEnd type="none" w="med" len="med"/>
            <a:tailEnd type="none" w="med" len="med"/>
          </a:ln>
          <a:effectLst/>
        </p:spPr>
        <p:txBody>
          <a:bodyPr wrap="none">
            <a:spAutoFit/>
          </a:bodyPr>
          <a:lstStyle/>
          <a:p>
            <a:pPr algn="ctr">
              <a:defRPr/>
            </a:pPr>
            <a:r>
              <a:rPr lang="en-US" sz="1600" dirty="0">
                <a:solidFill>
                  <a:schemeClr val="tx1">
                    <a:alpha val="100000"/>
                  </a:schemeClr>
                </a:solidFill>
              </a:rPr>
              <a:t>Understands</a:t>
            </a:r>
            <a:endParaRPr lang="en-US" dirty="0">
              <a:solidFill>
                <a:schemeClr val="tx1">
                  <a:alpha val="100000"/>
                </a:schemeClr>
              </a:solidFill>
            </a:endParaRPr>
          </a:p>
        </p:txBody>
      </p:sp>
      <p:cxnSp>
        <p:nvCxnSpPr>
          <p:cNvPr id="43" name="Curved Connector 42"/>
          <p:cNvCxnSpPr>
            <a:cxnSpLocks noChangeShapeType="1"/>
            <a:stCxn id="42" idx="1"/>
          </p:cNvCxnSpPr>
          <p:nvPr/>
        </p:nvCxnSpPr>
        <p:spPr bwMode="auto">
          <a:xfrm rot="10800000">
            <a:off x="1687513" y="3584575"/>
            <a:ext cx="182562" cy="3175"/>
          </a:xfrm>
          <a:prstGeom prst="curvedConnector3">
            <a:avLst>
              <a:gd name="adj1" fmla="val 50000"/>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sp>
        <p:nvSpPr>
          <p:cNvPr id="44" name="TextBox 43"/>
          <p:cNvSpPr txBox="1">
            <a:spLocks noChangeArrowheads="1"/>
          </p:cNvSpPr>
          <p:nvPr/>
        </p:nvSpPr>
        <p:spPr bwMode="auto">
          <a:xfrm>
            <a:off x="3260725" y="2808288"/>
            <a:ext cx="1335088" cy="336550"/>
          </a:xfrm>
          <a:prstGeom prst="rect">
            <a:avLst/>
          </a:prstGeom>
          <a:noFill/>
          <a:ln w="9525" cap="flat" cmpd="sng" algn="ctr">
            <a:noFill/>
            <a:prstDash val="solid"/>
            <a:miter lim="800000"/>
            <a:headEnd type="none" w="med" len="med"/>
            <a:tailEnd type="none" w="med" len="med"/>
          </a:ln>
          <a:effectLst/>
        </p:spPr>
        <p:txBody>
          <a:bodyPr>
            <a:spAutoFit/>
          </a:bodyPr>
          <a:lstStyle/>
          <a:p>
            <a:pPr algn="ctr">
              <a:defRPr/>
            </a:pPr>
            <a:r>
              <a:rPr lang="en-US" sz="1600" dirty="0">
                <a:solidFill>
                  <a:schemeClr val="tx1">
                    <a:alpha val="100000"/>
                  </a:schemeClr>
                </a:solidFill>
              </a:rPr>
              <a:t>Serves</a:t>
            </a:r>
            <a:endParaRPr lang="en-US" dirty="0">
              <a:solidFill>
                <a:schemeClr val="tx1">
                  <a:alpha val="100000"/>
                </a:schemeClr>
              </a:solidFill>
            </a:endParaRPr>
          </a:p>
        </p:txBody>
      </p:sp>
      <p:cxnSp>
        <p:nvCxnSpPr>
          <p:cNvPr id="45" name="Shape 95239"/>
          <p:cNvCxnSpPr>
            <a:cxnSpLocks noChangeShapeType="1"/>
            <a:stCxn id="11" idx="2"/>
            <a:endCxn id="44" idx="0"/>
          </p:cNvCxnSpPr>
          <p:nvPr/>
        </p:nvCxnSpPr>
        <p:spPr bwMode="auto">
          <a:xfrm rot="5400000">
            <a:off x="3861594" y="2739231"/>
            <a:ext cx="134938" cy="3175"/>
          </a:xfrm>
          <a:prstGeom prst="curvedConnector3">
            <a:avLst>
              <a:gd name="adj1" fmla="val 50000"/>
            </a:avLst>
          </a:prstGeom>
          <a:ln>
            <a:headEnd type="none" w="med" len="med"/>
            <a:tailEnd type="none" w="lg" len="med"/>
          </a:ln>
        </p:spPr>
        <p:style>
          <a:lnRef idx="2">
            <a:schemeClr val="accent5"/>
          </a:lnRef>
          <a:fillRef idx="0">
            <a:schemeClr val="accent5"/>
          </a:fillRef>
          <a:effectRef idx="1">
            <a:schemeClr val="accent5"/>
          </a:effectRef>
          <a:fontRef idx="minor">
            <a:schemeClr val="tx1"/>
          </a:fontRef>
        </p:style>
      </p:cxnSp>
      <p:cxnSp>
        <p:nvCxnSpPr>
          <p:cNvPr id="46" name="Shape 95241"/>
          <p:cNvCxnSpPr>
            <a:cxnSpLocks noChangeShapeType="1"/>
            <a:stCxn id="44" idx="2"/>
            <a:endCxn id="18" idx="0"/>
          </p:cNvCxnSpPr>
          <p:nvPr/>
        </p:nvCxnSpPr>
        <p:spPr bwMode="auto">
          <a:xfrm rot="5400000" flipV="1">
            <a:off x="3823494" y="3248819"/>
            <a:ext cx="212725" cy="4763"/>
          </a:xfrm>
          <a:prstGeom prst="curvedConnector3">
            <a:avLst>
              <a:gd name="adj1" fmla="val 50000"/>
            </a:avLst>
          </a:prstGeom>
          <a:ln>
            <a:headEnd type="none" w="med" len="med"/>
            <a:tailEnd type="stealth" w="lg" len="lg"/>
          </a:ln>
        </p:spPr>
        <p:style>
          <a:lnRef idx="2">
            <a:schemeClr val="accent5"/>
          </a:lnRef>
          <a:fillRef idx="0">
            <a:schemeClr val="accent5"/>
          </a:fillRef>
          <a:effectRef idx="1">
            <a:schemeClr val="accent5"/>
          </a:effectRef>
          <a:fontRef idx="minor">
            <a:schemeClr val="tx1"/>
          </a:fontRef>
        </p:style>
      </p:cxnSp>
      <p:sp>
        <p:nvSpPr>
          <p:cNvPr id="47" name="Rectangle 46"/>
          <p:cNvSpPr>
            <a:spLocks noChangeArrowheads="1"/>
          </p:cNvSpPr>
          <p:nvPr/>
        </p:nvSpPr>
        <p:spPr bwMode="auto">
          <a:xfrm>
            <a:off x="387350" y="3351213"/>
            <a:ext cx="1300163" cy="468312"/>
          </a:xfrm>
          <a:prstGeom prst="rect">
            <a:avLst/>
          </a:prstGeom>
          <a:solidFill>
            <a:schemeClr val="accent6">
              <a:tint val="40000"/>
              <a:alpha val="22000"/>
            </a:schemeClr>
          </a:solidFill>
          <a:ln w="9525" cap="flat" cmpd="sng" algn="ctr">
            <a:solidFill>
              <a:schemeClr val="tx1"/>
            </a:solidFill>
            <a:prstDash val="solid"/>
            <a:miter lim="800000"/>
            <a:headEnd type="none" w="med" len="med"/>
            <a:tailEnd type="none" w="med" len="med"/>
          </a:ln>
          <a:effectLst/>
        </p:spPr>
        <p:txBody>
          <a:bodyPr wrap="none" anchor="ctr"/>
          <a:lstStyle/>
          <a:p>
            <a:pPr algn="ctr">
              <a:defRPr/>
            </a:pPr>
            <a:r>
              <a:rPr lang="en-US" sz="1600" dirty="0">
                <a:solidFill>
                  <a:schemeClr val="tx1">
                    <a:alpha val="100000"/>
                  </a:schemeClr>
                </a:solidFill>
              </a:rPr>
              <a:t>Service </a:t>
            </a:r>
            <a:endParaRPr lang="en-US" dirty="0"/>
          </a:p>
          <a:p>
            <a:pPr algn="ctr">
              <a:defRPr/>
            </a:pPr>
            <a:r>
              <a:rPr lang="en-US" sz="1600" dirty="0">
                <a:solidFill>
                  <a:schemeClr val="tx1">
                    <a:alpha val="100000"/>
                  </a:schemeClr>
                </a:solidFill>
              </a:rPr>
              <a:t>Consumer</a:t>
            </a:r>
            <a:endParaRPr lang="en-US" dirty="0">
              <a:solidFill>
                <a:schemeClr val="tx1">
                  <a:alpha val="100000"/>
                </a:schemeClr>
              </a:solidFill>
            </a:endParaRPr>
          </a:p>
        </p:txBody>
      </p:sp>
    </p:spTree>
    <p:extLst>
      <p:ext uri="{BB962C8B-B14F-4D97-AF65-F5344CB8AC3E}">
        <p14:creationId xmlns:p14="http://schemas.microsoft.com/office/powerpoint/2010/main" val="22039714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686800" cy="762000"/>
          </a:xfrm>
        </p:spPr>
        <p:txBody>
          <a:bodyPr/>
          <a:lstStyle/>
          <a:p>
            <a:r>
              <a:rPr lang="en-US" sz="3200" dirty="0" smtClean="0"/>
              <a:t>SOA Reference Architecture : Enterprise View</a:t>
            </a:r>
            <a:endParaRPr lang="en-US" sz="3200"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28</a:t>
            </a:fld>
            <a:endParaRPr lang="en-US" dirty="0"/>
          </a:p>
        </p:txBody>
      </p:sp>
      <p:sp>
        <p:nvSpPr>
          <p:cNvPr id="6" name="Rectangle 3"/>
          <p:cNvSpPr txBox="1">
            <a:spLocks noChangeArrowheads="1"/>
          </p:cNvSpPr>
          <p:nvPr/>
        </p:nvSpPr>
        <p:spPr bwMode="auto">
          <a:xfrm>
            <a:off x="685800" y="1600200"/>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04813" indent="-287338" algn="l" rtl="0" eaLnBrk="1" fontAlgn="base" hangingPunct="1">
              <a:spcBef>
                <a:spcPct val="30000"/>
              </a:spcBef>
              <a:spcAft>
                <a:spcPct val="10000"/>
              </a:spcAft>
              <a:buClrTx/>
              <a:buSzPct val="75000"/>
              <a:buFont typeface="Wingdings" pitchFamily="2" charset="2"/>
              <a:buChar char="§"/>
              <a:defRPr sz="2000">
                <a:solidFill>
                  <a:schemeClr val="tx1"/>
                </a:solidFill>
                <a:latin typeface="+mn-lt"/>
                <a:ea typeface="ＭＳ Ｐゴシック" charset="-128"/>
                <a:cs typeface="ＭＳ Ｐゴシック" charset="-128"/>
              </a:defRPr>
            </a:lvl1pPr>
            <a:lvl2pPr marL="796925" indent="-228600" algn="l" rtl="0" eaLnBrk="1" fontAlgn="base" hangingPunct="1">
              <a:spcBef>
                <a:spcPct val="30000"/>
              </a:spcBef>
              <a:spcAft>
                <a:spcPct val="10000"/>
              </a:spcAft>
              <a:buClrTx/>
              <a:buSzPct val="75000"/>
              <a:buFont typeface="Wingdings" pitchFamily="2" charset="2"/>
              <a:buChar char="§"/>
              <a:defRPr sz="1800">
                <a:solidFill>
                  <a:schemeClr val="tx1"/>
                </a:solidFill>
                <a:latin typeface="+mn-lt"/>
                <a:ea typeface="ＭＳ Ｐゴシック" charset="-128"/>
              </a:defRPr>
            </a:lvl2pPr>
            <a:lvl3pPr marL="1254125" indent="-231775" algn="l" rtl="0" eaLnBrk="1" fontAlgn="base" hangingPunct="1">
              <a:spcBef>
                <a:spcPct val="30000"/>
              </a:spcBef>
              <a:spcAft>
                <a:spcPct val="10000"/>
              </a:spcAft>
              <a:buClrTx/>
              <a:buSzPct val="75000"/>
              <a:buFont typeface="Wingdings" pitchFamily="2" charset="2"/>
              <a:buChar char="§"/>
              <a:defRPr sz="1800" i="0">
                <a:solidFill>
                  <a:schemeClr val="tx1"/>
                </a:solidFill>
                <a:latin typeface="+mn-lt"/>
                <a:ea typeface="ヒラギノ角ゴ Pro W3" charset="-128"/>
                <a:cs typeface="ヒラギノ角ゴ Pro W3" charset="-128"/>
              </a:defRPr>
            </a:lvl3pPr>
            <a:lvl4pPr marL="1771650" indent="-295275"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4pPr>
            <a:lvl5pPr marL="2171700" indent="-241300"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5pPr>
            <a:lvl6pPr marL="28400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6pPr>
            <a:lvl7pPr marL="32972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7pPr>
            <a:lvl8pPr marL="37544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8pPr>
            <a:lvl9pPr marL="42116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9pPr>
          </a:lstStyle>
          <a:p>
            <a:pPr>
              <a:lnSpc>
                <a:spcPct val="90000"/>
              </a:lnSpc>
            </a:pPr>
            <a:r>
              <a:rPr lang="en-US" sz="2400" b="0" dirty="0" smtClean="0"/>
              <a:t>Business participants from both inside and outside the organization</a:t>
            </a:r>
          </a:p>
          <a:p>
            <a:pPr>
              <a:lnSpc>
                <a:spcPct val="90000"/>
              </a:lnSpc>
            </a:pPr>
            <a:r>
              <a:rPr lang="en-US" sz="2400" b="0" dirty="0" smtClean="0"/>
              <a:t>Delivery channels</a:t>
            </a:r>
          </a:p>
          <a:p>
            <a:pPr>
              <a:lnSpc>
                <a:spcPct val="90000"/>
              </a:lnSpc>
            </a:pPr>
            <a:r>
              <a:rPr lang="en-US" sz="2400" b="0" dirty="0" smtClean="0"/>
              <a:t>Business services represent services the enterprise wants to expose to customers, partners and internal users (identified by SOMA/Service Oriented Modeling Architecture)</a:t>
            </a:r>
          </a:p>
          <a:p>
            <a:pPr>
              <a:lnSpc>
                <a:spcPct val="90000"/>
              </a:lnSpc>
            </a:pPr>
            <a:r>
              <a:rPr lang="en-US" sz="2400" b="0" dirty="0" smtClean="0"/>
              <a:t>EIS bulk of data and logic</a:t>
            </a:r>
          </a:p>
          <a:p>
            <a:pPr>
              <a:lnSpc>
                <a:spcPct val="90000"/>
              </a:lnSpc>
            </a:pPr>
            <a:r>
              <a:rPr lang="en-US" sz="2400" b="0" dirty="0" smtClean="0"/>
              <a:t>ESB routing, protocol mediation, and transformation</a:t>
            </a:r>
            <a:endParaRPr lang="en-US" sz="2400" b="0" dirty="0"/>
          </a:p>
        </p:txBody>
      </p:sp>
    </p:spTree>
    <p:extLst>
      <p:ext uri="{BB962C8B-B14F-4D97-AF65-F5344CB8AC3E}">
        <p14:creationId xmlns:p14="http://schemas.microsoft.com/office/powerpoint/2010/main" val="335555798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839200" cy="762000"/>
          </a:xfrm>
        </p:spPr>
        <p:txBody>
          <a:bodyPr/>
          <a:lstStyle/>
          <a:p>
            <a:r>
              <a:rPr lang="en-US" sz="3600" dirty="0"/>
              <a:t>SOA Reference Architecture : </a:t>
            </a:r>
            <a:r>
              <a:rPr lang="en-US" sz="3600" dirty="0" smtClean="0"/>
              <a:t>System </a:t>
            </a:r>
            <a:r>
              <a:rPr lang="en-US" sz="3600" dirty="0"/>
              <a:t>View</a:t>
            </a:r>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29</a:t>
            </a:fld>
            <a:endParaRPr lang="en-US" dirty="0"/>
          </a:p>
        </p:txBody>
      </p:sp>
      <p:sp>
        <p:nvSpPr>
          <p:cNvPr id="6" name="Rectangle 3"/>
          <p:cNvSpPr txBox="1">
            <a:spLocks noChangeArrowheads="1"/>
          </p:cNvSpPr>
          <p:nvPr/>
        </p:nvSpPr>
        <p:spPr bwMode="auto">
          <a:xfrm>
            <a:off x="685800" y="1600200"/>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04813" indent="-287338" algn="l" rtl="0" eaLnBrk="1" fontAlgn="base" hangingPunct="1">
              <a:spcBef>
                <a:spcPct val="30000"/>
              </a:spcBef>
              <a:spcAft>
                <a:spcPct val="10000"/>
              </a:spcAft>
              <a:buClrTx/>
              <a:buSzPct val="75000"/>
              <a:buFont typeface="Wingdings" pitchFamily="2" charset="2"/>
              <a:buChar char="§"/>
              <a:defRPr sz="2000">
                <a:solidFill>
                  <a:schemeClr val="tx1"/>
                </a:solidFill>
                <a:latin typeface="+mn-lt"/>
                <a:ea typeface="ＭＳ Ｐゴシック" charset="-128"/>
                <a:cs typeface="ＭＳ Ｐゴシック" charset="-128"/>
              </a:defRPr>
            </a:lvl1pPr>
            <a:lvl2pPr marL="796925" indent="-228600" algn="l" rtl="0" eaLnBrk="1" fontAlgn="base" hangingPunct="1">
              <a:spcBef>
                <a:spcPct val="30000"/>
              </a:spcBef>
              <a:spcAft>
                <a:spcPct val="10000"/>
              </a:spcAft>
              <a:buClrTx/>
              <a:buSzPct val="75000"/>
              <a:buFont typeface="Wingdings" pitchFamily="2" charset="2"/>
              <a:buChar char="§"/>
              <a:defRPr sz="1800">
                <a:solidFill>
                  <a:schemeClr val="tx1"/>
                </a:solidFill>
                <a:latin typeface="+mn-lt"/>
                <a:ea typeface="ＭＳ Ｐゴシック" charset="-128"/>
              </a:defRPr>
            </a:lvl2pPr>
            <a:lvl3pPr marL="1254125" indent="-231775" algn="l" rtl="0" eaLnBrk="1" fontAlgn="base" hangingPunct="1">
              <a:spcBef>
                <a:spcPct val="30000"/>
              </a:spcBef>
              <a:spcAft>
                <a:spcPct val="10000"/>
              </a:spcAft>
              <a:buClrTx/>
              <a:buSzPct val="75000"/>
              <a:buFont typeface="Wingdings" pitchFamily="2" charset="2"/>
              <a:buChar char="§"/>
              <a:defRPr sz="1800" i="0">
                <a:solidFill>
                  <a:schemeClr val="tx1"/>
                </a:solidFill>
                <a:latin typeface="+mn-lt"/>
                <a:ea typeface="ヒラギノ角ゴ Pro W3" charset="-128"/>
                <a:cs typeface="ヒラギノ角ゴ Pro W3" charset="-128"/>
              </a:defRPr>
            </a:lvl3pPr>
            <a:lvl4pPr marL="1771650" indent="-295275"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4pPr>
            <a:lvl5pPr marL="2171700" indent="-241300" algn="l" rtl="0" eaLnBrk="1" fontAlgn="base" hangingPunct="1">
              <a:spcBef>
                <a:spcPct val="30000"/>
              </a:spcBef>
              <a:spcAft>
                <a:spcPct val="10000"/>
              </a:spcAft>
              <a:buClrTx/>
              <a:buSzPct val="75000"/>
              <a:buFont typeface="Wingdings" pitchFamily="2" charset="2"/>
              <a:buChar char="§"/>
              <a:defRPr sz="1600" i="0">
                <a:solidFill>
                  <a:schemeClr val="tx1"/>
                </a:solidFill>
                <a:latin typeface="+mn-lt"/>
                <a:ea typeface="ヒラギノ角ゴ Pro W3" charset="-128"/>
                <a:cs typeface="ヒラギノ角ゴ Pro W3" charset="-128"/>
              </a:defRPr>
            </a:lvl5pPr>
            <a:lvl6pPr marL="28400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6pPr>
            <a:lvl7pPr marL="32972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7pPr>
            <a:lvl8pPr marL="37544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8pPr>
            <a:lvl9pPr marL="4211638" indent="-452438" algn="l" rtl="0" eaLnBrk="1" fontAlgn="base" hangingPunct="1">
              <a:spcBef>
                <a:spcPct val="30000"/>
              </a:spcBef>
              <a:spcAft>
                <a:spcPct val="10000"/>
              </a:spcAft>
              <a:buClr>
                <a:schemeClr val="tx2"/>
              </a:buClr>
              <a:buSzPct val="75000"/>
              <a:buFont typeface="Wingdings" pitchFamily="2" charset="2"/>
              <a:buChar char="§"/>
              <a:defRPr sz="2400" i="1">
                <a:solidFill>
                  <a:srgbClr val="990000"/>
                </a:solidFill>
                <a:latin typeface="+mn-lt"/>
              </a:defRPr>
            </a:lvl9pPr>
          </a:lstStyle>
          <a:p>
            <a:pPr>
              <a:lnSpc>
                <a:spcPct val="90000"/>
              </a:lnSpc>
            </a:pPr>
            <a:r>
              <a:rPr lang="en-US" sz="1400" b="0" dirty="0" smtClean="0"/>
              <a:t>Technical overview of the architecture</a:t>
            </a:r>
          </a:p>
          <a:p>
            <a:pPr>
              <a:lnSpc>
                <a:spcPct val="90000"/>
              </a:lnSpc>
            </a:pPr>
            <a:r>
              <a:rPr lang="en-US" sz="1400" b="0" dirty="0" smtClean="0"/>
              <a:t>Business as usual elements plus SOA related elements</a:t>
            </a:r>
          </a:p>
          <a:p>
            <a:pPr>
              <a:lnSpc>
                <a:spcPct val="90000"/>
              </a:lnSpc>
            </a:pPr>
            <a:r>
              <a:rPr lang="en-US" sz="1400" b="0" dirty="0" smtClean="0"/>
              <a:t>Gateways (security &amp; manageability)</a:t>
            </a:r>
          </a:p>
          <a:p>
            <a:pPr>
              <a:lnSpc>
                <a:spcPct val="90000"/>
              </a:lnSpc>
            </a:pPr>
            <a:r>
              <a:rPr lang="en-US" sz="1400" b="0" dirty="0" smtClean="0"/>
              <a:t>ESB (adapters, queues, brokers)</a:t>
            </a:r>
          </a:p>
          <a:p>
            <a:pPr>
              <a:lnSpc>
                <a:spcPct val="90000"/>
              </a:lnSpc>
            </a:pPr>
            <a:r>
              <a:rPr lang="en-US" sz="1400" b="0" dirty="0" smtClean="0"/>
              <a:t>Registries (several types)</a:t>
            </a:r>
          </a:p>
          <a:p>
            <a:pPr lvl="1">
              <a:lnSpc>
                <a:spcPct val="90000"/>
              </a:lnSpc>
            </a:pPr>
            <a:r>
              <a:rPr lang="en-US" sz="1200" b="0" dirty="0" smtClean="0"/>
              <a:t>      Service registry for service </a:t>
            </a:r>
          </a:p>
          <a:p>
            <a:pPr lvl="1">
              <a:lnSpc>
                <a:spcPct val="90000"/>
              </a:lnSpc>
            </a:pPr>
            <a:r>
              <a:rPr lang="en-US" sz="1200" b="0" dirty="0" smtClean="0"/>
              <a:t>      metadata</a:t>
            </a:r>
          </a:p>
          <a:p>
            <a:pPr lvl="1">
              <a:lnSpc>
                <a:spcPct val="90000"/>
              </a:lnSpc>
            </a:pPr>
            <a:r>
              <a:rPr lang="en-US" sz="1200" b="0" dirty="0" smtClean="0"/>
              <a:t>      LDAP registry for identities, access </a:t>
            </a:r>
          </a:p>
          <a:p>
            <a:pPr lvl="1">
              <a:lnSpc>
                <a:spcPct val="90000"/>
              </a:lnSpc>
            </a:pPr>
            <a:r>
              <a:rPr lang="en-US" sz="1200" b="0" dirty="0" smtClean="0"/>
              <a:t>      policies, certificates, configuration </a:t>
            </a:r>
          </a:p>
          <a:p>
            <a:pPr lvl="1">
              <a:lnSpc>
                <a:spcPct val="90000"/>
              </a:lnSpc>
            </a:pPr>
            <a:r>
              <a:rPr lang="en-US" sz="1200" b="0" dirty="0" smtClean="0"/>
              <a:t>      information </a:t>
            </a:r>
          </a:p>
          <a:p>
            <a:pPr>
              <a:lnSpc>
                <a:spcPct val="90000"/>
              </a:lnSpc>
            </a:pPr>
            <a:r>
              <a:rPr lang="en-US" sz="1400" b="0" dirty="0"/>
              <a:t>Information services to provide information to consumers in  a standard format despite how or where it might be stored</a:t>
            </a:r>
          </a:p>
          <a:p>
            <a:pPr>
              <a:lnSpc>
                <a:spcPct val="90000"/>
              </a:lnSpc>
            </a:pPr>
            <a:r>
              <a:rPr lang="en-US" sz="1400" b="0" dirty="0"/>
              <a:t>Process Services provide the ability to compose services together and choreograph their behavior to carry out business processes</a:t>
            </a:r>
          </a:p>
          <a:p>
            <a:pPr>
              <a:lnSpc>
                <a:spcPct val="90000"/>
              </a:lnSpc>
            </a:pPr>
            <a:r>
              <a:rPr lang="en-US" sz="1400" b="0" dirty="0"/>
              <a:t>Security Services are enhanced to meet SOA requirements</a:t>
            </a:r>
          </a:p>
          <a:p>
            <a:pPr>
              <a:lnSpc>
                <a:spcPct val="90000"/>
              </a:lnSpc>
            </a:pPr>
            <a:r>
              <a:rPr lang="en-US" sz="1400" b="0" dirty="0"/>
              <a:t>SOA related development tools are important but not shown</a:t>
            </a:r>
          </a:p>
          <a:p>
            <a:pPr>
              <a:lnSpc>
                <a:spcPct val="90000"/>
              </a:lnSpc>
              <a:buFontTx/>
              <a:buNone/>
            </a:pPr>
            <a:endParaRPr lang="en-US" sz="1400" b="0" dirty="0"/>
          </a:p>
        </p:txBody>
      </p:sp>
    </p:spTree>
    <p:extLst>
      <p:ext uri="{BB962C8B-B14F-4D97-AF65-F5344CB8AC3E}">
        <p14:creationId xmlns:p14="http://schemas.microsoft.com/office/powerpoint/2010/main" val="133171484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SOA and Little SOA</a:t>
            </a:r>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30</a:t>
            </a:fld>
            <a:endParaRPr 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550" y="1104900"/>
            <a:ext cx="6907213" cy="531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79883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Few Key SOA Protocols </a:t>
            </a:r>
          </a:p>
        </p:txBody>
      </p:sp>
      <p:sp>
        <p:nvSpPr>
          <p:cNvPr id="3" name="Content Placeholder 2"/>
          <p:cNvSpPr>
            <a:spLocks noGrp="1"/>
          </p:cNvSpPr>
          <p:nvPr>
            <p:ph idx="1"/>
          </p:nvPr>
        </p:nvSpPr>
        <p:spPr/>
        <p:txBody>
          <a:bodyPr/>
          <a:lstStyle/>
          <a:p>
            <a:r>
              <a:rPr lang="en-US" dirty="0"/>
              <a:t>Universal Description, Discovery, and Integration, </a:t>
            </a:r>
            <a:r>
              <a:rPr lang="en-US" b="1" dirty="0"/>
              <a:t>UDDI</a:t>
            </a:r>
            <a:r>
              <a:rPr lang="en-US" dirty="0"/>
              <a:t>. Defines the publication and discovery of web service implementations. </a:t>
            </a:r>
          </a:p>
          <a:p>
            <a:r>
              <a:rPr lang="en-US" dirty="0"/>
              <a:t>The Web Services Description Language, </a:t>
            </a:r>
            <a:r>
              <a:rPr lang="en-US" b="1" dirty="0"/>
              <a:t>WSDL</a:t>
            </a:r>
            <a:r>
              <a:rPr lang="en-US" dirty="0"/>
              <a:t>, is an XML-based language that defines Web Services.  </a:t>
            </a:r>
          </a:p>
          <a:p>
            <a:r>
              <a:rPr lang="en-US" b="1" dirty="0"/>
              <a:t>SOAP</a:t>
            </a:r>
            <a:r>
              <a:rPr lang="en-US" dirty="0"/>
              <a:t>  is the Service Oriented Architecture Protocol. It is a key SOA in which a network node (the client) sends a request to another node (the server).</a:t>
            </a:r>
          </a:p>
          <a:p>
            <a:r>
              <a:rPr lang="en-US" dirty="0"/>
              <a:t>The Lightweight Directory Access Protocol, or </a:t>
            </a:r>
            <a:r>
              <a:rPr lang="en-US" b="1" dirty="0"/>
              <a:t>LDAP</a:t>
            </a:r>
            <a:r>
              <a:rPr lang="en-US" dirty="0"/>
              <a:t> is protocol for querying and modifying directory services.</a:t>
            </a:r>
          </a:p>
          <a:p>
            <a:r>
              <a:rPr lang="en-US" dirty="0"/>
              <a:t>Extract, Transform, and Load, </a:t>
            </a:r>
            <a:r>
              <a:rPr lang="en-US" b="1" dirty="0"/>
              <a:t>ETL</a:t>
            </a:r>
            <a:r>
              <a:rPr lang="en-US" dirty="0"/>
              <a:t>, is a process of moving data from a legacy system and loading it into a SOA application.</a:t>
            </a:r>
          </a:p>
          <a:p>
            <a:endParaRPr lang="en-US" dirty="0"/>
          </a:p>
        </p:txBody>
      </p:sp>
      <p:sp>
        <p:nvSpPr>
          <p:cNvPr id="4" name="Slide Number Placeholder 3"/>
          <p:cNvSpPr>
            <a:spLocks noGrp="1"/>
          </p:cNvSpPr>
          <p:nvPr>
            <p:ph type="sldNum" sz="quarter" idx="10"/>
          </p:nvPr>
        </p:nvSpPr>
        <p:spPr/>
        <p:txBody>
          <a:bodyPr/>
          <a:lstStyle/>
          <a:p>
            <a:pPr>
              <a:defRPr/>
            </a:pPr>
            <a:fld id="{590BC0B2-46F0-485D-A580-7F0C5A37516E}" type="slidenum">
              <a:rPr lang="en-US" smtClean="0"/>
              <a:pPr>
                <a:defRPr/>
              </a:pPr>
              <a:t>31</a:t>
            </a:fld>
            <a:endParaRPr lang="en-US" dirty="0"/>
          </a:p>
        </p:txBody>
      </p:sp>
    </p:spTree>
    <p:extLst>
      <p:ext uri="{BB962C8B-B14F-4D97-AF65-F5344CB8AC3E}">
        <p14:creationId xmlns:p14="http://schemas.microsoft.com/office/powerpoint/2010/main" val="328385802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SOA - Governance</a:t>
            </a:r>
          </a:p>
        </p:txBody>
      </p:sp>
      <p:sp>
        <p:nvSpPr>
          <p:cNvPr id="3" name="Content Placeholder 2"/>
          <p:cNvSpPr>
            <a:spLocks noGrp="1"/>
          </p:cNvSpPr>
          <p:nvPr>
            <p:ph idx="1"/>
          </p:nvPr>
        </p:nvSpPr>
        <p:spPr>
          <a:xfrm>
            <a:off x="471717" y="1066800"/>
            <a:ext cx="8001000" cy="4419600"/>
          </a:xfrm>
        </p:spPr>
        <p:txBody>
          <a:bodyPr/>
          <a:lstStyle/>
          <a:p>
            <a:pPr>
              <a:lnSpc>
                <a:spcPct val="90000"/>
              </a:lnSpc>
            </a:pPr>
            <a:r>
              <a:rPr lang="en-US" sz="1800" dirty="0">
                <a:solidFill>
                  <a:schemeClr val="tx1"/>
                </a:solidFill>
              </a:rPr>
              <a:t>Policies </a:t>
            </a:r>
          </a:p>
          <a:p>
            <a:pPr lvl="1">
              <a:lnSpc>
                <a:spcPct val="90000"/>
              </a:lnSpc>
            </a:pPr>
            <a:r>
              <a:rPr lang="en-US" sz="1400" dirty="0">
                <a:solidFill>
                  <a:schemeClr val="tx1"/>
                </a:solidFill>
              </a:rPr>
              <a:t>Codification of laws, regulations, corporate guidelines and best practices</a:t>
            </a:r>
          </a:p>
          <a:p>
            <a:pPr lvl="1">
              <a:lnSpc>
                <a:spcPct val="90000"/>
              </a:lnSpc>
            </a:pPr>
            <a:r>
              <a:rPr lang="en-US" sz="1400" dirty="0">
                <a:solidFill>
                  <a:schemeClr val="tx1"/>
                </a:solidFill>
              </a:rPr>
              <a:t>Must address all stages of the service lifecycle (technology selection, design, development practices, configuration management, release management, runtime management, etc.)</a:t>
            </a:r>
          </a:p>
          <a:p>
            <a:pPr>
              <a:lnSpc>
                <a:spcPct val="90000"/>
              </a:lnSpc>
            </a:pPr>
            <a:r>
              <a:rPr lang="en-US" sz="1800" dirty="0">
                <a:solidFill>
                  <a:schemeClr val="tx1"/>
                </a:solidFill>
              </a:rPr>
              <a:t>Processes</a:t>
            </a:r>
          </a:p>
          <a:p>
            <a:pPr lvl="1">
              <a:lnSpc>
                <a:spcPct val="90000"/>
              </a:lnSpc>
            </a:pPr>
            <a:r>
              <a:rPr lang="en-US" sz="1400" dirty="0">
                <a:solidFill>
                  <a:schemeClr val="tx1"/>
                </a:solidFill>
              </a:rPr>
              <a:t>Enforce policies</a:t>
            </a:r>
          </a:p>
          <a:p>
            <a:pPr lvl="1">
              <a:lnSpc>
                <a:spcPct val="90000"/>
              </a:lnSpc>
            </a:pPr>
            <a:r>
              <a:rPr lang="en-US" sz="1400" dirty="0">
                <a:solidFill>
                  <a:schemeClr val="tx1"/>
                </a:solidFill>
              </a:rPr>
              <a:t>System-driven processes (code check-in, code builds, unit tests)</a:t>
            </a:r>
          </a:p>
          <a:p>
            <a:pPr lvl="1">
              <a:lnSpc>
                <a:spcPct val="90000"/>
              </a:lnSpc>
            </a:pPr>
            <a:r>
              <a:rPr lang="en-US" sz="1400" dirty="0">
                <a:solidFill>
                  <a:schemeClr val="tx1"/>
                </a:solidFill>
              </a:rPr>
              <a:t>Human-driven process (requests, design reviews, code reviews, threat assessment, test case review, release engineering, service registration, etc.)</a:t>
            </a:r>
          </a:p>
          <a:p>
            <a:pPr>
              <a:lnSpc>
                <a:spcPct val="90000"/>
              </a:lnSpc>
            </a:pPr>
            <a:r>
              <a:rPr lang="en-US" sz="1800" dirty="0">
                <a:solidFill>
                  <a:schemeClr val="tx1"/>
                </a:solidFill>
              </a:rPr>
              <a:t>Metrics</a:t>
            </a:r>
          </a:p>
          <a:p>
            <a:pPr lvl="1">
              <a:lnSpc>
                <a:spcPct val="90000"/>
              </a:lnSpc>
            </a:pPr>
            <a:r>
              <a:rPr lang="en-US" sz="1400" dirty="0">
                <a:solidFill>
                  <a:schemeClr val="tx1"/>
                </a:solidFill>
              </a:rPr>
              <a:t>Measurements of service reuse, compliancy with policy, etc.</a:t>
            </a:r>
          </a:p>
          <a:p>
            <a:pPr lvl="1">
              <a:lnSpc>
                <a:spcPct val="90000"/>
              </a:lnSpc>
            </a:pPr>
            <a:r>
              <a:rPr lang="en-US" sz="1400" dirty="0">
                <a:solidFill>
                  <a:schemeClr val="tx1"/>
                </a:solidFill>
              </a:rPr>
              <a:t>Organization</a:t>
            </a:r>
          </a:p>
          <a:p>
            <a:pPr lvl="1">
              <a:lnSpc>
                <a:spcPct val="90000"/>
              </a:lnSpc>
            </a:pPr>
            <a:r>
              <a:rPr lang="en-US" sz="1400" dirty="0">
                <a:solidFill>
                  <a:schemeClr val="tx1"/>
                </a:solidFill>
              </a:rPr>
              <a:t>Governance program should be run by SOA Board, which should have cross-functional representatives</a:t>
            </a:r>
          </a:p>
          <a:p>
            <a:endParaRPr lang="en-US" sz="1800" dirty="0">
              <a:solidFill>
                <a:schemeClr val="tx1"/>
              </a:solidFill>
            </a:endParaRPr>
          </a:p>
        </p:txBody>
      </p:sp>
      <p:sp>
        <p:nvSpPr>
          <p:cNvPr id="5" name="Slide Number Placeholder 4"/>
          <p:cNvSpPr>
            <a:spLocks noGrp="1"/>
          </p:cNvSpPr>
          <p:nvPr>
            <p:ph type="sldNum" sz="quarter" idx="12"/>
          </p:nvPr>
        </p:nvSpPr>
        <p:spPr/>
        <p:txBody>
          <a:bodyPr/>
          <a:lstStyle/>
          <a:p>
            <a:fld id="{8B8A1B24-47D4-4772-BCE7-4BB838542356}" type="slidenum">
              <a:rPr lang="en-GB" smtClean="0"/>
              <a:pPr/>
              <a:t>32</a:t>
            </a:fld>
            <a:endParaRPr lang="en-GB"/>
          </a:p>
        </p:txBody>
      </p:sp>
      <p:sp>
        <p:nvSpPr>
          <p:cNvPr id="6" name="Footer Placeholder 4"/>
          <p:cNvSpPr>
            <a:spLocks noGrp="1"/>
          </p:cNvSpPr>
          <p:nvPr>
            <p:ph type="ftr" sz="quarter" idx="4294967295"/>
          </p:nvPr>
        </p:nvSpPr>
        <p:spPr>
          <a:xfrm>
            <a:off x="0" y="6461125"/>
            <a:ext cx="2895600" cy="396875"/>
          </a:xfrm>
          <a:prstGeom prst="rect">
            <a:avLst/>
          </a:prstGeom>
        </p:spPr>
        <p:txBody>
          <a:bodyPr/>
          <a:lstStyle/>
          <a:p>
            <a:r>
              <a:rPr lang="en-US" dirty="0" smtClean="0"/>
              <a:t>Impetus Proprietary</a:t>
            </a:r>
          </a:p>
        </p:txBody>
      </p:sp>
    </p:spTree>
    <p:extLst>
      <p:ext uri="{BB962C8B-B14F-4D97-AF65-F5344CB8AC3E}">
        <p14:creationId xmlns:p14="http://schemas.microsoft.com/office/powerpoint/2010/main" val="31961312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Impact</a:t>
            </a:r>
            <a:endParaRPr lang="en-IN" dirty="0"/>
          </a:p>
        </p:txBody>
      </p:sp>
      <p:pic>
        <p:nvPicPr>
          <p:cNvPr id="1026" name="Picture 2" descr="http://www.tridens.si/wp-content/uploads/2010/04/diagram-soa.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815306"/>
            <a:ext cx="7086599" cy="4572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010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Process</a:t>
            </a:r>
            <a:endParaRPr lang="en-IN" dirty="0"/>
          </a:p>
        </p:txBody>
      </p:sp>
      <p:pic>
        <p:nvPicPr>
          <p:cNvPr id="2050" name="Picture 2" descr="http://www.tridens.si/wp-content/uploads/2010/07/SOA__Life_Cycl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6875" y="1862931"/>
            <a:ext cx="581025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668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 - MSDN</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24363474"/>
              </p:ext>
            </p:extLst>
          </p:nvPr>
        </p:nvGraphicFramePr>
        <p:xfrm>
          <a:off x="457197" y="1524950"/>
          <a:ext cx="8153402" cy="4552135"/>
        </p:xfrm>
        <a:graphic>
          <a:graphicData uri="http://schemas.openxmlformats.org/drawingml/2006/table">
            <a:tbl>
              <a:tblPr/>
              <a:tblGrid>
                <a:gridCol w="4076701"/>
                <a:gridCol w="4076701"/>
              </a:tblGrid>
              <a:tr h="235115">
                <a:tc>
                  <a:txBody>
                    <a:bodyPr/>
                    <a:lstStyle/>
                    <a:p>
                      <a:r>
                        <a:rPr lang="en-IN" sz="1200" b="1"/>
                        <a:t>Myth</a:t>
                      </a:r>
                      <a:endParaRPr lang="en-IN" sz="1200"/>
                    </a:p>
                  </a:txBody>
                  <a:tcPr marL="58779" marR="58779" marT="29389" marB="29389" anchor="ctr">
                    <a:lnL>
                      <a:noFill/>
                    </a:lnL>
                    <a:lnR>
                      <a:noFill/>
                    </a:lnR>
                    <a:lnT>
                      <a:noFill/>
                    </a:lnT>
                    <a:lnB>
                      <a:noFill/>
                    </a:lnB>
                  </a:tcPr>
                </a:tc>
                <a:tc>
                  <a:txBody>
                    <a:bodyPr/>
                    <a:lstStyle/>
                    <a:p>
                      <a:r>
                        <a:rPr lang="en-IN" sz="1200" b="1"/>
                        <a:t>Fact</a:t>
                      </a:r>
                      <a:endParaRPr lang="en-IN" sz="1200"/>
                    </a:p>
                  </a:txBody>
                  <a:tcPr marL="58779" marR="58779" marT="29389" marB="29389" anchor="ctr">
                    <a:lnL>
                      <a:noFill/>
                    </a:lnL>
                    <a:lnR>
                      <a:noFill/>
                    </a:lnR>
                    <a:lnT>
                      <a:noFill/>
                    </a:lnT>
                    <a:lnB>
                      <a:noFill/>
                    </a:lnB>
                  </a:tcPr>
                </a:tc>
              </a:tr>
              <a:tr h="1469468">
                <a:tc>
                  <a:txBody>
                    <a:bodyPr/>
                    <a:lstStyle/>
                    <a:p>
                      <a:r>
                        <a:rPr lang="en-IN" sz="1200"/>
                        <a:t>SOA is a technology</a:t>
                      </a:r>
                    </a:p>
                  </a:txBody>
                  <a:tcPr marL="58779" marR="58779" marT="29389" marB="29389" anchor="ctr">
                    <a:lnL>
                      <a:noFill/>
                    </a:lnL>
                    <a:lnR>
                      <a:noFill/>
                    </a:lnR>
                    <a:lnT>
                      <a:noFill/>
                    </a:lnT>
                    <a:lnB>
                      <a:noFill/>
                    </a:lnB>
                  </a:tcPr>
                </a:tc>
                <a:tc>
                  <a:txBody>
                    <a:bodyPr/>
                    <a:lstStyle/>
                    <a:p>
                      <a:r>
                        <a:rPr lang="en-US" sz="1200"/>
                        <a:t>SOA is a design philosophy independent of any vendor, product, technology or industry trend. No vendor will ever offer a “complete” SOA “stack” because SOA needs vary from one organization to another. Purchasing your SOA infrastructure from a single vendor defeats the purpose of investing in SOA.</a:t>
                      </a:r>
                    </a:p>
                  </a:txBody>
                  <a:tcPr marL="58779" marR="58779" marT="29389" marB="29389" anchor="ctr">
                    <a:lnL>
                      <a:noFill/>
                    </a:lnL>
                    <a:lnR>
                      <a:noFill/>
                    </a:lnR>
                    <a:lnT>
                      <a:noFill/>
                    </a:lnT>
                    <a:lnB>
                      <a:noFill/>
                    </a:lnB>
                  </a:tcPr>
                </a:tc>
              </a:tr>
              <a:tr h="587787">
                <a:tc>
                  <a:txBody>
                    <a:bodyPr/>
                    <a:lstStyle/>
                    <a:p>
                      <a:r>
                        <a:rPr lang="en-IN" sz="1200"/>
                        <a:t>SOAs require Web Services</a:t>
                      </a:r>
                    </a:p>
                  </a:txBody>
                  <a:tcPr marL="58779" marR="58779" marT="29389" marB="29389" anchor="ctr">
                    <a:lnL>
                      <a:noFill/>
                    </a:lnL>
                    <a:lnR>
                      <a:noFill/>
                    </a:lnR>
                    <a:lnT>
                      <a:noFill/>
                    </a:lnT>
                    <a:lnB>
                      <a:noFill/>
                    </a:lnB>
                  </a:tcPr>
                </a:tc>
                <a:tc>
                  <a:txBody>
                    <a:bodyPr/>
                    <a:lstStyle/>
                    <a:p>
                      <a:r>
                        <a:rPr lang="en-US" sz="1200"/>
                        <a:t>SOAs may be realized via Web services but Web services are not necessarily required to implement SOA</a:t>
                      </a:r>
                    </a:p>
                  </a:txBody>
                  <a:tcPr marL="58779" marR="58779" marT="29389" marB="29389" anchor="ctr">
                    <a:lnL>
                      <a:noFill/>
                    </a:lnL>
                    <a:lnR>
                      <a:noFill/>
                    </a:lnR>
                    <a:lnT>
                      <a:noFill/>
                    </a:lnT>
                    <a:lnB>
                      <a:noFill/>
                    </a:lnB>
                  </a:tcPr>
                </a:tc>
              </a:tr>
              <a:tr h="411451">
                <a:tc>
                  <a:txBody>
                    <a:bodyPr/>
                    <a:lstStyle/>
                    <a:p>
                      <a:r>
                        <a:rPr lang="en-US" sz="1200"/>
                        <a:t>SOA is new and revolutionary</a:t>
                      </a:r>
                    </a:p>
                  </a:txBody>
                  <a:tcPr marL="58779" marR="58779" marT="29389" marB="29389" anchor="ctr">
                    <a:lnL>
                      <a:noFill/>
                    </a:lnL>
                    <a:lnR>
                      <a:noFill/>
                    </a:lnR>
                    <a:lnT>
                      <a:noFill/>
                    </a:lnT>
                    <a:lnB>
                      <a:noFill/>
                    </a:lnB>
                  </a:tcPr>
                </a:tc>
                <a:tc>
                  <a:txBody>
                    <a:bodyPr/>
                    <a:lstStyle/>
                    <a:p>
                      <a:r>
                        <a:rPr lang="en-US" sz="1200"/>
                        <a:t>EDI, CORBA and DCOM were conceptual examples of SO</a:t>
                      </a:r>
                    </a:p>
                  </a:txBody>
                  <a:tcPr marL="58779" marR="58779" marT="29389" marB="29389" anchor="ctr">
                    <a:lnL>
                      <a:noFill/>
                    </a:lnL>
                    <a:lnR>
                      <a:noFill/>
                    </a:lnR>
                    <a:lnT>
                      <a:noFill/>
                    </a:lnT>
                    <a:lnB>
                      <a:noFill/>
                    </a:lnB>
                  </a:tcPr>
                </a:tc>
              </a:tr>
              <a:tr h="411451">
                <a:tc>
                  <a:txBody>
                    <a:bodyPr/>
                    <a:lstStyle/>
                    <a:p>
                      <a:r>
                        <a:rPr lang="en-US" sz="1200"/>
                        <a:t>SOA ensures the alignment of IT and business</a:t>
                      </a:r>
                    </a:p>
                  </a:txBody>
                  <a:tcPr marL="58779" marR="58779" marT="29389" marB="29389" anchor="ctr">
                    <a:lnL>
                      <a:noFill/>
                    </a:lnL>
                    <a:lnR>
                      <a:noFill/>
                    </a:lnR>
                    <a:lnT>
                      <a:noFill/>
                    </a:lnT>
                    <a:lnB>
                      <a:noFill/>
                    </a:lnB>
                  </a:tcPr>
                </a:tc>
                <a:tc>
                  <a:txBody>
                    <a:bodyPr/>
                    <a:lstStyle/>
                    <a:p>
                      <a:r>
                        <a:rPr lang="en-US" sz="1200"/>
                        <a:t>SOA is not a methodology</a:t>
                      </a:r>
                    </a:p>
                  </a:txBody>
                  <a:tcPr marL="58779" marR="58779" marT="29389" marB="29389" anchor="ctr">
                    <a:lnL>
                      <a:noFill/>
                    </a:lnL>
                    <a:lnR>
                      <a:noFill/>
                    </a:lnR>
                    <a:lnT>
                      <a:noFill/>
                    </a:lnT>
                    <a:lnB>
                      <a:noFill/>
                    </a:lnB>
                  </a:tcPr>
                </a:tc>
              </a:tr>
              <a:tr h="764124">
                <a:tc>
                  <a:txBody>
                    <a:bodyPr/>
                    <a:lstStyle/>
                    <a:p>
                      <a:r>
                        <a:rPr lang="en-US" sz="1200"/>
                        <a:t>A SOA Reference Architecture reduces implementation risk</a:t>
                      </a:r>
                    </a:p>
                  </a:txBody>
                  <a:tcPr marL="58779" marR="58779" marT="29389" marB="29389" anchor="ctr">
                    <a:lnL>
                      <a:noFill/>
                    </a:lnL>
                    <a:lnR>
                      <a:noFill/>
                    </a:lnR>
                    <a:lnT>
                      <a:noFill/>
                    </a:lnT>
                    <a:lnB>
                      <a:noFill/>
                    </a:lnB>
                  </a:tcPr>
                </a:tc>
                <a:tc>
                  <a:txBody>
                    <a:bodyPr/>
                    <a:lstStyle/>
                    <a:p>
                      <a:r>
                        <a:rPr lang="en-US" sz="1200"/>
                        <a:t>SOAs are like snowflakes – no two are the same. A SOA Reference Architecture may not necessarily provide the best solution for your organization</a:t>
                      </a:r>
                    </a:p>
                  </a:txBody>
                  <a:tcPr marL="58779" marR="58779" marT="29389" marB="29389" anchor="ctr">
                    <a:lnL>
                      <a:noFill/>
                    </a:lnL>
                    <a:lnR>
                      <a:noFill/>
                    </a:lnR>
                    <a:lnT>
                      <a:noFill/>
                    </a:lnT>
                    <a:lnB>
                      <a:noFill/>
                    </a:lnB>
                  </a:tcPr>
                </a:tc>
              </a:tr>
              <a:tr h="411451">
                <a:tc>
                  <a:txBody>
                    <a:bodyPr/>
                    <a:lstStyle/>
                    <a:p>
                      <a:r>
                        <a:rPr lang="en-US" sz="1200"/>
                        <a:t>SOA requires a complete technology and business processes overhaul</a:t>
                      </a:r>
                    </a:p>
                  </a:txBody>
                  <a:tcPr marL="58779" marR="58779" marT="29389" marB="29389" anchor="ctr">
                    <a:lnL>
                      <a:noFill/>
                    </a:lnL>
                    <a:lnR>
                      <a:noFill/>
                    </a:lnR>
                    <a:lnT>
                      <a:noFill/>
                    </a:lnT>
                    <a:lnB>
                      <a:noFill/>
                    </a:lnB>
                  </a:tcPr>
                </a:tc>
                <a:tc>
                  <a:txBody>
                    <a:bodyPr/>
                    <a:lstStyle/>
                    <a:p>
                      <a:r>
                        <a:rPr lang="en-US" sz="1200"/>
                        <a:t>SOA should be incremental and built upon your current investments</a:t>
                      </a:r>
                    </a:p>
                  </a:txBody>
                  <a:tcPr marL="58779" marR="58779" marT="29389" marB="29389" anchor="ctr">
                    <a:lnL>
                      <a:noFill/>
                    </a:lnL>
                    <a:lnR>
                      <a:noFill/>
                    </a:lnR>
                    <a:lnT>
                      <a:noFill/>
                    </a:lnT>
                    <a:lnB>
                      <a:noFill/>
                    </a:lnB>
                  </a:tcPr>
                </a:tc>
              </a:tr>
              <a:tr h="235115">
                <a:tc>
                  <a:txBody>
                    <a:bodyPr/>
                    <a:lstStyle/>
                    <a:p>
                      <a:r>
                        <a:rPr lang="en-US" sz="1200"/>
                        <a:t>We need to build a SOA</a:t>
                      </a:r>
                    </a:p>
                  </a:txBody>
                  <a:tcPr marL="58779" marR="58779" marT="29389" marB="29389" anchor="ctr">
                    <a:lnL>
                      <a:noFill/>
                    </a:lnL>
                    <a:lnR>
                      <a:noFill/>
                    </a:lnR>
                    <a:lnT>
                      <a:noFill/>
                    </a:lnT>
                    <a:lnB>
                      <a:noFill/>
                    </a:lnB>
                  </a:tcPr>
                </a:tc>
                <a:tc>
                  <a:txBody>
                    <a:bodyPr/>
                    <a:lstStyle/>
                    <a:p>
                      <a:r>
                        <a:rPr lang="en-US" sz="1200" dirty="0"/>
                        <a:t>SOA is a means, not an end</a:t>
                      </a:r>
                    </a:p>
                  </a:txBody>
                  <a:tcPr marL="58779" marR="58779" marT="29389" marB="29389" anchor="ctr">
                    <a:lnL>
                      <a:noFill/>
                    </a:lnL>
                    <a:lnR>
                      <a:noFill/>
                    </a:lnR>
                    <a:lnT>
                      <a:noFill/>
                    </a:lnT>
                    <a:lnB>
                      <a:noFill/>
                    </a:lnB>
                  </a:tcPr>
                </a:tc>
              </a:tr>
            </a:tbl>
          </a:graphicData>
        </a:graphic>
      </p:graphicFrame>
    </p:spTree>
    <p:extLst>
      <p:ext uri="{BB962C8B-B14F-4D97-AF65-F5344CB8AC3E}">
        <p14:creationId xmlns:p14="http://schemas.microsoft.com/office/powerpoint/2010/main" val="39177334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ESB</a:t>
            </a:r>
            <a:endParaRPr lang="en-US" dirty="0"/>
          </a:p>
        </p:txBody>
      </p:sp>
      <p:sp>
        <p:nvSpPr>
          <p:cNvPr id="3" name="Content Placeholder 2"/>
          <p:cNvSpPr>
            <a:spLocks noGrp="1"/>
          </p:cNvSpPr>
          <p:nvPr>
            <p:ph idx="1"/>
          </p:nvPr>
        </p:nvSpPr>
        <p:spPr/>
        <p:txBody>
          <a:bodyPr>
            <a:normAutofit/>
          </a:bodyPr>
          <a:lstStyle/>
          <a:p>
            <a:pPr lvl="1"/>
            <a:r>
              <a:rPr lang="en-US" dirty="0"/>
              <a:t>ESB is an architectural integration pattern that provides a flexible infrastructure that enables dynamic and adaptable </a:t>
            </a:r>
            <a:r>
              <a:rPr lang="en-US" dirty="0" smtClean="0"/>
              <a:t>integration</a:t>
            </a:r>
          </a:p>
          <a:p>
            <a:pPr lvl="1"/>
            <a:r>
              <a:rPr lang="en-US" dirty="0"/>
              <a:t>Enterprise Service Bus (ESB) provides an infrastructure to implement this SOA concept. Instead of going back again to point to point integration to implement SOA, ESBs extend knowledge gained in EAI work that simplifies the integration and flexible use of business components.</a:t>
            </a:r>
            <a:endParaRPr lang="en-US" dirty="0" smtClean="0"/>
          </a:p>
        </p:txBody>
      </p:sp>
    </p:spTree>
    <p:extLst>
      <p:ext uri="{BB962C8B-B14F-4D97-AF65-F5344CB8AC3E}">
        <p14:creationId xmlns:p14="http://schemas.microsoft.com/office/powerpoint/2010/main" val="26641064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ESB</a:t>
            </a:r>
            <a:endParaRPr lang="en-IN" dirty="0"/>
          </a:p>
        </p:txBody>
      </p:sp>
      <p:pic>
        <p:nvPicPr>
          <p:cNvPr id="2050" name="Picture 2" descr="enter image description he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2582069"/>
            <a:ext cx="5454390" cy="3056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093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ESB</a:t>
            </a:r>
            <a:endParaRPr lang="en-IN" dirty="0"/>
          </a:p>
        </p:txBody>
      </p:sp>
      <p:sp>
        <p:nvSpPr>
          <p:cNvPr id="3" name="Content Placeholder 2"/>
          <p:cNvSpPr>
            <a:spLocks noGrp="1"/>
          </p:cNvSpPr>
          <p:nvPr>
            <p:ph idx="1"/>
          </p:nvPr>
        </p:nvSpPr>
        <p:spPr/>
        <p:txBody>
          <a:bodyPr>
            <a:normAutofit fontScale="77500" lnSpcReduction="20000"/>
          </a:bodyPr>
          <a:lstStyle/>
          <a:p>
            <a:r>
              <a:rPr lang="en-US" dirty="0"/>
              <a:t>An ESB is typically defined by the list of services it provides. Services commonly included are:</a:t>
            </a:r>
          </a:p>
          <a:p>
            <a:pPr lvl="1"/>
            <a:r>
              <a:rPr lang="en-US" dirty="0"/>
              <a:t>Transport mediation—not all applications and services that need to be integrated use HTTP or JMS.</a:t>
            </a:r>
          </a:p>
          <a:p>
            <a:pPr lvl="1"/>
            <a:r>
              <a:rPr lang="en-US" dirty="0"/>
              <a:t>Dynamic message transformation—not all services use SOAP and are unlikely to require the same message structures.</a:t>
            </a:r>
          </a:p>
          <a:p>
            <a:pPr lvl="1"/>
            <a:r>
              <a:rPr lang="en-US" dirty="0"/>
              <a:t>Intelligent routing—not all messages emanating from a source are intended for the same destination. The target destination will likely depend on some criteria inherent in the message.</a:t>
            </a:r>
          </a:p>
          <a:p>
            <a:pPr lvl="1"/>
            <a:r>
              <a:rPr lang="en-US" dirty="0"/>
              <a:t>Security—only authorized and authenticated users need have administrative access to the </a:t>
            </a:r>
            <a:r>
              <a:rPr lang="en-US" dirty="0" err="1"/>
              <a:t>JBoss</a:t>
            </a:r>
            <a:r>
              <a:rPr lang="en-US" dirty="0"/>
              <a:t> Fuse runtime; services and brokers that handle sensitive information may restrict access by unauthorized or unauthenticated clients only; similarly, messages that contain sensitive information may be encrypted as they transit their routes.</a:t>
            </a:r>
          </a:p>
          <a:p>
            <a:endParaRPr lang="en-IN" dirty="0"/>
          </a:p>
        </p:txBody>
      </p:sp>
    </p:spTree>
    <p:extLst>
      <p:ext uri="{BB962C8B-B14F-4D97-AF65-F5344CB8AC3E}">
        <p14:creationId xmlns:p14="http://schemas.microsoft.com/office/powerpoint/2010/main" val="20234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ESB in SOA</a:t>
            </a:r>
            <a:endParaRPr lang="en-IN" dirty="0"/>
          </a:p>
        </p:txBody>
      </p:sp>
      <p:pic>
        <p:nvPicPr>
          <p:cNvPr id="3074" name="Picture 2" descr="https://technology.amis.nl/wp-content/uploads/images/soasuit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4637" y="2210594"/>
            <a:ext cx="3514725"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776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Basic services</a:t>
            </a:r>
            <a:endParaRPr lang="en-US" dirty="0"/>
          </a:p>
        </p:txBody>
      </p:sp>
      <p:sp>
        <p:nvSpPr>
          <p:cNvPr id="3" name="Content Placeholder 2"/>
          <p:cNvSpPr>
            <a:spLocks noGrp="1"/>
          </p:cNvSpPr>
          <p:nvPr>
            <p:ph idx="1"/>
          </p:nvPr>
        </p:nvSpPr>
        <p:spPr/>
        <p:txBody>
          <a:bodyPr/>
          <a:lstStyle/>
          <a:p>
            <a:endParaRPr lang="en-US" dirty="0"/>
          </a:p>
        </p:txBody>
      </p:sp>
      <p:sp>
        <p:nvSpPr>
          <p:cNvPr id="4" name="AutoShape 2"/>
          <p:cNvSpPr>
            <a:spLocks noChangeArrowheads="1"/>
          </p:cNvSpPr>
          <p:nvPr/>
        </p:nvSpPr>
        <p:spPr bwMode="ltGray">
          <a:xfrm>
            <a:off x="7292975" y="1003300"/>
            <a:ext cx="1360488" cy="2695575"/>
          </a:xfrm>
          <a:prstGeom prst="roundRect">
            <a:avLst>
              <a:gd name="adj" fmla="val 4296"/>
            </a:avLst>
          </a:prstGeom>
          <a:gradFill rotWithShape="1">
            <a:gsLst>
              <a:gs pos="0">
                <a:srgbClr val="EAEAEA"/>
              </a:gs>
              <a:gs pos="100000">
                <a:srgbClr val="C0C0C0"/>
              </a:gs>
            </a:gsLst>
            <a:lin ang="2700000" scaled="1"/>
          </a:gradFill>
          <a:ln w="15875" algn="ctr">
            <a:solidFill>
              <a:schemeClr val="bg2"/>
            </a:solidFill>
            <a:round/>
            <a:headEnd/>
            <a:tailEnd/>
          </a:ln>
        </p:spPr>
        <p:txBody>
          <a:bodyPr wrap="none" anchor="ctr"/>
          <a:lstStyle/>
          <a:p>
            <a:endParaRPr lang="he-IL"/>
          </a:p>
        </p:txBody>
      </p:sp>
      <p:sp>
        <p:nvSpPr>
          <p:cNvPr id="5" name="AutoShape 3"/>
          <p:cNvSpPr>
            <a:spLocks noChangeArrowheads="1"/>
          </p:cNvSpPr>
          <p:nvPr/>
        </p:nvSpPr>
        <p:spPr bwMode="ltGray">
          <a:xfrm>
            <a:off x="2889250" y="1003300"/>
            <a:ext cx="3397250" cy="2695575"/>
          </a:xfrm>
          <a:prstGeom prst="roundRect">
            <a:avLst>
              <a:gd name="adj" fmla="val 5079"/>
            </a:avLst>
          </a:prstGeom>
          <a:gradFill rotWithShape="1">
            <a:gsLst>
              <a:gs pos="0">
                <a:srgbClr val="EAEAEA"/>
              </a:gs>
              <a:gs pos="100000">
                <a:srgbClr val="C0C0C0"/>
              </a:gs>
            </a:gsLst>
            <a:lin ang="2700000" scaled="1"/>
          </a:gradFill>
          <a:ln w="15875" algn="ctr">
            <a:solidFill>
              <a:schemeClr val="bg2"/>
            </a:solidFill>
            <a:round/>
            <a:headEnd/>
            <a:tailEnd/>
          </a:ln>
        </p:spPr>
        <p:txBody>
          <a:bodyPr wrap="none" anchor="ctr"/>
          <a:lstStyle/>
          <a:p>
            <a:endParaRPr lang="he-IL"/>
          </a:p>
        </p:txBody>
      </p:sp>
      <p:sp>
        <p:nvSpPr>
          <p:cNvPr id="6" name="AutoShape 4"/>
          <p:cNvSpPr>
            <a:spLocks noChangeArrowheads="1"/>
          </p:cNvSpPr>
          <p:nvPr/>
        </p:nvSpPr>
        <p:spPr bwMode="ltGray">
          <a:xfrm>
            <a:off x="614363" y="1003300"/>
            <a:ext cx="1360487" cy="2695575"/>
          </a:xfrm>
          <a:prstGeom prst="roundRect">
            <a:avLst>
              <a:gd name="adj" fmla="val 4296"/>
            </a:avLst>
          </a:prstGeom>
          <a:gradFill rotWithShape="1">
            <a:gsLst>
              <a:gs pos="0">
                <a:srgbClr val="EAEAEA"/>
              </a:gs>
              <a:gs pos="100000">
                <a:srgbClr val="C0C0C0"/>
              </a:gs>
            </a:gsLst>
            <a:lin ang="2700000" scaled="1"/>
          </a:gradFill>
          <a:ln w="15875" algn="ctr">
            <a:solidFill>
              <a:schemeClr val="bg2"/>
            </a:solidFill>
            <a:round/>
            <a:headEnd/>
            <a:tailEnd/>
          </a:ln>
        </p:spPr>
        <p:txBody>
          <a:bodyPr wrap="none" anchor="ctr"/>
          <a:lstStyle/>
          <a:p>
            <a:endParaRPr lang="he-IL"/>
          </a:p>
        </p:txBody>
      </p:sp>
      <p:grpSp>
        <p:nvGrpSpPr>
          <p:cNvPr id="7" name="Group 5"/>
          <p:cNvGrpSpPr>
            <a:grpSpLocks/>
          </p:cNvGrpSpPr>
          <p:nvPr/>
        </p:nvGrpSpPr>
        <p:grpSpPr bwMode="auto">
          <a:xfrm>
            <a:off x="701675" y="1536700"/>
            <a:ext cx="1158875" cy="395288"/>
            <a:chOff x="341" y="1092"/>
            <a:chExt cx="730" cy="269"/>
          </a:xfrm>
        </p:grpSpPr>
        <p:sp>
          <p:nvSpPr>
            <p:cNvPr id="8" name="AutoShape 6"/>
            <p:cNvSpPr>
              <a:spLocks noChangeArrowheads="1"/>
            </p:cNvSpPr>
            <p:nvPr/>
          </p:nvSpPr>
          <p:spPr bwMode="auto">
            <a:xfrm>
              <a:off x="341" y="1106"/>
              <a:ext cx="730" cy="253"/>
            </a:xfrm>
            <a:prstGeom prst="roundRect">
              <a:avLst>
                <a:gd name="adj" fmla="val 10417"/>
              </a:avLst>
            </a:prstGeom>
            <a:gradFill rotWithShape="1">
              <a:gsLst>
                <a:gs pos="0">
                  <a:schemeClr val="hlink">
                    <a:gamma/>
                    <a:tint val="73725"/>
                    <a:invGamma/>
                  </a:schemeClr>
                </a:gs>
                <a:gs pos="100000">
                  <a:schemeClr val="hlink"/>
                </a:gs>
              </a:gsLst>
              <a:lin ang="2700000" scaled="1"/>
            </a:gradFill>
            <a:ln w="15875" algn="ctr">
              <a:solidFill>
                <a:srgbClr val="30624B"/>
              </a:solidFill>
              <a:round/>
              <a:headEnd/>
              <a:tailEnd/>
            </a:ln>
            <a:effectLst/>
          </p:spPr>
          <p:txBody>
            <a:bodyPr wrap="none" anchor="ctr"/>
            <a:lstStyle/>
            <a:p>
              <a:pPr>
                <a:defRPr/>
              </a:pPr>
              <a:endParaRPr lang="he-IL">
                <a:latin typeface="Arial" pitchFamily="34" charset="0"/>
                <a:cs typeface="Arial" pitchFamily="34" charset="0"/>
              </a:endParaRPr>
            </a:p>
          </p:txBody>
        </p:sp>
        <p:sp>
          <p:nvSpPr>
            <p:cNvPr id="9" name="Text Box 7"/>
            <p:cNvSpPr txBox="1">
              <a:spLocks noChangeArrowheads="1"/>
            </p:cNvSpPr>
            <p:nvPr/>
          </p:nvSpPr>
          <p:spPr bwMode="gray">
            <a:xfrm>
              <a:off x="433" y="1092"/>
              <a:ext cx="55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a:solidFill>
                    <a:schemeClr val="bg1"/>
                  </a:solidFill>
                  <a:ea typeface="MS PGothic" pitchFamily="34" charset="-128"/>
                </a:rPr>
                <a:t>Application</a:t>
              </a:r>
              <a:br>
                <a:rPr lang="en-US" sz="1000" dirty="0">
                  <a:solidFill>
                    <a:schemeClr val="bg1"/>
                  </a:solidFill>
                  <a:ea typeface="MS PGothic" pitchFamily="34" charset="-128"/>
                </a:rPr>
              </a:br>
              <a:r>
                <a:rPr lang="en-US" sz="1000" dirty="0">
                  <a:solidFill>
                    <a:schemeClr val="bg1"/>
                  </a:solidFill>
                  <a:ea typeface="MS PGothic" pitchFamily="34" charset="-128"/>
                </a:rPr>
                <a:t>Client</a:t>
              </a:r>
            </a:p>
          </p:txBody>
        </p:sp>
      </p:grpSp>
      <p:sp>
        <p:nvSpPr>
          <p:cNvPr id="10" name="Text Box 8"/>
          <p:cNvSpPr txBox="1">
            <a:spLocks noChangeArrowheads="1"/>
          </p:cNvSpPr>
          <p:nvPr/>
        </p:nvSpPr>
        <p:spPr bwMode="auto">
          <a:xfrm>
            <a:off x="884238" y="1047750"/>
            <a:ext cx="8159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a:ea typeface="MS PGothic" pitchFamily="34" charset="-128"/>
              </a:rPr>
              <a:t>Service</a:t>
            </a:r>
          </a:p>
          <a:p>
            <a:pPr eaLnBrk="1" hangingPunct="1"/>
            <a:r>
              <a:rPr lang="en-US" sz="1400" dirty="0">
                <a:ea typeface="MS PGothic" pitchFamily="34" charset="-128"/>
              </a:rPr>
              <a:t>Clients</a:t>
            </a:r>
          </a:p>
        </p:txBody>
      </p:sp>
      <p:sp>
        <p:nvSpPr>
          <p:cNvPr id="11" name="Text Box 9"/>
          <p:cNvSpPr txBox="1">
            <a:spLocks noChangeArrowheads="1"/>
          </p:cNvSpPr>
          <p:nvPr/>
        </p:nvSpPr>
        <p:spPr bwMode="auto">
          <a:xfrm>
            <a:off x="3887541" y="1044575"/>
            <a:ext cx="11416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smtClean="0">
                <a:ea typeface="MS PGothic" pitchFamily="34" charset="-128"/>
              </a:rPr>
              <a:t>Service </a:t>
            </a:r>
            <a:r>
              <a:rPr lang="en-US" sz="1400" dirty="0">
                <a:ea typeface="MS PGothic" pitchFamily="34" charset="-128"/>
              </a:rPr>
              <a:t>Bus</a:t>
            </a:r>
          </a:p>
        </p:txBody>
      </p:sp>
      <p:sp>
        <p:nvSpPr>
          <p:cNvPr id="12" name="Text Box 10"/>
          <p:cNvSpPr txBox="1">
            <a:spLocks noChangeArrowheads="1"/>
          </p:cNvSpPr>
          <p:nvPr/>
        </p:nvSpPr>
        <p:spPr bwMode="auto">
          <a:xfrm>
            <a:off x="7445375" y="1039813"/>
            <a:ext cx="1106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a:ea typeface="MS PGothic" pitchFamily="34" charset="-128"/>
              </a:rPr>
              <a:t>Enterprise </a:t>
            </a:r>
            <a:r>
              <a:rPr lang="en-US" sz="1400" dirty="0" smtClean="0">
                <a:ea typeface="MS PGothic" pitchFamily="34" charset="-128"/>
              </a:rPr>
              <a:t>Application</a:t>
            </a:r>
            <a:endParaRPr lang="en-US" sz="1400" dirty="0">
              <a:ea typeface="MS PGothic" pitchFamily="34" charset="-128"/>
            </a:endParaRPr>
          </a:p>
        </p:txBody>
      </p:sp>
      <p:grpSp>
        <p:nvGrpSpPr>
          <p:cNvPr id="13" name="Group 11"/>
          <p:cNvGrpSpPr>
            <a:grpSpLocks/>
          </p:cNvGrpSpPr>
          <p:nvPr/>
        </p:nvGrpSpPr>
        <p:grpSpPr bwMode="auto">
          <a:xfrm>
            <a:off x="7392988" y="1560513"/>
            <a:ext cx="1158875" cy="368300"/>
            <a:chOff x="4561" y="1092"/>
            <a:chExt cx="730" cy="250"/>
          </a:xfrm>
        </p:grpSpPr>
        <p:sp>
          <p:nvSpPr>
            <p:cNvPr id="14" name="AutoShape 12"/>
            <p:cNvSpPr>
              <a:spLocks noChangeArrowheads="1"/>
            </p:cNvSpPr>
            <p:nvPr/>
          </p:nvSpPr>
          <p:spPr bwMode="auto">
            <a:xfrm>
              <a:off x="4561" y="1092"/>
              <a:ext cx="730" cy="250"/>
            </a:xfrm>
            <a:prstGeom prst="roundRect">
              <a:avLst>
                <a:gd name="adj" fmla="val 10417"/>
              </a:avLst>
            </a:prstGeom>
            <a:gradFill rotWithShape="1">
              <a:gsLst>
                <a:gs pos="0">
                  <a:srgbClr val="AAC8EA"/>
                </a:gs>
                <a:gs pos="100000">
                  <a:srgbClr val="5C96D6"/>
                </a:gs>
              </a:gsLst>
              <a:lin ang="2700000" scaled="1"/>
            </a:gradFill>
            <a:ln w="15875" algn="ctr">
              <a:solidFill>
                <a:srgbClr val="2861A0"/>
              </a:solidFill>
              <a:round/>
              <a:headEnd/>
              <a:tailEnd/>
            </a:ln>
          </p:spPr>
          <p:txBody>
            <a:bodyPr wrap="none" anchor="ctr"/>
            <a:lstStyle/>
            <a:p>
              <a:endParaRPr lang="he-IL"/>
            </a:p>
          </p:txBody>
        </p:sp>
        <p:sp>
          <p:nvSpPr>
            <p:cNvPr id="15" name="Text Box 13"/>
            <p:cNvSpPr txBox="1">
              <a:spLocks noChangeArrowheads="1"/>
            </p:cNvSpPr>
            <p:nvPr/>
          </p:nvSpPr>
          <p:spPr bwMode="gray">
            <a:xfrm>
              <a:off x="4662" y="1142"/>
              <a:ext cx="5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smtClean="0">
                  <a:solidFill>
                    <a:schemeClr val="bg1"/>
                  </a:solidFill>
                  <a:ea typeface="MS PGothic" pitchFamily="34" charset="-128"/>
                </a:rPr>
                <a:t>Application</a:t>
              </a:r>
              <a:endParaRPr lang="en-US" sz="1000" dirty="0">
                <a:solidFill>
                  <a:schemeClr val="bg1"/>
                </a:solidFill>
                <a:ea typeface="MS PGothic" pitchFamily="34" charset="-128"/>
              </a:endParaRPr>
            </a:p>
          </p:txBody>
        </p:sp>
      </p:grpSp>
      <p:sp>
        <p:nvSpPr>
          <p:cNvPr id="16" name="AutoShape 14"/>
          <p:cNvSpPr>
            <a:spLocks noChangeArrowheads="1"/>
          </p:cNvSpPr>
          <p:nvPr/>
        </p:nvSpPr>
        <p:spPr bwMode="auto">
          <a:xfrm>
            <a:off x="3003550" y="1327150"/>
            <a:ext cx="3168650" cy="2295525"/>
          </a:xfrm>
          <a:prstGeom prst="roundRect">
            <a:avLst>
              <a:gd name="adj" fmla="val 5079"/>
            </a:avLst>
          </a:prstGeom>
          <a:gradFill rotWithShape="1">
            <a:gsLst>
              <a:gs pos="0">
                <a:schemeClr val="accent1"/>
              </a:gs>
              <a:gs pos="100000">
                <a:srgbClr val="A80000"/>
              </a:gs>
            </a:gsLst>
            <a:lin ang="5400000" scaled="1"/>
          </a:gradFill>
          <a:ln w="19050" algn="ctr">
            <a:solidFill>
              <a:schemeClr val="tx1"/>
            </a:solidFill>
            <a:round/>
            <a:headEnd/>
            <a:tailEnd/>
          </a:ln>
        </p:spPr>
        <p:txBody>
          <a:bodyPr wrap="none" anchor="ctr"/>
          <a:lstStyle/>
          <a:p>
            <a:endParaRPr lang="he-IL"/>
          </a:p>
        </p:txBody>
      </p:sp>
      <p:grpSp>
        <p:nvGrpSpPr>
          <p:cNvPr id="17" name="Group 15"/>
          <p:cNvGrpSpPr>
            <a:grpSpLocks/>
          </p:cNvGrpSpPr>
          <p:nvPr/>
        </p:nvGrpSpPr>
        <p:grpSpPr bwMode="auto">
          <a:xfrm>
            <a:off x="701675" y="1973263"/>
            <a:ext cx="1158875" cy="396875"/>
            <a:chOff x="341" y="1092"/>
            <a:chExt cx="730" cy="270"/>
          </a:xfrm>
        </p:grpSpPr>
        <p:sp>
          <p:nvSpPr>
            <p:cNvPr id="18" name="AutoShape 16"/>
            <p:cNvSpPr>
              <a:spLocks noChangeArrowheads="1"/>
            </p:cNvSpPr>
            <p:nvPr/>
          </p:nvSpPr>
          <p:spPr bwMode="auto">
            <a:xfrm>
              <a:off x="341" y="1106"/>
              <a:ext cx="730" cy="253"/>
            </a:xfrm>
            <a:prstGeom prst="roundRect">
              <a:avLst>
                <a:gd name="adj" fmla="val 10417"/>
              </a:avLst>
            </a:prstGeom>
            <a:gradFill rotWithShape="1">
              <a:gsLst>
                <a:gs pos="0">
                  <a:schemeClr val="hlink">
                    <a:gamma/>
                    <a:tint val="73725"/>
                    <a:invGamma/>
                  </a:schemeClr>
                </a:gs>
                <a:gs pos="100000">
                  <a:schemeClr val="hlink"/>
                </a:gs>
              </a:gsLst>
              <a:lin ang="2700000" scaled="1"/>
            </a:gradFill>
            <a:ln w="15875" algn="ctr">
              <a:solidFill>
                <a:srgbClr val="30624B"/>
              </a:solidFill>
              <a:round/>
              <a:headEnd/>
              <a:tailEnd/>
            </a:ln>
            <a:effectLst/>
          </p:spPr>
          <p:txBody>
            <a:bodyPr wrap="none" anchor="ctr"/>
            <a:lstStyle/>
            <a:p>
              <a:pPr>
                <a:defRPr/>
              </a:pPr>
              <a:endParaRPr lang="he-IL">
                <a:latin typeface="Arial" pitchFamily="34" charset="0"/>
                <a:cs typeface="Arial" pitchFamily="34" charset="0"/>
              </a:endParaRPr>
            </a:p>
          </p:txBody>
        </p:sp>
        <p:sp>
          <p:nvSpPr>
            <p:cNvPr id="19" name="Text Box 17"/>
            <p:cNvSpPr txBox="1">
              <a:spLocks noChangeArrowheads="1"/>
            </p:cNvSpPr>
            <p:nvPr/>
          </p:nvSpPr>
          <p:spPr bwMode="gray">
            <a:xfrm>
              <a:off x="433" y="1092"/>
              <a:ext cx="55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a:solidFill>
                    <a:schemeClr val="bg1"/>
                  </a:solidFill>
                  <a:ea typeface="MS PGothic" pitchFamily="34" charset="-128"/>
                </a:rPr>
                <a:t>Application</a:t>
              </a:r>
              <a:br>
                <a:rPr lang="en-US" sz="1000" dirty="0">
                  <a:solidFill>
                    <a:schemeClr val="bg1"/>
                  </a:solidFill>
                  <a:ea typeface="MS PGothic" pitchFamily="34" charset="-128"/>
                </a:rPr>
              </a:br>
              <a:r>
                <a:rPr lang="en-US" sz="1000" dirty="0">
                  <a:solidFill>
                    <a:schemeClr val="bg1"/>
                  </a:solidFill>
                  <a:ea typeface="MS PGothic" pitchFamily="34" charset="-128"/>
                </a:rPr>
                <a:t>Client</a:t>
              </a:r>
            </a:p>
          </p:txBody>
        </p:sp>
      </p:grpSp>
      <p:grpSp>
        <p:nvGrpSpPr>
          <p:cNvPr id="20" name="Group 18"/>
          <p:cNvGrpSpPr>
            <a:grpSpLocks/>
          </p:cNvGrpSpPr>
          <p:nvPr/>
        </p:nvGrpSpPr>
        <p:grpSpPr bwMode="auto">
          <a:xfrm>
            <a:off x="693738" y="2401888"/>
            <a:ext cx="1158875" cy="396875"/>
            <a:chOff x="341" y="1092"/>
            <a:chExt cx="730" cy="269"/>
          </a:xfrm>
        </p:grpSpPr>
        <p:sp>
          <p:nvSpPr>
            <p:cNvPr id="21" name="AutoShape 19"/>
            <p:cNvSpPr>
              <a:spLocks noChangeArrowheads="1"/>
            </p:cNvSpPr>
            <p:nvPr/>
          </p:nvSpPr>
          <p:spPr bwMode="auto">
            <a:xfrm>
              <a:off x="341" y="1106"/>
              <a:ext cx="730" cy="253"/>
            </a:xfrm>
            <a:prstGeom prst="roundRect">
              <a:avLst>
                <a:gd name="adj" fmla="val 10417"/>
              </a:avLst>
            </a:prstGeom>
            <a:gradFill rotWithShape="1">
              <a:gsLst>
                <a:gs pos="0">
                  <a:schemeClr val="hlink">
                    <a:gamma/>
                    <a:tint val="73725"/>
                    <a:invGamma/>
                  </a:schemeClr>
                </a:gs>
                <a:gs pos="100000">
                  <a:schemeClr val="hlink"/>
                </a:gs>
              </a:gsLst>
              <a:lin ang="2700000" scaled="1"/>
            </a:gradFill>
            <a:ln w="15875" algn="ctr">
              <a:solidFill>
                <a:srgbClr val="30624B"/>
              </a:solidFill>
              <a:round/>
              <a:headEnd/>
              <a:tailEnd/>
            </a:ln>
            <a:effectLst/>
          </p:spPr>
          <p:txBody>
            <a:bodyPr wrap="none" anchor="ctr"/>
            <a:lstStyle/>
            <a:p>
              <a:pPr>
                <a:defRPr/>
              </a:pPr>
              <a:endParaRPr lang="he-IL">
                <a:latin typeface="Arial" pitchFamily="34" charset="0"/>
                <a:cs typeface="Arial" pitchFamily="34" charset="0"/>
              </a:endParaRPr>
            </a:p>
          </p:txBody>
        </p:sp>
        <p:sp>
          <p:nvSpPr>
            <p:cNvPr id="22" name="Text Box 20"/>
            <p:cNvSpPr txBox="1">
              <a:spLocks noChangeArrowheads="1"/>
            </p:cNvSpPr>
            <p:nvPr/>
          </p:nvSpPr>
          <p:spPr bwMode="gray">
            <a:xfrm>
              <a:off x="433" y="1092"/>
              <a:ext cx="55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a:solidFill>
                    <a:schemeClr val="bg1"/>
                  </a:solidFill>
                  <a:ea typeface="MS PGothic" pitchFamily="34" charset="-128"/>
                </a:rPr>
                <a:t>Application</a:t>
              </a:r>
              <a:br>
                <a:rPr lang="en-US" sz="1000" dirty="0">
                  <a:solidFill>
                    <a:schemeClr val="bg1"/>
                  </a:solidFill>
                  <a:ea typeface="MS PGothic" pitchFamily="34" charset="-128"/>
                </a:rPr>
              </a:br>
              <a:r>
                <a:rPr lang="en-US" sz="1000" dirty="0">
                  <a:solidFill>
                    <a:schemeClr val="bg1"/>
                  </a:solidFill>
                  <a:ea typeface="MS PGothic" pitchFamily="34" charset="-128"/>
                </a:rPr>
                <a:t>Client</a:t>
              </a:r>
            </a:p>
          </p:txBody>
        </p:sp>
      </p:grpSp>
      <p:grpSp>
        <p:nvGrpSpPr>
          <p:cNvPr id="23" name="Group 21"/>
          <p:cNvGrpSpPr>
            <a:grpSpLocks/>
          </p:cNvGrpSpPr>
          <p:nvPr/>
        </p:nvGrpSpPr>
        <p:grpSpPr bwMode="auto">
          <a:xfrm>
            <a:off x="693738" y="2827338"/>
            <a:ext cx="1158875" cy="396875"/>
            <a:chOff x="341" y="1092"/>
            <a:chExt cx="730" cy="270"/>
          </a:xfrm>
        </p:grpSpPr>
        <p:sp>
          <p:nvSpPr>
            <p:cNvPr id="24" name="AutoShape 22"/>
            <p:cNvSpPr>
              <a:spLocks noChangeArrowheads="1"/>
            </p:cNvSpPr>
            <p:nvPr/>
          </p:nvSpPr>
          <p:spPr bwMode="auto">
            <a:xfrm>
              <a:off x="341" y="1106"/>
              <a:ext cx="730" cy="253"/>
            </a:xfrm>
            <a:prstGeom prst="roundRect">
              <a:avLst>
                <a:gd name="adj" fmla="val 10417"/>
              </a:avLst>
            </a:prstGeom>
            <a:gradFill rotWithShape="1">
              <a:gsLst>
                <a:gs pos="0">
                  <a:schemeClr val="hlink">
                    <a:gamma/>
                    <a:tint val="73725"/>
                    <a:invGamma/>
                  </a:schemeClr>
                </a:gs>
                <a:gs pos="100000">
                  <a:schemeClr val="hlink"/>
                </a:gs>
              </a:gsLst>
              <a:lin ang="2700000" scaled="1"/>
            </a:gradFill>
            <a:ln w="15875" algn="ctr">
              <a:solidFill>
                <a:srgbClr val="30624B"/>
              </a:solidFill>
              <a:round/>
              <a:headEnd/>
              <a:tailEnd/>
            </a:ln>
            <a:effectLst/>
          </p:spPr>
          <p:txBody>
            <a:bodyPr wrap="none" anchor="ctr"/>
            <a:lstStyle/>
            <a:p>
              <a:pPr>
                <a:defRPr/>
              </a:pPr>
              <a:endParaRPr lang="he-IL">
                <a:latin typeface="Arial" pitchFamily="34" charset="0"/>
                <a:cs typeface="Arial" pitchFamily="34" charset="0"/>
              </a:endParaRPr>
            </a:p>
          </p:txBody>
        </p:sp>
        <p:sp>
          <p:nvSpPr>
            <p:cNvPr id="25" name="Text Box 23"/>
            <p:cNvSpPr txBox="1">
              <a:spLocks noChangeArrowheads="1"/>
            </p:cNvSpPr>
            <p:nvPr/>
          </p:nvSpPr>
          <p:spPr bwMode="gray">
            <a:xfrm>
              <a:off x="433" y="1092"/>
              <a:ext cx="55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a:solidFill>
                    <a:schemeClr val="bg1"/>
                  </a:solidFill>
                  <a:ea typeface="MS PGothic" pitchFamily="34" charset="-128"/>
                </a:rPr>
                <a:t>Application</a:t>
              </a:r>
              <a:br>
                <a:rPr lang="en-US" sz="1000" dirty="0">
                  <a:solidFill>
                    <a:schemeClr val="bg1"/>
                  </a:solidFill>
                  <a:ea typeface="MS PGothic" pitchFamily="34" charset="-128"/>
                </a:rPr>
              </a:br>
              <a:r>
                <a:rPr lang="en-US" sz="1000" dirty="0">
                  <a:solidFill>
                    <a:schemeClr val="bg1"/>
                  </a:solidFill>
                  <a:ea typeface="MS PGothic" pitchFamily="34" charset="-128"/>
                </a:rPr>
                <a:t>Client</a:t>
              </a:r>
            </a:p>
          </p:txBody>
        </p:sp>
      </p:grpSp>
      <p:grpSp>
        <p:nvGrpSpPr>
          <p:cNvPr id="26" name="Group 24"/>
          <p:cNvGrpSpPr>
            <a:grpSpLocks/>
          </p:cNvGrpSpPr>
          <p:nvPr/>
        </p:nvGrpSpPr>
        <p:grpSpPr bwMode="auto">
          <a:xfrm>
            <a:off x="1979613" y="1520825"/>
            <a:ext cx="925512" cy="1984375"/>
            <a:chOff x="1151" y="1065"/>
            <a:chExt cx="583" cy="1347"/>
          </a:xfrm>
        </p:grpSpPr>
        <p:sp>
          <p:nvSpPr>
            <p:cNvPr id="27" name="Line 25"/>
            <p:cNvSpPr>
              <a:spLocks noChangeShapeType="1"/>
            </p:cNvSpPr>
            <p:nvPr/>
          </p:nvSpPr>
          <p:spPr bwMode="auto">
            <a:xfrm>
              <a:off x="1151" y="1249"/>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Text Box 26"/>
            <p:cNvSpPr txBox="1">
              <a:spLocks noChangeArrowheads="1"/>
            </p:cNvSpPr>
            <p:nvPr/>
          </p:nvSpPr>
          <p:spPr bwMode="gray">
            <a:xfrm>
              <a:off x="1156" y="1065"/>
              <a:ext cx="57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HTTP/SOAP</a:t>
              </a:r>
            </a:p>
          </p:txBody>
        </p:sp>
        <p:sp>
          <p:nvSpPr>
            <p:cNvPr id="29" name="Line 27"/>
            <p:cNvSpPr>
              <a:spLocks noChangeShapeType="1"/>
            </p:cNvSpPr>
            <p:nvPr/>
          </p:nvSpPr>
          <p:spPr bwMode="auto">
            <a:xfrm>
              <a:off x="1151" y="153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Text Box 28"/>
            <p:cNvSpPr txBox="1">
              <a:spLocks noChangeArrowheads="1"/>
            </p:cNvSpPr>
            <p:nvPr/>
          </p:nvSpPr>
          <p:spPr bwMode="gray">
            <a:xfrm>
              <a:off x="1303" y="1348"/>
              <a:ext cx="28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JMS</a:t>
              </a:r>
            </a:p>
          </p:txBody>
        </p:sp>
        <p:sp>
          <p:nvSpPr>
            <p:cNvPr id="31" name="Line 29"/>
            <p:cNvSpPr>
              <a:spLocks noChangeShapeType="1"/>
            </p:cNvSpPr>
            <p:nvPr/>
          </p:nvSpPr>
          <p:spPr bwMode="auto">
            <a:xfrm>
              <a:off x="1151" y="182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Text Box 30"/>
            <p:cNvSpPr txBox="1">
              <a:spLocks noChangeArrowheads="1"/>
            </p:cNvSpPr>
            <p:nvPr/>
          </p:nvSpPr>
          <p:spPr bwMode="gray">
            <a:xfrm>
              <a:off x="1309" y="1638"/>
              <a:ext cx="267"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FTP</a:t>
              </a:r>
            </a:p>
          </p:txBody>
        </p:sp>
        <p:sp>
          <p:nvSpPr>
            <p:cNvPr id="33" name="Line 31"/>
            <p:cNvSpPr>
              <a:spLocks noChangeShapeType="1"/>
            </p:cNvSpPr>
            <p:nvPr/>
          </p:nvSpPr>
          <p:spPr bwMode="auto">
            <a:xfrm>
              <a:off x="1151" y="2114"/>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Text Box 32"/>
            <p:cNvSpPr txBox="1">
              <a:spLocks noChangeArrowheads="1"/>
            </p:cNvSpPr>
            <p:nvPr/>
          </p:nvSpPr>
          <p:spPr bwMode="gray">
            <a:xfrm>
              <a:off x="1280" y="1930"/>
              <a:ext cx="329"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REST</a:t>
              </a:r>
            </a:p>
          </p:txBody>
        </p:sp>
        <p:sp>
          <p:nvSpPr>
            <p:cNvPr id="35" name="Line 33"/>
            <p:cNvSpPr>
              <a:spLocks noChangeShapeType="1"/>
            </p:cNvSpPr>
            <p:nvPr/>
          </p:nvSpPr>
          <p:spPr bwMode="auto">
            <a:xfrm>
              <a:off x="1151" y="241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Text Box 34"/>
            <p:cNvSpPr txBox="1">
              <a:spLocks noChangeArrowheads="1"/>
            </p:cNvSpPr>
            <p:nvPr/>
          </p:nvSpPr>
          <p:spPr bwMode="gray">
            <a:xfrm>
              <a:off x="1317" y="2228"/>
              <a:ext cx="2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File</a:t>
              </a:r>
            </a:p>
          </p:txBody>
        </p:sp>
      </p:grpSp>
      <p:grpSp>
        <p:nvGrpSpPr>
          <p:cNvPr id="37" name="Group 35"/>
          <p:cNvGrpSpPr>
            <a:grpSpLocks/>
          </p:cNvGrpSpPr>
          <p:nvPr/>
        </p:nvGrpSpPr>
        <p:grpSpPr bwMode="auto">
          <a:xfrm>
            <a:off x="693738" y="3251200"/>
            <a:ext cx="1158875" cy="396875"/>
            <a:chOff x="341" y="1092"/>
            <a:chExt cx="730" cy="269"/>
          </a:xfrm>
        </p:grpSpPr>
        <p:sp>
          <p:nvSpPr>
            <p:cNvPr id="38" name="AutoShape 36"/>
            <p:cNvSpPr>
              <a:spLocks noChangeArrowheads="1"/>
            </p:cNvSpPr>
            <p:nvPr/>
          </p:nvSpPr>
          <p:spPr bwMode="auto">
            <a:xfrm>
              <a:off x="341" y="1106"/>
              <a:ext cx="730" cy="253"/>
            </a:xfrm>
            <a:prstGeom prst="roundRect">
              <a:avLst>
                <a:gd name="adj" fmla="val 10417"/>
              </a:avLst>
            </a:prstGeom>
            <a:gradFill rotWithShape="1">
              <a:gsLst>
                <a:gs pos="0">
                  <a:schemeClr val="hlink">
                    <a:gamma/>
                    <a:tint val="73725"/>
                    <a:invGamma/>
                  </a:schemeClr>
                </a:gs>
                <a:gs pos="100000">
                  <a:schemeClr val="hlink"/>
                </a:gs>
              </a:gsLst>
              <a:lin ang="2700000" scaled="1"/>
            </a:gradFill>
            <a:ln w="15875" algn="ctr">
              <a:solidFill>
                <a:srgbClr val="30624B"/>
              </a:solidFill>
              <a:round/>
              <a:headEnd/>
              <a:tailEnd/>
            </a:ln>
            <a:effectLst/>
          </p:spPr>
          <p:txBody>
            <a:bodyPr wrap="none" anchor="ctr"/>
            <a:lstStyle/>
            <a:p>
              <a:pPr>
                <a:defRPr/>
              </a:pPr>
              <a:endParaRPr lang="he-IL">
                <a:latin typeface="Arial" pitchFamily="34" charset="0"/>
                <a:cs typeface="Arial" pitchFamily="34" charset="0"/>
              </a:endParaRPr>
            </a:p>
          </p:txBody>
        </p:sp>
        <p:sp>
          <p:nvSpPr>
            <p:cNvPr id="39" name="Text Box 37"/>
            <p:cNvSpPr txBox="1">
              <a:spLocks noChangeArrowheads="1"/>
            </p:cNvSpPr>
            <p:nvPr/>
          </p:nvSpPr>
          <p:spPr bwMode="gray">
            <a:xfrm>
              <a:off x="433" y="1092"/>
              <a:ext cx="55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a:solidFill>
                    <a:schemeClr val="bg1"/>
                  </a:solidFill>
                  <a:ea typeface="MS PGothic" pitchFamily="34" charset="-128"/>
                </a:rPr>
                <a:t>Application</a:t>
              </a:r>
              <a:br>
                <a:rPr lang="en-US" sz="1000" dirty="0">
                  <a:solidFill>
                    <a:schemeClr val="bg1"/>
                  </a:solidFill>
                  <a:ea typeface="MS PGothic" pitchFamily="34" charset="-128"/>
                </a:rPr>
              </a:br>
              <a:r>
                <a:rPr lang="en-US" sz="1000" dirty="0">
                  <a:solidFill>
                    <a:schemeClr val="bg1"/>
                  </a:solidFill>
                  <a:ea typeface="MS PGothic" pitchFamily="34" charset="-128"/>
                </a:rPr>
                <a:t>Client</a:t>
              </a:r>
            </a:p>
          </p:txBody>
        </p:sp>
      </p:grpSp>
      <p:grpSp>
        <p:nvGrpSpPr>
          <p:cNvPr id="40" name="Group 38"/>
          <p:cNvGrpSpPr>
            <a:grpSpLocks/>
          </p:cNvGrpSpPr>
          <p:nvPr/>
        </p:nvGrpSpPr>
        <p:grpSpPr bwMode="auto">
          <a:xfrm>
            <a:off x="6286500" y="1476375"/>
            <a:ext cx="1006475" cy="1984375"/>
            <a:chOff x="1151" y="1065"/>
            <a:chExt cx="583" cy="1347"/>
          </a:xfrm>
        </p:grpSpPr>
        <p:sp>
          <p:nvSpPr>
            <p:cNvPr id="41" name="Line 39"/>
            <p:cNvSpPr>
              <a:spLocks noChangeShapeType="1"/>
            </p:cNvSpPr>
            <p:nvPr/>
          </p:nvSpPr>
          <p:spPr bwMode="auto">
            <a:xfrm>
              <a:off x="1151" y="1249"/>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 name="Text Box 40"/>
            <p:cNvSpPr txBox="1">
              <a:spLocks noChangeArrowheads="1"/>
            </p:cNvSpPr>
            <p:nvPr/>
          </p:nvSpPr>
          <p:spPr bwMode="gray">
            <a:xfrm>
              <a:off x="1260" y="1065"/>
              <a:ext cx="365"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WS-RM</a:t>
              </a:r>
            </a:p>
          </p:txBody>
        </p:sp>
        <p:sp>
          <p:nvSpPr>
            <p:cNvPr id="43" name="Line 41"/>
            <p:cNvSpPr>
              <a:spLocks noChangeShapeType="1"/>
            </p:cNvSpPr>
            <p:nvPr/>
          </p:nvSpPr>
          <p:spPr bwMode="auto">
            <a:xfrm>
              <a:off x="1151" y="153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Text Box 42"/>
            <p:cNvSpPr txBox="1">
              <a:spLocks noChangeArrowheads="1"/>
            </p:cNvSpPr>
            <p:nvPr/>
          </p:nvSpPr>
          <p:spPr bwMode="gray">
            <a:xfrm>
              <a:off x="1317" y="1348"/>
              <a:ext cx="2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TUX</a:t>
              </a:r>
            </a:p>
          </p:txBody>
        </p:sp>
        <p:sp>
          <p:nvSpPr>
            <p:cNvPr id="45" name="Line 43"/>
            <p:cNvSpPr>
              <a:spLocks noChangeShapeType="1"/>
            </p:cNvSpPr>
            <p:nvPr/>
          </p:nvSpPr>
          <p:spPr bwMode="auto">
            <a:xfrm>
              <a:off x="1151" y="182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Text Box 44"/>
            <p:cNvSpPr txBox="1">
              <a:spLocks noChangeArrowheads="1"/>
            </p:cNvSpPr>
            <p:nvPr/>
          </p:nvSpPr>
          <p:spPr bwMode="gray">
            <a:xfrm>
              <a:off x="1329" y="1638"/>
              <a:ext cx="226"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MQ</a:t>
              </a:r>
            </a:p>
          </p:txBody>
        </p:sp>
        <p:sp>
          <p:nvSpPr>
            <p:cNvPr id="47" name="Line 45"/>
            <p:cNvSpPr>
              <a:spLocks noChangeShapeType="1"/>
            </p:cNvSpPr>
            <p:nvPr/>
          </p:nvSpPr>
          <p:spPr bwMode="auto">
            <a:xfrm>
              <a:off x="1151" y="2114"/>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 name="Text Box 46"/>
            <p:cNvSpPr txBox="1">
              <a:spLocks noChangeArrowheads="1"/>
            </p:cNvSpPr>
            <p:nvPr/>
          </p:nvSpPr>
          <p:spPr bwMode="gray">
            <a:xfrm>
              <a:off x="1317" y="1930"/>
              <a:ext cx="25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EJB</a:t>
              </a:r>
            </a:p>
          </p:txBody>
        </p:sp>
        <p:sp>
          <p:nvSpPr>
            <p:cNvPr id="49" name="Line 47"/>
            <p:cNvSpPr>
              <a:spLocks noChangeShapeType="1"/>
            </p:cNvSpPr>
            <p:nvPr/>
          </p:nvSpPr>
          <p:spPr bwMode="auto">
            <a:xfrm>
              <a:off x="1151" y="2412"/>
              <a:ext cx="583"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Text Box 48"/>
            <p:cNvSpPr txBox="1">
              <a:spLocks noChangeArrowheads="1"/>
            </p:cNvSpPr>
            <p:nvPr/>
          </p:nvSpPr>
          <p:spPr bwMode="gray">
            <a:xfrm>
              <a:off x="1317" y="2228"/>
              <a:ext cx="2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a:ea typeface="MS PGothic" pitchFamily="34" charset="-128"/>
                </a:rPr>
                <a:t>JCA</a:t>
              </a:r>
            </a:p>
          </p:txBody>
        </p:sp>
      </p:grpSp>
      <p:grpSp>
        <p:nvGrpSpPr>
          <p:cNvPr id="51" name="Group 49"/>
          <p:cNvGrpSpPr>
            <a:grpSpLocks/>
          </p:cNvGrpSpPr>
          <p:nvPr/>
        </p:nvGrpSpPr>
        <p:grpSpPr bwMode="auto">
          <a:xfrm>
            <a:off x="7410450" y="1979613"/>
            <a:ext cx="1158875" cy="368300"/>
            <a:chOff x="4561" y="1092"/>
            <a:chExt cx="730" cy="250"/>
          </a:xfrm>
        </p:grpSpPr>
        <p:sp>
          <p:nvSpPr>
            <p:cNvPr id="52" name="AutoShape 50"/>
            <p:cNvSpPr>
              <a:spLocks noChangeArrowheads="1"/>
            </p:cNvSpPr>
            <p:nvPr/>
          </p:nvSpPr>
          <p:spPr bwMode="auto">
            <a:xfrm>
              <a:off x="4561" y="1092"/>
              <a:ext cx="730" cy="250"/>
            </a:xfrm>
            <a:prstGeom prst="roundRect">
              <a:avLst>
                <a:gd name="adj" fmla="val 10417"/>
              </a:avLst>
            </a:prstGeom>
            <a:gradFill rotWithShape="1">
              <a:gsLst>
                <a:gs pos="0">
                  <a:srgbClr val="AAC8EA"/>
                </a:gs>
                <a:gs pos="100000">
                  <a:srgbClr val="5C96D6"/>
                </a:gs>
              </a:gsLst>
              <a:lin ang="2700000" scaled="1"/>
            </a:gradFill>
            <a:ln w="15875" algn="ctr">
              <a:solidFill>
                <a:srgbClr val="2861A0"/>
              </a:solidFill>
              <a:round/>
              <a:headEnd/>
              <a:tailEnd/>
            </a:ln>
          </p:spPr>
          <p:txBody>
            <a:bodyPr wrap="none" anchor="ctr"/>
            <a:lstStyle/>
            <a:p>
              <a:endParaRPr lang="he-IL"/>
            </a:p>
          </p:txBody>
        </p:sp>
        <p:sp>
          <p:nvSpPr>
            <p:cNvPr id="53" name="Text Box 51"/>
            <p:cNvSpPr txBox="1">
              <a:spLocks noChangeArrowheads="1"/>
            </p:cNvSpPr>
            <p:nvPr/>
          </p:nvSpPr>
          <p:spPr bwMode="gray">
            <a:xfrm>
              <a:off x="4662" y="1142"/>
              <a:ext cx="5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smtClean="0">
                  <a:solidFill>
                    <a:schemeClr val="bg1"/>
                  </a:solidFill>
                  <a:ea typeface="MS PGothic" pitchFamily="34" charset="-128"/>
                </a:rPr>
                <a:t>Application</a:t>
              </a:r>
              <a:endParaRPr lang="en-US" sz="1000" dirty="0">
                <a:solidFill>
                  <a:schemeClr val="bg1"/>
                </a:solidFill>
                <a:ea typeface="MS PGothic" pitchFamily="34" charset="-128"/>
              </a:endParaRPr>
            </a:p>
          </p:txBody>
        </p:sp>
      </p:grpSp>
      <p:grpSp>
        <p:nvGrpSpPr>
          <p:cNvPr id="54" name="Group 52"/>
          <p:cNvGrpSpPr>
            <a:grpSpLocks/>
          </p:cNvGrpSpPr>
          <p:nvPr/>
        </p:nvGrpSpPr>
        <p:grpSpPr bwMode="auto">
          <a:xfrm>
            <a:off x="7392988" y="2406650"/>
            <a:ext cx="1158875" cy="368300"/>
            <a:chOff x="4561" y="1092"/>
            <a:chExt cx="730" cy="250"/>
          </a:xfrm>
        </p:grpSpPr>
        <p:sp>
          <p:nvSpPr>
            <p:cNvPr id="55" name="AutoShape 53"/>
            <p:cNvSpPr>
              <a:spLocks noChangeArrowheads="1"/>
            </p:cNvSpPr>
            <p:nvPr/>
          </p:nvSpPr>
          <p:spPr bwMode="auto">
            <a:xfrm>
              <a:off x="4561" y="1092"/>
              <a:ext cx="730" cy="250"/>
            </a:xfrm>
            <a:prstGeom prst="roundRect">
              <a:avLst>
                <a:gd name="adj" fmla="val 10417"/>
              </a:avLst>
            </a:prstGeom>
            <a:gradFill rotWithShape="1">
              <a:gsLst>
                <a:gs pos="0">
                  <a:srgbClr val="AAC8EA"/>
                </a:gs>
                <a:gs pos="100000">
                  <a:srgbClr val="5C96D6"/>
                </a:gs>
              </a:gsLst>
              <a:lin ang="2700000" scaled="1"/>
            </a:gradFill>
            <a:ln w="15875" algn="ctr">
              <a:solidFill>
                <a:srgbClr val="2861A0"/>
              </a:solidFill>
              <a:round/>
              <a:headEnd/>
              <a:tailEnd/>
            </a:ln>
          </p:spPr>
          <p:txBody>
            <a:bodyPr wrap="none" anchor="ctr"/>
            <a:lstStyle/>
            <a:p>
              <a:endParaRPr lang="he-IL"/>
            </a:p>
          </p:txBody>
        </p:sp>
        <p:sp>
          <p:nvSpPr>
            <p:cNvPr id="56" name="Text Box 54"/>
            <p:cNvSpPr txBox="1">
              <a:spLocks noChangeArrowheads="1"/>
            </p:cNvSpPr>
            <p:nvPr/>
          </p:nvSpPr>
          <p:spPr bwMode="gray">
            <a:xfrm>
              <a:off x="4662" y="1142"/>
              <a:ext cx="5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smtClean="0">
                  <a:solidFill>
                    <a:schemeClr val="bg1"/>
                  </a:solidFill>
                  <a:ea typeface="MS PGothic" pitchFamily="34" charset="-128"/>
                </a:rPr>
                <a:t>Application</a:t>
              </a:r>
              <a:endParaRPr lang="en-US" sz="1000" dirty="0">
                <a:solidFill>
                  <a:schemeClr val="bg1"/>
                </a:solidFill>
                <a:ea typeface="MS PGothic" pitchFamily="34" charset="-128"/>
              </a:endParaRPr>
            </a:p>
          </p:txBody>
        </p:sp>
      </p:grpSp>
      <p:grpSp>
        <p:nvGrpSpPr>
          <p:cNvPr id="57" name="Group 55"/>
          <p:cNvGrpSpPr>
            <a:grpSpLocks/>
          </p:cNvGrpSpPr>
          <p:nvPr/>
        </p:nvGrpSpPr>
        <p:grpSpPr bwMode="auto">
          <a:xfrm>
            <a:off x="7392988" y="2836863"/>
            <a:ext cx="1158875" cy="368300"/>
            <a:chOff x="4561" y="1092"/>
            <a:chExt cx="730" cy="250"/>
          </a:xfrm>
        </p:grpSpPr>
        <p:sp>
          <p:nvSpPr>
            <p:cNvPr id="58" name="AutoShape 56"/>
            <p:cNvSpPr>
              <a:spLocks noChangeArrowheads="1"/>
            </p:cNvSpPr>
            <p:nvPr/>
          </p:nvSpPr>
          <p:spPr bwMode="auto">
            <a:xfrm>
              <a:off x="4561" y="1092"/>
              <a:ext cx="730" cy="250"/>
            </a:xfrm>
            <a:prstGeom prst="roundRect">
              <a:avLst>
                <a:gd name="adj" fmla="val 10417"/>
              </a:avLst>
            </a:prstGeom>
            <a:gradFill rotWithShape="1">
              <a:gsLst>
                <a:gs pos="0">
                  <a:srgbClr val="AAC8EA"/>
                </a:gs>
                <a:gs pos="100000">
                  <a:srgbClr val="5C96D6"/>
                </a:gs>
              </a:gsLst>
              <a:lin ang="2700000" scaled="1"/>
            </a:gradFill>
            <a:ln w="15875" algn="ctr">
              <a:solidFill>
                <a:srgbClr val="2861A0"/>
              </a:solidFill>
              <a:round/>
              <a:headEnd/>
              <a:tailEnd/>
            </a:ln>
          </p:spPr>
          <p:txBody>
            <a:bodyPr wrap="none" anchor="ctr"/>
            <a:lstStyle/>
            <a:p>
              <a:endParaRPr lang="he-IL"/>
            </a:p>
          </p:txBody>
        </p:sp>
        <p:sp>
          <p:nvSpPr>
            <p:cNvPr id="59" name="Text Box 57"/>
            <p:cNvSpPr txBox="1">
              <a:spLocks noChangeArrowheads="1"/>
            </p:cNvSpPr>
            <p:nvPr/>
          </p:nvSpPr>
          <p:spPr bwMode="gray">
            <a:xfrm>
              <a:off x="4662" y="1142"/>
              <a:ext cx="5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smtClean="0">
                  <a:solidFill>
                    <a:schemeClr val="bg1"/>
                  </a:solidFill>
                  <a:ea typeface="MS PGothic" pitchFamily="34" charset="-128"/>
                </a:rPr>
                <a:t>Application</a:t>
              </a:r>
              <a:endParaRPr lang="en-US" sz="1000" dirty="0">
                <a:solidFill>
                  <a:schemeClr val="bg1"/>
                </a:solidFill>
                <a:ea typeface="MS PGothic" pitchFamily="34" charset="-128"/>
              </a:endParaRPr>
            </a:p>
          </p:txBody>
        </p:sp>
      </p:grpSp>
      <p:grpSp>
        <p:nvGrpSpPr>
          <p:cNvPr id="60" name="Group 58"/>
          <p:cNvGrpSpPr>
            <a:grpSpLocks/>
          </p:cNvGrpSpPr>
          <p:nvPr/>
        </p:nvGrpSpPr>
        <p:grpSpPr bwMode="auto">
          <a:xfrm>
            <a:off x="7392988" y="3276600"/>
            <a:ext cx="1158875" cy="368300"/>
            <a:chOff x="4561" y="1092"/>
            <a:chExt cx="730" cy="250"/>
          </a:xfrm>
        </p:grpSpPr>
        <p:sp>
          <p:nvSpPr>
            <p:cNvPr id="61" name="AutoShape 59"/>
            <p:cNvSpPr>
              <a:spLocks noChangeArrowheads="1"/>
            </p:cNvSpPr>
            <p:nvPr/>
          </p:nvSpPr>
          <p:spPr bwMode="auto">
            <a:xfrm>
              <a:off x="4561" y="1092"/>
              <a:ext cx="730" cy="250"/>
            </a:xfrm>
            <a:prstGeom prst="roundRect">
              <a:avLst>
                <a:gd name="adj" fmla="val 10417"/>
              </a:avLst>
            </a:prstGeom>
            <a:gradFill rotWithShape="1">
              <a:gsLst>
                <a:gs pos="0">
                  <a:srgbClr val="AAC8EA"/>
                </a:gs>
                <a:gs pos="100000">
                  <a:srgbClr val="5C96D6"/>
                </a:gs>
              </a:gsLst>
              <a:lin ang="2700000" scaled="1"/>
            </a:gradFill>
            <a:ln w="15875" algn="ctr">
              <a:solidFill>
                <a:srgbClr val="2861A0"/>
              </a:solidFill>
              <a:round/>
              <a:headEnd/>
              <a:tailEnd/>
            </a:ln>
          </p:spPr>
          <p:txBody>
            <a:bodyPr wrap="none" anchor="ctr"/>
            <a:lstStyle/>
            <a:p>
              <a:endParaRPr lang="he-IL"/>
            </a:p>
          </p:txBody>
        </p:sp>
        <p:sp>
          <p:nvSpPr>
            <p:cNvPr id="62" name="Text Box 60"/>
            <p:cNvSpPr txBox="1">
              <a:spLocks noChangeArrowheads="1"/>
            </p:cNvSpPr>
            <p:nvPr/>
          </p:nvSpPr>
          <p:spPr bwMode="gray">
            <a:xfrm>
              <a:off x="4662" y="1142"/>
              <a:ext cx="5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dirty="0" smtClean="0">
                  <a:solidFill>
                    <a:schemeClr val="bg1"/>
                  </a:solidFill>
                  <a:ea typeface="MS PGothic" pitchFamily="34" charset="-128"/>
                </a:rPr>
                <a:t>Application</a:t>
              </a:r>
              <a:endParaRPr lang="en-US" sz="1000" dirty="0">
                <a:solidFill>
                  <a:schemeClr val="bg1"/>
                </a:solidFill>
                <a:ea typeface="MS PGothic" pitchFamily="34" charset="-128"/>
              </a:endParaRPr>
            </a:p>
          </p:txBody>
        </p:sp>
      </p:grpSp>
      <p:grpSp>
        <p:nvGrpSpPr>
          <p:cNvPr id="63" name="Group 61"/>
          <p:cNvGrpSpPr>
            <a:grpSpLocks/>
          </p:cNvGrpSpPr>
          <p:nvPr/>
        </p:nvGrpSpPr>
        <p:grpSpPr bwMode="auto">
          <a:xfrm>
            <a:off x="3084513" y="1641475"/>
            <a:ext cx="3006725" cy="327025"/>
            <a:chOff x="1943" y="1226"/>
            <a:chExt cx="1894" cy="206"/>
          </a:xfrm>
        </p:grpSpPr>
        <p:sp>
          <p:nvSpPr>
            <p:cNvPr id="64" name="AutoShape 62"/>
            <p:cNvSpPr>
              <a:spLocks noChangeArrowheads="1"/>
            </p:cNvSpPr>
            <p:nvPr/>
          </p:nvSpPr>
          <p:spPr bwMode="auto">
            <a:xfrm>
              <a:off x="1943" y="1226"/>
              <a:ext cx="1894" cy="203"/>
            </a:xfrm>
            <a:prstGeom prst="roundRect">
              <a:avLst>
                <a:gd name="adj" fmla="val 5079"/>
              </a:avLst>
            </a:prstGeom>
            <a:gradFill rotWithShape="1">
              <a:gsLst>
                <a:gs pos="0">
                  <a:srgbClr val="EBFFEB"/>
                </a:gs>
                <a:gs pos="100000">
                  <a:srgbClr val="9CA99C"/>
                </a:gs>
              </a:gsLst>
              <a:lin ang="5400000" scaled="1"/>
            </a:gradFill>
            <a:ln w="19050" algn="ctr">
              <a:solidFill>
                <a:schemeClr val="tx1"/>
              </a:solidFill>
              <a:round/>
              <a:headEnd/>
              <a:tailEnd/>
            </a:ln>
          </p:spPr>
          <p:txBody>
            <a:bodyPr wrap="none" anchor="ctr"/>
            <a:lstStyle/>
            <a:p>
              <a:endParaRPr lang="he-IL"/>
            </a:p>
          </p:txBody>
        </p:sp>
        <p:sp>
          <p:nvSpPr>
            <p:cNvPr id="65" name="Text Box 63"/>
            <p:cNvSpPr txBox="1">
              <a:spLocks noChangeArrowheads="1"/>
            </p:cNvSpPr>
            <p:nvPr/>
          </p:nvSpPr>
          <p:spPr bwMode="gray">
            <a:xfrm>
              <a:off x="2019" y="1240"/>
              <a:ext cx="17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a:ea typeface="MS PGothic" pitchFamily="34" charset="-128"/>
                </a:rPr>
                <a:t>Request / Response</a:t>
              </a:r>
            </a:p>
          </p:txBody>
        </p:sp>
      </p:grpSp>
      <p:sp>
        <p:nvSpPr>
          <p:cNvPr id="66" name="Text Box 64"/>
          <p:cNvSpPr txBox="1">
            <a:spLocks noChangeArrowheads="1"/>
          </p:cNvSpPr>
          <p:nvPr/>
        </p:nvSpPr>
        <p:spPr bwMode="gray">
          <a:xfrm>
            <a:off x="3084513" y="1347788"/>
            <a:ext cx="15541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200">
                <a:solidFill>
                  <a:schemeClr val="bg1"/>
                </a:solidFill>
                <a:ea typeface="MS PGothic" pitchFamily="34" charset="-128"/>
              </a:rPr>
              <a:t>Service Messaging</a:t>
            </a:r>
          </a:p>
        </p:txBody>
      </p:sp>
      <p:sp>
        <p:nvSpPr>
          <p:cNvPr id="67" name="Rectangle 65"/>
          <p:cNvSpPr txBox="1">
            <a:spLocks noChangeArrowheads="1"/>
          </p:cNvSpPr>
          <p:nvPr/>
        </p:nvSpPr>
        <p:spPr>
          <a:xfrm>
            <a:off x="4189413" y="3932238"/>
            <a:ext cx="4954587" cy="2279650"/>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Multiple communications paradigms</a:t>
            </a:r>
          </a:p>
          <a:p>
            <a:pPr lvl="1"/>
            <a:r>
              <a:rPr lang="en-US" sz="1800" dirty="0" smtClean="0"/>
              <a:t>Request/response</a:t>
            </a:r>
          </a:p>
          <a:p>
            <a:pPr lvl="1"/>
            <a:r>
              <a:rPr lang="en-US" sz="1800" dirty="0" smtClean="0"/>
              <a:t>Synchronous and asynchronous</a:t>
            </a:r>
          </a:p>
          <a:p>
            <a:pPr lvl="1"/>
            <a:r>
              <a:rPr lang="en-US" sz="1800" dirty="0" smtClean="0"/>
              <a:t>One-to-many, many-to-one</a:t>
            </a:r>
          </a:p>
          <a:p>
            <a:pPr lvl="1"/>
            <a:r>
              <a:rPr lang="en-US" sz="1800" dirty="0" smtClean="0"/>
              <a:t>Pub-sub</a:t>
            </a:r>
          </a:p>
          <a:p>
            <a:pPr lvl="1"/>
            <a:r>
              <a:rPr lang="en-US" sz="1800" dirty="0" smtClean="0"/>
              <a:t>Mix-and-match (e.g. sync-to-</a:t>
            </a:r>
            <a:r>
              <a:rPr lang="en-US" sz="1800" dirty="0" err="1" smtClean="0"/>
              <a:t>async</a:t>
            </a:r>
            <a:r>
              <a:rPr lang="en-US" sz="1800" dirty="0" smtClean="0"/>
              <a:t>)</a:t>
            </a:r>
          </a:p>
        </p:txBody>
      </p:sp>
      <p:grpSp>
        <p:nvGrpSpPr>
          <p:cNvPr id="68" name="Group 66"/>
          <p:cNvGrpSpPr>
            <a:grpSpLocks/>
          </p:cNvGrpSpPr>
          <p:nvPr/>
        </p:nvGrpSpPr>
        <p:grpSpPr bwMode="auto">
          <a:xfrm>
            <a:off x="3078163" y="2143125"/>
            <a:ext cx="3006725" cy="327025"/>
            <a:chOff x="1943" y="1226"/>
            <a:chExt cx="1894" cy="206"/>
          </a:xfrm>
        </p:grpSpPr>
        <p:sp>
          <p:nvSpPr>
            <p:cNvPr id="69" name="AutoShape 67"/>
            <p:cNvSpPr>
              <a:spLocks noChangeArrowheads="1"/>
            </p:cNvSpPr>
            <p:nvPr/>
          </p:nvSpPr>
          <p:spPr bwMode="auto">
            <a:xfrm>
              <a:off x="1943" y="1226"/>
              <a:ext cx="1894" cy="203"/>
            </a:xfrm>
            <a:prstGeom prst="roundRect">
              <a:avLst>
                <a:gd name="adj" fmla="val 5079"/>
              </a:avLst>
            </a:prstGeom>
            <a:gradFill rotWithShape="1">
              <a:gsLst>
                <a:gs pos="0">
                  <a:srgbClr val="EBFFEB"/>
                </a:gs>
                <a:gs pos="100000">
                  <a:srgbClr val="9CA99C"/>
                </a:gs>
              </a:gsLst>
              <a:lin ang="5400000" scaled="1"/>
            </a:gradFill>
            <a:ln w="19050" algn="ctr">
              <a:solidFill>
                <a:schemeClr val="tx1"/>
              </a:solidFill>
              <a:round/>
              <a:headEnd/>
              <a:tailEnd/>
            </a:ln>
          </p:spPr>
          <p:txBody>
            <a:bodyPr wrap="none" anchor="ctr"/>
            <a:lstStyle/>
            <a:p>
              <a:endParaRPr lang="he-IL"/>
            </a:p>
          </p:txBody>
        </p:sp>
        <p:sp>
          <p:nvSpPr>
            <p:cNvPr id="70" name="Text Box 68"/>
            <p:cNvSpPr txBox="1">
              <a:spLocks noChangeArrowheads="1"/>
            </p:cNvSpPr>
            <p:nvPr/>
          </p:nvSpPr>
          <p:spPr bwMode="gray">
            <a:xfrm>
              <a:off x="2019" y="1240"/>
              <a:ext cx="17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a:ea typeface="MS PGothic" pitchFamily="34" charset="-128"/>
                </a:rPr>
                <a:t>Synch / </a:t>
              </a:r>
              <a:r>
                <a:rPr lang="en-US" sz="1400" dirty="0" err="1">
                  <a:ea typeface="MS PGothic" pitchFamily="34" charset="-128"/>
                </a:rPr>
                <a:t>Asynch</a:t>
              </a:r>
              <a:endParaRPr lang="en-US" sz="1400" dirty="0">
                <a:ea typeface="MS PGothic" pitchFamily="34" charset="-128"/>
              </a:endParaRPr>
            </a:p>
          </p:txBody>
        </p:sp>
      </p:grpSp>
      <p:grpSp>
        <p:nvGrpSpPr>
          <p:cNvPr id="71" name="Group 69"/>
          <p:cNvGrpSpPr>
            <a:grpSpLocks/>
          </p:cNvGrpSpPr>
          <p:nvPr/>
        </p:nvGrpSpPr>
        <p:grpSpPr bwMode="auto">
          <a:xfrm>
            <a:off x="3084513" y="2635250"/>
            <a:ext cx="3006725" cy="327025"/>
            <a:chOff x="1943" y="1226"/>
            <a:chExt cx="1894" cy="206"/>
          </a:xfrm>
        </p:grpSpPr>
        <p:sp>
          <p:nvSpPr>
            <p:cNvPr id="72" name="AutoShape 70"/>
            <p:cNvSpPr>
              <a:spLocks noChangeArrowheads="1"/>
            </p:cNvSpPr>
            <p:nvPr/>
          </p:nvSpPr>
          <p:spPr bwMode="auto">
            <a:xfrm>
              <a:off x="1943" y="1226"/>
              <a:ext cx="1894" cy="203"/>
            </a:xfrm>
            <a:prstGeom prst="roundRect">
              <a:avLst>
                <a:gd name="adj" fmla="val 5079"/>
              </a:avLst>
            </a:prstGeom>
            <a:gradFill rotWithShape="1">
              <a:gsLst>
                <a:gs pos="0">
                  <a:srgbClr val="EBFFEB"/>
                </a:gs>
                <a:gs pos="100000">
                  <a:srgbClr val="9CA99C"/>
                </a:gs>
              </a:gsLst>
              <a:lin ang="5400000" scaled="1"/>
            </a:gradFill>
            <a:ln w="19050" algn="ctr">
              <a:solidFill>
                <a:schemeClr val="tx1"/>
              </a:solidFill>
              <a:round/>
              <a:headEnd/>
              <a:tailEnd/>
            </a:ln>
          </p:spPr>
          <p:txBody>
            <a:bodyPr wrap="none" anchor="ctr"/>
            <a:lstStyle/>
            <a:p>
              <a:endParaRPr lang="he-IL"/>
            </a:p>
          </p:txBody>
        </p:sp>
        <p:sp>
          <p:nvSpPr>
            <p:cNvPr id="73" name="Text Box 71"/>
            <p:cNvSpPr txBox="1">
              <a:spLocks noChangeArrowheads="1"/>
            </p:cNvSpPr>
            <p:nvPr/>
          </p:nvSpPr>
          <p:spPr bwMode="gray">
            <a:xfrm>
              <a:off x="2019" y="1240"/>
              <a:ext cx="17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dirty="0">
                  <a:ea typeface="MS PGothic" pitchFamily="34" charset="-128"/>
                </a:rPr>
                <a:t>Split / Join</a:t>
              </a:r>
            </a:p>
          </p:txBody>
        </p:sp>
      </p:grpSp>
      <p:grpSp>
        <p:nvGrpSpPr>
          <p:cNvPr id="74" name="Group 72"/>
          <p:cNvGrpSpPr>
            <a:grpSpLocks/>
          </p:cNvGrpSpPr>
          <p:nvPr/>
        </p:nvGrpSpPr>
        <p:grpSpPr bwMode="auto">
          <a:xfrm>
            <a:off x="3089275" y="3116263"/>
            <a:ext cx="3006725" cy="327025"/>
            <a:chOff x="1943" y="1226"/>
            <a:chExt cx="1894" cy="206"/>
          </a:xfrm>
        </p:grpSpPr>
        <p:sp>
          <p:nvSpPr>
            <p:cNvPr id="75" name="AutoShape 73"/>
            <p:cNvSpPr>
              <a:spLocks noChangeArrowheads="1"/>
            </p:cNvSpPr>
            <p:nvPr/>
          </p:nvSpPr>
          <p:spPr bwMode="auto">
            <a:xfrm>
              <a:off x="1943" y="1226"/>
              <a:ext cx="1894" cy="203"/>
            </a:xfrm>
            <a:prstGeom prst="roundRect">
              <a:avLst>
                <a:gd name="adj" fmla="val 5079"/>
              </a:avLst>
            </a:prstGeom>
            <a:gradFill rotWithShape="1">
              <a:gsLst>
                <a:gs pos="0">
                  <a:srgbClr val="EBFFEB"/>
                </a:gs>
                <a:gs pos="100000">
                  <a:srgbClr val="9CA99C"/>
                </a:gs>
              </a:gsLst>
              <a:lin ang="5400000" scaled="1"/>
            </a:gradFill>
            <a:ln w="19050" algn="ctr">
              <a:solidFill>
                <a:schemeClr val="tx1"/>
              </a:solidFill>
              <a:round/>
              <a:headEnd/>
              <a:tailEnd/>
            </a:ln>
          </p:spPr>
          <p:txBody>
            <a:bodyPr wrap="none" anchor="ctr"/>
            <a:lstStyle/>
            <a:p>
              <a:endParaRPr lang="he-IL"/>
            </a:p>
          </p:txBody>
        </p:sp>
        <p:sp>
          <p:nvSpPr>
            <p:cNvPr id="76" name="Text Box 74"/>
            <p:cNvSpPr txBox="1">
              <a:spLocks noChangeArrowheads="1"/>
            </p:cNvSpPr>
            <p:nvPr/>
          </p:nvSpPr>
          <p:spPr bwMode="gray">
            <a:xfrm>
              <a:off x="2019" y="1240"/>
              <a:ext cx="170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ea typeface="MS PGothic" pitchFamily="34" charset="-128"/>
                </a:rPr>
                <a:t>Publish / Subscribe</a:t>
              </a:r>
            </a:p>
          </p:txBody>
        </p:sp>
      </p:grpSp>
      <p:sp>
        <p:nvSpPr>
          <p:cNvPr id="78" name="Rectangle 76"/>
          <p:cNvSpPr>
            <a:spLocks noChangeArrowheads="1"/>
          </p:cNvSpPr>
          <p:nvPr/>
        </p:nvSpPr>
        <p:spPr bwMode="auto">
          <a:xfrm>
            <a:off x="596900" y="3932238"/>
            <a:ext cx="3633788"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27013" indent="-227013">
              <a:spcBef>
                <a:spcPct val="20000"/>
              </a:spcBef>
              <a:buFontTx/>
              <a:buChar char="•"/>
            </a:pPr>
            <a:r>
              <a:rPr lang="en-US" dirty="0"/>
              <a:t>Any to Any Protocol</a:t>
            </a:r>
          </a:p>
          <a:p>
            <a:pPr marL="227013" indent="-227013">
              <a:spcBef>
                <a:spcPct val="20000"/>
              </a:spcBef>
              <a:buFontTx/>
              <a:buChar char="•"/>
            </a:pPr>
            <a:r>
              <a:rPr lang="en-US" dirty="0"/>
              <a:t>Any to Any Payload</a:t>
            </a:r>
          </a:p>
          <a:p>
            <a:pPr marL="569913" lvl="1" indent="-228600">
              <a:spcBef>
                <a:spcPct val="20000"/>
              </a:spcBef>
              <a:buFontTx/>
              <a:buChar char="•"/>
            </a:pPr>
            <a:r>
              <a:rPr lang="en-US" sz="2000" dirty="0"/>
              <a:t>XML</a:t>
            </a:r>
          </a:p>
          <a:p>
            <a:pPr marL="569913" lvl="1" indent="-228600">
              <a:spcBef>
                <a:spcPct val="20000"/>
              </a:spcBef>
              <a:buFontTx/>
              <a:buChar char="•"/>
            </a:pPr>
            <a:r>
              <a:rPr lang="en-US" sz="2000" dirty="0"/>
              <a:t>non-XML</a:t>
            </a:r>
          </a:p>
          <a:p>
            <a:pPr marL="569913" lvl="1" indent="-228600">
              <a:spcBef>
                <a:spcPct val="20000"/>
              </a:spcBef>
              <a:buFontTx/>
              <a:buChar char="•"/>
            </a:pPr>
            <a:r>
              <a:rPr lang="en-US" sz="2000" dirty="0"/>
              <a:t>Binary</a:t>
            </a:r>
          </a:p>
          <a:p>
            <a:pPr marL="227013" indent="-227013">
              <a:spcBef>
                <a:spcPct val="20000"/>
              </a:spcBef>
              <a:buFontTx/>
              <a:buChar char="•"/>
            </a:pPr>
            <a:r>
              <a:rPr lang="en-US" dirty="0"/>
              <a:t>No WSDL Required</a:t>
            </a:r>
          </a:p>
        </p:txBody>
      </p:sp>
    </p:spTree>
    <p:extLst>
      <p:ext uri="{BB962C8B-B14F-4D97-AF65-F5344CB8AC3E}">
        <p14:creationId xmlns:p14="http://schemas.microsoft.com/office/powerpoint/2010/main" val="414106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uild="p"/>
      <p:bldP spid="7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Routing </a:t>
            </a:r>
            <a:endParaRPr lang="en-US" dirty="0"/>
          </a:p>
        </p:txBody>
      </p:sp>
      <p:sp>
        <p:nvSpPr>
          <p:cNvPr id="3" name="Content Placeholder 2"/>
          <p:cNvSpPr>
            <a:spLocks noGrp="1"/>
          </p:cNvSpPr>
          <p:nvPr>
            <p:ph idx="1"/>
          </p:nvPr>
        </p:nvSpPr>
        <p:spPr/>
        <p:txBody>
          <a:bodyPr>
            <a:normAutofit fontScale="92500" lnSpcReduction="20000"/>
          </a:bodyPr>
          <a:lstStyle/>
          <a:p>
            <a:r>
              <a:rPr lang="en-US" dirty="0"/>
              <a:t>Location </a:t>
            </a:r>
            <a:r>
              <a:rPr lang="en-US" dirty="0" smtClean="0"/>
              <a:t>Transparency</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sz="2200" dirty="0" smtClean="0"/>
              <a:t>Point to point mesh up problem is resolved</a:t>
            </a:r>
          </a:p>
          <a:p>
            <a:pPr marL="0" indent="0">
              <a:buNone/>
            </a:pPr>
            <a:endParaRPr lang="en-US" dirty="0"/>
          </a:p>
        </p:txBody>
      </p:sp>
      <p:sp>
        <p:nvSpPr>
          <p:cNvPr id="4" name="Flowchart: Multidocument 3"/>
          <p:cNvSpPr/>
          <p:nvPr/>
        </p:nvSpPr>
        <p:spPr>
          <a:xfrm>
            <a:off x="914400" y="3276600"/>
            <a:ext cx="1295400" cy="1000432"/>
          </a:xfrm>
          <a:prstGeom prst="flowChartMultidocumen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Process A</a:t>
            </a:r>
            <a:endParaRPr lang="en-US" dirty="0">
              <a:solidFill>
                <a:schemeClr val="tx1"/>
              </a:solidFill>
            </a:endParaRPr>
          </a:p>
        </p:txBody>
      </p:sp>
      <p:sp>
        <p:nvSpPr>
          <p:cNvPr id="6" name="Rounded Rectangle 5"/>
          <p:cNvSpPr/>
          <p:nvPr/>
        </p:nvSpPr>
        <p:spPr>
          <a:xfrm>
            <a:off x="7010400" y="3419168"/>
            <a:ext cx="990600" cy="69563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Host</a:t>
            </a:r>
          </a:p>
        </p:txBody>
      </p:sp>
      <p:cxnSp>
        <p:nvCxnSpPr>
          <p:cNvPr id="14" name="Straight Arrow Connector 13"/>
          <p:cNvCxnSpPr/>
          <p:nvPr/>
        </p:nvCxnSpPr>
        <p:spPr>
          <a:xfrm>
            <a:off x="2362200" y="3688940"/>
            <a:ext cx="914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5" name="Group 11"/>
          <p:cNvGrpSpPr>
            <a:grpSpLocks/>
          </p:cNvGrpSpPr>
          <p:nvPr/>
        </p:nvGrpSpPr>
        <p:grpSpPr bwMode="auto">
          <a:xfrm>
            <a:off x="3505200" y="3276600"/>
            <a:ext cx="1905000" cy="923034"/>
            <a:chOff x="4561" y="1092"/>
            <a:chExt cx="730" cy="25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grpSpPr>
        <p:sp>
          <p:nvSpPr>
            <p:cNvPr id="16" name="AutoShape 12"/>
            <p:cNvSpPr>
              <a:spLocks noChangeArrowheads="1"/>
            </p:cNvSpPr>
            <p:nvPr/>
          </p:nvSpPr>
          <p:spPr bwMode="auto">
            <a:xfrm>
              <a:off x="4561" y="1092"/>
              <a:ext cx="730" cy="250"/>
            </a:xfrm>
            <a:prstGeom prst="roundRect">
              <a:avLst>
                <a:gd name="adj" fmla="val 10417"/>
              </a:avLst>
            </a:prstGeom>
            <a:grpFill/>
            <a:ln w="15875" algn="ctr">
              <a:solidFill>
                <a:srgbClr val="2861A0"/>
              </a:solidFill>
              <a:round/>
              <a:headEnd/>
              <a:tailEnd/>
            </a:ln>
          </p:spPr>
          <p:txBody>
            <a:bodyPr wrap="none" anchor="ctr"/>
            <a:lstStyle/>
            <a:p>
              <a:endParaRPr lang="he-IL"/>
            </a:p>
          </p:txBody>
        </p:sp>
        <p:sp>
          <p:nvSpPr>
            <p:cNvPr id="17" name="Text Box 13"/>
            <p:cNvSpPr txBox="1">
              <a:spLocks noChangeArrowheads="1"/>
            </p:cNvSpPr>
            <p:nvPr/>
          </p:nvSpPr>
          <p:spPr bwMode="gray">
            <a:xfrm>
              <a:off x="4713" y="1176"/>
              <a:ext cx="520" cy="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smtClean="0">
                  <a:latin typeface="+mn-lt"/>
                  <a:cs typeface="+mn-cs"/>
                </a:rPr>
                <a:t>Service Bus</a:t>
              </a:r>
              <a:endParaRPr lang="en-US" dirty="0">
                <a:latin typeface="+mn-lt"/>
                <a:cs typeface="+mn-cs"/>
              </a:endParaRPr>
            </a:p>
          </p:txBody>
        </p:sp>
      </p:grpSp>
      <p:sp>
        <p:nvSpPr>
          <p:cNvPr id="18" name="Rounded Rectangle 17"/>
          <p:cNvSpPr/>
          <p:nvPr/>
        </p:nvSpPr>
        <p:spPr>
          <a:xfrm>
            <a:off x="7086600" y="4495800"/>
            <a:ext cx="990600" cy="69563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Host</a:t>
            </a:r>
            <a:endParaRPr lang="en-US" dirty="0"/>
          </a:p>
        </p:txBody>
      </p:sp>
      <p:cxnSp>
        <p:nvCxnSpPr>
          <p:cNvPr id="20" name="Straight Arrow Connector 19"/>
          <p:cNvCxnSpPr/>
          <p:nvPr/>
        </p:nvCxnSpPr>
        <p:spPr>
          <a:xfrm flipV="1">
            <a:off x="5638800" y="3733800"/>
            <a:ext cx="1143000" cy="43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562600" y="4164803"/>
            <a:ext cx="1219200" cy="6788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792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Routing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Content Based Dynamic Routing</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sz="2200" dirty="0" smtClean="0"/>
              <a:t>Point to point mesh up problem is resolved</a:t>
            </a:r>
          </a:p>
          <a:p>
            <a:pPr marL="0" indent="0">
              <a:buNone/>
            </a:pPr>
            <a:endParaRPr lang="en-US" dirty="0"/>
          </a:p>
        </p:txBody>
      </p:sp>
      <p:sp>
        <p:nvSpPr>
          <p:cNvPr id="4" name="Flowchart: Multidocument 3"/>
          <p:cNvSpPr/>
          <p:nvPr/>
        </p:nvSpPr>
        <p:spPr>
          <a:xfrm>
            <a:off x="914400" y="3276600"/>
            <a:ext cx="1295400" cy="1000432"/>
          </a:xfrm>
          <a:prstGeom prst="flowChartMultidocumen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Customer A</a:t>
            </a:r>
            <a:endParaRPr lang="en-US" dirty="0">
              <a:solidFill>
                <a:schemeClr val="tx1"/>
              </a:solidFill>
            </a:endParaRPr>
          </a:p>
        </p:txBody>
      </p:sp>
      <p:sp>
        <p:nvSpPr>
          <p:cNvPr id="6" name="Rounded Rectangle 5"/>
          <p:cNvSpPr/>
          <p:nvPr/>
        </p:nvSpPr>
        <p:spPr>
          <a:xfrm>
            <a:off x="7010400" y="3419168"/>
            <a:ext cx="990600" cy="69563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Old System</a:t>
            </a:r>
            <a:endParaRPr lang="en-US" dirty="0">
              <a:solidFill>
                <a:schemeClr val="tx1"/>
              </a:solidFill>
            </a:endParaRPr>
          </a:p>
        </p:txBody>
      </p:sp>
      <p:cxnSp>
        <p:nvCxnSpPr>
          <p:cNvPr id="14" name="Straight Arrow Connector 13"/>
          <p:cNvCxnSpPr/>
          <p:nvPr/>
        </p:nvCxnSpPr>
        <p:spPr>
          <a:xfrm>
            <a:off x="2362200" y="3688940"/>
            <a:ext cx="914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5" name="Group 11"/>
          <p:cNvGrpSpPr>
            <a:grpSpLocks/>
          </p:cNvGrpSpPr>
          <p:nvPr/>
        </p:nvGrpSpPr>
        <p:grpSpPr bwMode="auto">
          <a:xfrm>
            <a:off x="3505200" y="3276600"/>
            <a:ext cx="1905000" cy="923034"/>
            <a:chOff x="4561" y="1092"/>
            <a:chExt cx="730" cy="25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grpSpPr>
        <p:sp>
          <p:nvSpPr>
            <p:cNvPr id="16" name="AutoShape 12"/>
            <p:cNvSpPr>
              <a:spLocks noChangeArrowheads="1"/>
            </p:cNvSpPr>
            <p:nvPr/>
          </p:nvSpPr>
          <p:spPr bwMode="auto">
            <a:xfrm>
              <a:off x="4561" y="1092"/>
              <a:ext cx="730" cy="250"/>
            </a:xfrm>
            <a:prstGeom prst="roundRect">
              <a:avLst>
                <a:gd name="adj" fmla="val 10417"/>
              </a:avLst>
            </a:prstGeom>
            <a:grpFill/>
            <a:ln w="15875" algn="ctr">
              <a:solidFill>
                <a:srgbClr val="2861A0"/>
              </a:solidFill>
              <a:round/>
              <a:headEnd/>
              <a:tailEnd/>
            </a:ln>
          </p:spPr>
          <p:txBody>
            <a:bodyPr wrap="none" anchor="ctr"/>
            <a:lstStyle/>
            <a:p>
              <a:endParaRPr lang="he-IL"/>
            </a:p>
          </p:txBody>
        </p:sp>
        <p:sp>
          <p:nvSpPr>
            <p:cNvPr id="17" name="Text Box 13"/>
            <p:cNvSpPr txBox="1">
              <a:spLocks noChangeArrowheads="1"/>
            </p:cNvSpPr>
            <p:nvPr/>
          </p:nvSpPr>
          <p:spPr bwMode="gray">
            <a:xfrm>
              <a:off x="4649" y="1095"/>
              <a:ext cx="520" cy="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smtClean="0">
                  <a:latin typeface="+mn-lt"/>
                  <a:cs typeface="+mn-cs"/>
                </a:rPr>
                <a:t>Service Bus</a:t>
              </a:r>
              <a:endParaRPr lang="en-US" dirty="0">
                <a:latin typeface="+mn-lt"/>
                <a:cs typeface="+mn-cs"/>
              </a:endParaRPr>
            </a:p>
          </p:txBody>
        </p:sp>
      </p:grpSp>
      <p:sp>
        <p:nvSpPr>
          <p:cNvPr id="18" name="Rounded Rectangle 17"/>
          <p:cNvSpPr/>
          <p:nvPr/>
        </p:nvSpPr>
        <p:spPr>
          <a:xfrm>
            <a:off x="7086600" y="4495800"/>
            <a:ext cx="990600" cy="69563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New System</a:t>
            </a:r>
            <a:endParaRPr lang="en-US" dirty="0"/>
          </a:p>
        </p:txBody>
      </p:sp>
      <p:cxnSp>
        <p:nvCxnSpPr>
          <p:cNvPr id="20" name="Straight Arrow Connector 19"/>
          <p:cNvCxnSpPr/>
          <p:nvPr/>
        </p:nvCxnSpPr>
        <p:spPr>
          <a:xfrm flipV="1">
            <a:off x="5581650" y="3733800"/>
            <a:ext cx="1257300" cy="43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656118" y="4171366"/>
            <a:ext cx="1108364" cy="6788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Flowchart: Multidocument 12"/>
          <p:cNvSpPr/>
          <p:nvPr/>
        </p:nvSpPr>
        <p:spPr>
          <a:xfrm>
            <a:off x="914400" y="4691216"/>
            <a:ext cx="1295400" cy="1000432"/>
          </a:xfrm>
          <a:prstGeom prst="flowChartMultidocumen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Customer B</a:t>
            </a:r>
            <a:endParaRPr lang="en-US" dirty="0">
              <a:solidFill>
                <a:schemeClr val="tx1"/>
              </a:solidFill>
            </a:endParaRPr>
          </a:p>
        </p:txBody>
      </p:sp>
      <p:cxnSp>
        <p:nvCxnSpPr>
          <p:cNvPr id="19" name="Straight Arrow Connector 18"/>
          <p:cNvCxnSpPr/>
          <p:nvPr/>
        </p:nvCxnSpPr>
        <p:spPr>
          <a:xfrm flipV="1">
            <a:off x="2362200" y="4164803"/>
            <a:ext cx="914400" cy="864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3864987" y="3630562"/>
            <a:ext cx="990600" cy="484238"/>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Routing </a:t>
            </a:r>
            <a:endParaRPr lang="en-US" dirty="0">
              <a:solidFill>
                <a:schemeClr val="tx1"/>
              </a:solidFill>
            </a:endParaRPr>
          </a:p>
        </p:txBody>
      </p:sp>
    </p:spTree>
    <p:extLst>
      <p:ext uri="{BB962C8B-B14F-4D97-AF65-F5344CB8AC3E}">
        <p14:creationId xmlns:p14="http://schemas.microsoft.com/office/powerpoint/2010/main" val="311937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Transformation and Enrichment</a:t>
            </a:r>
            <a:endParaRPr lang="en-US" dirty="0"/>
          </a:p>
        </p:txBody>
      </p:sp>
      <p:sp>
        <p:nvSpPr>
          <p:cNvPr id="3" name="Content Placeholder 2"/>
          <p:cNvSpPr>
            <a:spLocks noGrp="1"/>
          </p:cNvSpPr>
          <p:nvPr>
            <p:ph idx="1"/>
          </p:nvPr>
        </p:nvSpPr>
        <p:spPr/>
        <p:txBody>
          <a:bodyPr/>
          <a:lstStyle/>
          <a:p>
            <a:endParaRPr lang="en-US" dirty="0"/>
          </a:p>
        </p:txBody>
      </p:sp>
      <p:sp>
        <p:nvSpPr>
          <p:cNvPr id="4" name="Content Placeholder 2"/>
          <p:cNvSpPr txBox="1">
            <a:spLocks/>
          </p:cNvSpPr>
          <p:nvPr/>
        </p:nvSpPr>
        <p:spPr>
          <a:xfrm>
            <a:off x="457200" y="1600200"/>
            <a:ext cx="8229600" cy="452596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marL="0" indent="0">
              <a:buFont typeface="Arial" pitchFamily="34" charset="0"/>
              <a:buNone/>
            </a:pPr>
            <a:r>
              <a:rPr lang="en-US" sz="2200" dirty="0" smtClean="0"/>
              <a:t>Backwardly compatible</a:t>
            </a:r>
          </a:p>
          <a:p>
            <a:pPr marL="0" indent="0">
              <a:buFont typeface="Arial" pitchFamily="34" charset="0"/>
              <a:buNone/>
            </a:pPr>
            <a:endParaRPr lang="en-US" dirty="0"/>
          </a:p>
        </p:txBody>
      </p:sp>
      <p:sp>
        <p:nvSpPr>
          <p:cNvPr id="5" name="Flowchart: Multidocument 4"/>
          <p:cNvSpPr/>
          <p:nvPr/>
        </p:nvSpPr>
        <p:spPr>
          <a:xfrm>
            <a:off x="914400" y="3276600"/>
            <a:ext cx="1295400" cy="1000432"/>
          </a:xfrm>
          <a:prstGeom prst="flowChartMultidocumen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tx1"/>
                </a:solidFill>
              </a:rPr>
              <a:t>Applyloan</a:t>
            </a:r>
            <a:endParaRPr lang="en-US" dirty="0">
              <a:solidFill>
                <a:schemeClr val="tx1"/>
              </a:solidFill>
            </a:endParaRPr>
          </a:p>
        </p:txBody>
      </p:sp>
      <p:sp>
        <p:nvSpPr>
          <p:cNvPr id="6" name="Rounded Rectangle 5"/>
          <p:cNvSpPr/>
          <p:nvPr/>
        </p:nvSpPr>
        <p:spPr>
          <a:xfrm>
            <a:off x="7010400" y="3419168"/>
            <a:ext cx="990600" cy="695632"/>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Bank</a:t>
            </a:r>
            <a:endParaRPr lang="en-US" dirty="0">
              <a:solidFill>
                <a:schemeClr val="tx1"/>
              </a:solidFill>
            </a:endParaRPr>
          </a:p>
        </p:txBody>
      </p:sp>
      <p:cxnSp>
        <p:nvCxnSpPr>
          <p:cNvPr id="7" name="Straight Arrow Connector 6"/>
          <p:cNvCxnSpPr/>
          <p:nvPr/>
        </p:nvCxnSpPr>
        <p:spPr>
          <a:xfrm>
            <a:off x="2362200" y="3688940"/>
            <a:ext cx="914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11"/>
          <p:cNvGrpSpPr>
            <a:grpSpLocks/>
          </p:cNvGrpSpPr>
          <p:nvPr/>
        </p:nvGrpSpPr>
        <p:grpSpPr bwMode="auto">
          <a:xfrm>
            <a:off x="3505200" y="3276600"/>
            <a:ext cx="1905000" cy="923034"/>
            <a:chOff x="4561" y="1092"/>
            <a:chExt cx="730" cy="25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grpSpPr>
        <p:sp>
          <p:nvSpPr>
            <p:cNvPr id="9" name="AutoShape 12"/>
            <p:cNvSpPr>
              <a:spLocks noChangeArrowheads="1"/>
            </p:cNvSpPr>
            <p:nvPr/>
          </p:nvSpPr>
          <p:spPr bwMode="auto">
            <a:xfrm>
              <a:off x="4561" y="1092"/>
              <a:ext cx="730" cy="250"/>
            </a:xfrm>
            <a:prstGeom prst="roundRect">
              <a:avLst>
                <a:gd name="adj" fmla="val 10417"/>
              </a:avLst>
            </a:prstGeom>
            <a:grpFill/>
            <a:ln w="15875" algn="ctr">
              <a:solidFill>
                <a:srgbClr val="2861A0"/>
              </a:solidFill>
              <a:round/>
              <a:headEnd/>
              <a:tailEnd/>
            </a:ln>
          </p:spPr>
          <p:txBody>
            <a:bodyPr wrap="none" anchor="ctr"/>
            <a:lstStyle/>
            <a:p>
              <a:endParaRPr lang="he-IL"/>
            </a:p>
          </p:txBody>
        </p:sp>
        <p:sp>
          <p:nvSpPr>
            <p:cNvPr id="10" name="Text Box 13"/>
            <p:cNvSpPr txBox="1">
              <a:spLocks noChangeArrowheads="1"/>
            </p:cNvSpPr>
            <p:nvPr/>
          </p:nvSpPr>
          <p:spPr bwMode="gray">
            <a:xfrm>
              <a:off x="4654" y="1095"/>
              <a:ext cx="520" cy="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dirty="0" smtClean="0">
                  <a:latin typeface="+mn-lt"/>
                  <a:cs typeface="+mn-cs"/>
                </a:rPr>
                <a:t>Service Bus</a:t>
              </a:r>
              <a:endParaRPr lang="en-US" dirty="0">
                <a:latin typeface="+mn-lt"/>
                <a:cs typeface="+mn-cs"/>
              </a:endParaRPr>
            </a:p>
          </p:txBody>
        </p:sp>
      </p:grpSp>
      <p:cxnSp>
        <p:nvCxnSpPr>
          <p:cNvPr id="11" name="Straight Arrow Connector 10"/>
          <p:cNvCxnSpPr/>
          <p:nvPr/>
        </p:nvCxnSpPr>
        <p:spPr>
          <a:xfrm flipV="1">
            <a:off x="5638800" y="3733800"/>
            <a:ext cx="1143000" cy="43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3657600" y="2209800"/>
            <a:ext cx="1524000" cy="392666"/>
          </a:xfrm>
          <a:prstGeom prst="round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Rating agency</a:t>
            </a:r>
            <a:endParaRPr lang="en-US" dirty="0">
              <a:solidFill>
                <a:schemeClr val="tx1"/>
              </a:solidFill>
            </a:endParaRPr>
          </a:p>
        </p:txBody>
      </p:sp>
      <p:cxnSp>
        <p:nvCxnSpPr>
          <p:cNvPr id="13" name="Straight Arrow Connector 12"/>
          <p:cNvCxnSpPr/>
          <p:nvPr/>
        </p:nvCxnSpPr>
        <p:spPr>
          <a:xfrm flipV="1">
            <a:off x="4267200" y="2667000"/>
            <a:ext cx="0" cy="609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2805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Orchestration</a:t>
            </a:r>
            <a:endParaRPr lang="en-US" dirty="0"/>
          </a:p>
        </p:txBody>
      </p:sp>
      <p:sp>
        <p:nvSpPr>
          <p:cNvPr id="3" name="Content Placeholder 2"/>
          <p:cNvSpPr>
            <a:spLocks noGrp="1"/>
          </p:cNvSpPr>
          <p:nvPr>
            <p:ph idx="1"/>
          </p:nvPr>
        </p:nvSpPr>
        <p:spPr/>
        <p:txBody>
          <a:bodyPr/>
          <a:lstStyle/>
          <a:p>
            <a:pPr marL="0" indent="0">
              <a:buNone/>
            </a:pPr>
            <a:r>
              <a:rPr lang="en-US" dirty="0" smtClean="0"/>
              <a:t>Service bus can be used to create new service orchestrating multiple applications.</a:t>
            </a:r>
            <a:endParaRPr lang="en-US" dirty="0"/>
          </a:p>
        </p:txBody>
      </p:sp>
    </p:spTree>
    <p:extLst>
      <p:ext uri="{BB962C8B-B14F-4D97-AF65-F5344CB8AC3E}">
        <p14:creationId xmlns:p14="http://schemas.microsoft.com/office/powerpoint/2010/main" val="37520028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Development</a:t>
            </a:r>
            <a:endParaRPr lang="en-US" dirty="0"/>
          </a:p>
        </p:txBody>
      </p:sp>
      <p:sp>
        <p:nvSpPr>
          <p:cNvPr id="3" name="Content Placeholder 2"/>
          <p:cNvSpPr>
            <a:spLocks noGrp="1"/>
          </p:cNvSpPr>
          <p:nvPr>
            <p:ph idx="1"/>
          </p:nvPr>
        </p:nvSpPr>
        <p:spPr/>
        <p:txBody>
          <a:bodyPr>
            <a:normAutofit/>
          </a:bodyPr>
          <a:lstStyle/>
          <a:p>
            <a:r>
              <a:rPr lang="en-US" dirty="0" smtClean="0"/>
              <a:t>Abstracts low level </a:t>
            </a:r>
            <a:r>
              <a:rPr lang="en-US" dirty="0" err="1" smtClean="0"/>
              <a:t>nitty</a:t>
            </a:r>
            <a:r>
              <a:rPr lang="en-US" dirty="0" smtClean="0"/>
              <a:t> </a:t>
            </a:r>
            <a:r>
              <a:rPr lang="en-US" dirty="0" err="1" smtClean="0"/>
              <a:t>grities</a:t>
            </a:r>
            <a:endParaRPr lang="en-US" dirty="0" smtClean="0"/>
          </a:p>
          <a:p>
            <a:r>
              <a:rPr lang="en-US" dirty="0" smtClean="0"/>
              <a:t>Incremental development</a:t>
            </a:r>
          </a:p>
          <a:p>
            <a:pPr lvl="0" fontAlgn="base"/>
            <a:r>
              <a:rPr lang="en-US" dirty="0"/>
              <a:t>Reduced integration complexity, cost, and manual intervention</a:t>
            </a:r>
          </a:p>
          <a:p>
            <a:pPr lvl="0" fontAlgn="base"/>
            <a:r>
              <a:rPr lang="en-US" dirty="0"/>
              <a:t>Accelerated the development and testing process</a:t>
            </a:r>
          </a:p>
          <a:p>
            <a:endParaRPr lang="en-US" dirty="0" smtClean="0"/>
          </a:p>
          <a:p>
            <a:endParaRPr lang="en-US" dirty="0"/>
          </a:p>
        </p:txBody>
      </p:sp>
    </p:spTree>
    <p:extLst>
      <p:ext uri="{BB962C8B-B14F-4D97-AF65-F5344CB8AC3E}">
        <p14:creationId xmlns:p14="http://schemas.microsoft.com/office/powerpoint/2010/main" val="39119693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Functional Aspects</a:t>
            </a:r>
            <a:endParaRPr lang="en-US" dirty="0"/>
          </a:p>
        </p:txBody>
      </p:sp>
      <p:sp>
        <p:nvSpPr>
          <p:cNvPr id="3" name="Content Placeholder 2"/>
          <p:cNvSpPr>
            <a:spLocks noGrp="1"/>
          </p:cNvSpPr>
          <p:nvPr>
            <p:ph idx="1"/>
          </p:nvPr>
        </p:nvSpPr>
        <p:spPr/>
        <p:txBody>
          <a:bodyPr/>
          <a:lstStyle/>
          <a:p>
            <a:r>
              <a:rPr lang="en-US" dirty="0" smtClean="0"/>
              <a:t>Scalability</a:t>
            </a:r>
          </a:p>
          <a:p>
            <a:pPr lvl="1"/>
            <a:r>
              <a:rPr lang="en-US" dirty="0"/>
              <a:t>Load Balancing</a:t>
            </a:r>
          </a:p>
          <a:p>
            <a:r>
              <a:rPr lang="en-US" dirty="0" smtClean="0"/>
              <a:t>High Availability</a:t>
            </a:r>
          </a:p>
          <a:p>
            <a:pPr lvl="1"/>
            <a:r>
              <a:rPr lang="en-US" dirty="0" err="1"/>
              <a:t>FailOver</a:t>
            </a:r>
            <a:endParaRPr lang="en-US" dirty="0"/>
          </a:p>
          <a:p>
            <a:r>
              <a:rPr lang="en-US" dirty="0" smtClean="0"/>
              <a:t>Performance</a:t>
            </a:r>
          </a:p>
          <a:p>
            <a:endParaRPr lang="en-US" dirty="0"/>
          </a:p>
        </p:txBody>
      </p:sp>
    </p:spTree>
    <p:extLst>
      <p:ext uri="{BB962C8B-B14F-4D97-AF65-F5344CB8AC3E}">
        <p14:creationId xmlns:p14="http://schemas.microsoft.com/office/powerpoint/2010/main" val="28164513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 Features</a:t>
            </a:r>
            <a:endParaRPr lang="en-US" dirty="0"/>
          </a:p>
        </p:txBody>
      </p:sp>
      <p:sp>
        <p:nvSpPr>
          <p:cNvPr id="3" name="Content Placeholder 2"/>
          <p:cNvSpPr>
            <a:spLocks noGrp="1"/>
          </p:cNvSpPr>
          <p:nvPr>
            <p:ph idx="1"/>
          </p:nvPr>
        </p:nvSpPr>
        <p:spPr/>
        <p:txBody>
          <a:bodyPr>
            <a:normAutofit/>
          </a:bodyPr>
          <a:lstStyle/>
          <a:p>
            <a:pPr>
              <a:defRPr/>
            </a:pPr>
            <a:r>
              <a:rPr lang="en-CA" dirty="0"/>
              <a:t>Business Activity Monitoring (BAM)</a:t>
            </a:r>
          </a:p>
          <a:p>
            <a:pPr>
              <a:defRPr/>
            </a:pPr>
            <a:r>
              <a:rPr lang="en-US" dirty="0"/>
              <a:t>Throttling</a:t>
            </a:r>
          </a:p>
          <a:p>
            <a:pPr>
              <a:defRPr/>
            </a:pPr>
            <a:r>
              <a:rPr lang="en-US" dirty="0"/>
              <a:t>Delayer</a:t>
            </a:r>
          </a:p>
          <a:p>
            <a:pPr>
              <a:defRPr/>
            </a:pPr>
            <a:r>
              <a:rPr lang="en-US" dirty="0"/>
              <a:t>Tracer</a:t>
            </a:r>
          </a:p>
          <a:p>
            <a:pPr>
              <a:defRPr/>
            </a:pPr>
            <a:r>
              <a:rPr lang="en-US" dirty="0" smtClean="0"/>
              <a:t>Managed</a:t>
            </a:r>
            <a:endParaRPr lang="en-US" dirty="0"/>
          </a:p>
          <a:p>
            <a:pPr marL="562550" lvl="2" indent="0">
              <a:buNone/>
              <a:defRPr/>
            </a:pPr>
            <a:endParaRPr lang="en-US" dirty="0"/>
          </a:p>
          <a:p>
            <a:pPr marL="0" indent="0">
              <a:buNone/>
            </a:pPr>
            <a:endParaRPr lang="en-US" dirty="0"/>
          </a:p>
        </p:txBody>
      </p:sp>
    </p:spTree>
    <p:extLst>
      <p:ext uri="{BB962C8B-B14F-4D97-AF65-F5344CB8AC3E}">
        <p14:creationId xmlns:p14="http://schemas.microsoft.com/office/powerpoint/2010/main" val="3310934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sgcsharma\Desktop\service_summary_sincelastreset.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637" y="1676400"/>
            <a:ext cx="6051763"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Monitoring</a:t>
            </a:r>
            <a:endParaRPr lang="en-US" dirty="0"/>
          </a:p>
        </p:txBody>
      </p:sp>
      <p:sp>
        <p:nvSpPr>
          <p:cNvPr id="3" name="Content Placeholder 2"/>
          <p:cNvSpPr>
            <a:spLocks noGrp="1"/>
          </p:cNvSpPr>
          <p:nvPr>
            <p:ph idx="1"/>
          </p:nvPr>
        </p:nvSpPr>
        <p:spPr/>
        <p:txBody>
          <a:bodyPr/>
          <a:lstStyle/>
          <a:p>
            <a:endParaRPr lang="en-US" dirty="0"/>
          </a:p>
        </p:txBody>
      </p:sp>
      <p:sp>
        <p:nvSpPr>
          <p:cNvPr id="6" name="TextBox 5"/>
          <p:cNvSpPr txBox="1"/>
          <p:nvPr/>
        </p:nvSpPr>
        <p:spPr>
          <a:xfrm>
            <a:off x="6248400" y="2133600"/>
            <a:ext cx="2743200" cy="2308324"/>
          </a:xfrm>
          <a:prstGeom prst="rect">
            <a:avLst/>
          </a:prstGeom>
          <a:noFill/>
        </p:spPr>
        <p:txBody>
          <a:bodyPr wrap="square" rtlCol="0">
            <a:spAutoFit/>
          </a:bodyPr>
          <a:lstStyle>
            <a:defPPr>
              <a:defRPr lang="en-US"/>
            </a:defPPr>
            <a:lvl1pPr algn="l" rtl="0" fontAlgn="base">
              <a:spcBef>
                <a:spcPct val="0"/>
              </a:spcBef>
              <a:spcAft>
                <a:spcPct val="0"/>
              </a:spcAft>
              <a:defRPr sz="1000" b="1" kern="1200">
                <a:solidFill>
                  <a:srgbClr val="2F5E5E"/>
                </a:solidFill>
                <a:latin typeface="Arial" charset="0"/>
                <a:ea typeface="ＭＳ Ｐゴシック"/>
                <a:cs typeface="ＭＳ Ｐゴシック"/>
              </a:defRPr>
            </a:lvl1pPr>
            <a:lvl2pPr marL="457200" algn="l" rtl="0" fontAlgn="base">
              <a:spcBef>
                <a:spcPct val="0"/>
              </a:spcBef>
              <a:spcAft>
                <a:spcPct val="0"/>
              </a:spcAft>
              <a:defRPr sz="1000" b="1" kern="1200">
                <a:solidFill>
                  <a:srgbClr val="2F5E5E"/>
                </a:solidFill>
                <a:latin typeface="Arial" charset="0"/>
                <a:ea typeface="ＭＳ Ｐゴシック"/>
                <a:cs typeface="ＭＳ Ｐゴシック"/>
              </a:defRPr>
            </a:lvl2pPr>
            <a:lvl3pPr marL="914400" algn="l" rtl="0" fontAlgn="base">
              <a:spcBef>
                <a:spcPct val="0"/>
              </a:spcBef>
              <a:spcAft>
                <a:spcPct val="0"/>
              </a:spcAft>
              <a:defRPr sz="1000" b="1" kern="1200">
                <a:solidFill>
                  <a:srgbClr val="2F5E5E"/>
                </a:solidFill>
                <a:latin typeface="Arial" charset="0"/>
                <a:ea typeface="ＭＳ Ｐゴシック"/>
                <a:cs typeface="ＭＳ Ｐゴシック"/>
              </a:defRPr>
            </a:lvl3pPr>
            <a:lvl4pPr marL="1371600" algn="l" rtl="0" fontAlgn="base">
              <a:spcBef>
                <a:spcPct val="0"/>
              </a:spcBef>
              <a:spcAft>
                <a:spcPct val="0"/>
              </a:spcAft>
              <a:defRPr sz="1000" b="1" kern="1200">
                <a:solidFill>
                  <a:srgbClr val="2F5E5E"/>
                </a:solidFill>
                <a:latin typeface="Arial" charset="0"/>
                <a:ea typeface="ＭＳ Ｐゴシック"/>
                <a:cs typeface="ＭＳ Ｐゴシック"/>
              </a:defRPr>
            </a:lvl4pPr>
            <a:lvl5pPr marL="1828800" algn="l" rtl="0" fontAlgn="base">
              <a:spcBef>
                <a:spcPct val="0"/>
              </a:spcBef>
              <a:spcAft>
                <a:spcPct val="0"/>
              </a:spcAft>
              <a:defRPr sz="1000" b="1" kern="1200">
                <a:solidFill>
                  <a:srgbClr val="2F5E5E"/>
                </a:solidFill>
                <a:latin typeface="Arial" charset="0"/>
                <a:ea typeface="ＭＳ Ｐゴシック"/>
                <a:cs typeface="ＭＳ Ｐゴシック"/>
              </a:defRPr>
            </a:lvl5pPr>
            <a:lvl6pPr marL="2286000" algn="l" defTabSz="914400" rtl="0" eaLnBrk="1" latinLnBrk="0" hangingPunct="1">
              <a:defRPr sz="1000" b="1" kern="1200">
                <a:solidFill>
                  <a:srgbClr val="2F5E5E"/>
                </a:solidFill>
                <a:latin typeface="Arial" charset="0"/>
                <a:ea typeface="ＭＳ Ｐゴシック"/>
                <a:cs typeface="ＭＳ Ｐゴシック"/>
              </a:defRPr>
            </a:lvl6pPr>
            <a:lvl7pPr marL="2743200" algn="l" defTabSz="914400" rtl="0" eaLnBrk="1" latinLnBrk="0" hangingPunct="1">
              <a:defRPr sz="1000" b="1" kern="1200">
                <a:solidFill>
                  <a:srgbClr val="2F5E5E"/>
                </a:solidFill>
                <a:latin typeface="Arial" charset="0"/>
                <a:ea typeface="ＭＳ Ｐゴシック"/>
                <a:cs typeface="ＭＳ Ｐゴシック"/>
              </a:defRPr>
            </a:lvl7pPr>
            <a:lvl8pPr marL="3200400" algn="l" defTabSz="914400" rtl="0" eaLnBrk="1" latinLnBrk="0" hangingPunct="1">
              <a:defRPr sz="1000" b="1" kern="1200">
                <a:solidFill>
                  <a:srgbClr val="2F5E5E"/>
                </a:solidFill>
                <a:latin typeface="Arial" charset="0"/>
                <a:ea typeface="ＭＳ Ｐゴシック"/>
                <a:cs typeface="ＭＳ Ｐゴシック"/>
              </a:defRPr>
            </a:lvl8pPr>
            <a:lvl9pPr marL="3657600" algn="l" defTabSz="914400" rtl="0" eaLnBrk="1" latinLnBrk="0" hangingPunct="1">
              <a:defRPr sz="1000" b="1" kern="1200">
                <a:solidFill>
                  <a:srgbClr val="2F5E5E"/>
                </a:solidFill>
                <a:latin typeface="Arial" charset="0"/>
                <a:ea typeface="ＭＳ Ｐゴシック"/>
                <a:cs typeface="ＭＳ Ｐゴシック"/>
              </a:defRPr>
            </a:lvl9pPr>
          </a:lstStyle>
          <a:p>
            <a:r>
              <a:rPr lang="en-US" sz="1600" dirty="0" smtClean="0"/>
              <a:t>Monitoring Dashboard </a:t>
            </a:r>
          </a:p>
          <a:p>
            <a:endParaRPr lang="en-US" sz="1600" dirty="0" smtClean="0"/>
          </a:p>
          <a:p>
            <a:pPr marL="285750" indent="-285750">
              <a:buFont typeface="Arial" pitchFamily="34" charset="0"/>
              <a:buChar char="•"/>
            </a:pPr>
            <a:r>
              <a:rPr lang="en-US" sz="1600" dirty="0" smtClean="0"/>
              <a:t>Service health check on each run</a:t>
            </a:r>
          </a:p>
          <a:p>
            <a:pPr marL="285750" indent="-285750">
              <a:buFont typeface="Arial" pitchFamily="34" charset="0"/>
              <a:buChar char="•"/>
            </a:pPr>
            <a:r>
              <a:rPr lang="en-US" sz="1600" dirty="0" smtClean="0"/>
              <a:t>Running count statistics for service</a:t>
            </a:r>
          </a:p>
          <a:p>
            <a:pPr marL="285750" indent="-285750">
              <a:buFont typeface="Arial" pitchFamily="34" charset="0"/>
              <a:buChar char="•"/>
            </a:pPr>
            <a:r>
              <a:rPr lang="en-US" sz="1600" dirty="0" smtClean="0"/>
              <a:t>Service level alert</a:t>
            </a:r>
          </a:p>
          <a:p>
            <a:pPr marL="285750" indent="-285750">
              <a:buFont typeface="Arial" pitchFamily="34" charset="0"/>
              <a:buChar char="•"/>
            </a:pPr>
            <a:r>
              <a:rPr lang="en-US" sz="1600" dirty="0" smtClean="0"/>
              <a:t>Throttling Information</a:t>
            </a:r>
          </a:p>
          <a:p>
            <a:pPr marL="285750" indent="-285750">
              <a:buFont typeface="Arial" pitchFamily="34" charset="0"/>
              <a:buChar char="•"/>
            </a:pPr>
            <a:endParaRPr lang="en-US" sz="1600" dirty="0"/>
          </a:p>
        </p:txBody>
      </p:sp>
    </p:spTree>
    <p:extLst>
      <p:ext uri="{BB962C8B-B14F-4D97-AF65-F5344CB8AC3E}">
        <p14:creationId xmlns:p14="http://schemas.microsoft.com/office/powerpoint/2010/main" val="21376080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SLA Tracking</a:t>
            </a:r>
            <a:endParaRPr lang="en-US" dirty="0"/>
          </a:p>
        </p:txBody>
      </p:sp>
      <p:sp>
        <p:nvSpPr>
          <p:cNvPr id="3" name="Content Placeholder 2"/>
          <p:cNvSpPr>
            <a:spLocks noGrp="1"/>
          </p:cNvSpPr>
          <p:nvPr>
            <p:ph idx="1"/>
          </p:nvPr>
        </p:nvSpPr>
        <p:spPr/>
        <p:txBody>
          <a:bodyPr/>
          <a:lstStyle/>
          <a:p>
            <a:endParaRPr lang="en-US"/>
          </a:p>
        </p:txBody>
      </p:sp>
      <p:pic>
        <p:nvPicPr>
          <p:cNvPr id="4" name="Content Placeholder 5"/>
          <p:cNvPicPr>
            <a:picLocks noGrp="1"/>
          </p:cNvPicPr>
          <p:nvPr/>
        </p:nvPicPr>
        <p:blipFill>
          <a:blip r:embed="rId2" cstate="print"/>
          <a:srcRect l="2404" t="25451" r="17788" b="18437"/>
          <a:stretch>
            <a:fillRect/>
          </a:stretch>
        </p:blipFill>
        <p:spPr bwMode="auto">
          <a:xfrm>
            <a:off x="609600" y="1828800"/>
            <a:ext cx="7710488" cy="4336918"/>
          </a:xfrm>
          <a:prstGeom prst="rect">
            <a:avLst/>
          </a:prstGeom>
          <a:noFill/>
          <a:ln w="9525">
            <a:noFill/>
            <a:miter lim="800000"/>
            <a:headEnd/>
            <a:tailEnd/>
          </a:ln>
        </p:spPr>
      </p:pic>
    </p:spTree>
    <p:extLst>
      <p:ext uri="{BB962C8B-B14F-4D97-AF65-F5344CB8AC3E}">
        <p14:creationId xmlns:p14="http://schemas.microsoft.com/office/powerpoint/2010/main" val="8410609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Players</a:t>
            </a:r>
            <a:endParaRPr lang="en-US" dirty="0"/>
          </a:p>
        </p:txBody>
      </p:sp>
      <p:sp>
        <p:nvSpPr>
          <p:cNvPr id="3" name="Content Placeholder 2"/>
          <p:cNvSpPr>
            <a:spLocks noGrp="1"/>
          </p:cNvSpPr>
          <p:nvPr>
            <p:ph idx="1"/>
          </p:nvPr>
        </p:nvSpPr>
        <p:spPr/>
        <p:txBody>
          <a:bodyPr/>
          <a:lstStyle/>
          <a:p>
            <a:r>
              <a:rPr lang="en-US" dirty="0" smtClean="0"/>
              <a:t>Open Source</a:t>
            </a:r>
          </a:p>
          <a:p>
            <a:pPr lvl="1"/>
            <a:r>
              <a:rPr lang="en-US" dirty="0" smtClean="0"/>
              <a:t>Mule</a:t>
            </a:r>
          </a:p>
          <a:p>
            <a:pPr lvl="1"/>
            <a:r>
              <a:rPr lang="en-US" dirty="0" err="1" smtClean="0"/>
              <a:t>ServiceMix</a:t>
            </a:r>
            <a:endParaRPr lang="en-US" dirty="0" smtClean="0"/>
          </a:p>
          <a:p>
            <a:pPr lvl="1"/>
            <a:r>
              <a:rPr lang="en-US" dirty="0" smtClean="0"/>
              <a:t>Fuse</a:t>
            </a:r>
          </a:p>
          <a:p>
            <a:r>
              <a:rPr lang="en-US" dirty="0" smtClean="0"/>
              <a:t>Others</a:t>
            </a:r>
          </a:p>
          <a:p>
            <a:pPr lvl="1"/>
            <a:r>
              <a:rPr lang="en-US" dirty="0" smtClean="0"/>
              <a:t>Oracle Service Bus</a:t>
            </a:r>
          </a:p>
          <a:p>
            <a:pPr lvl="1"/>
            <a:r>
              <a:rPr lang="en-US" dirty="0" smtClean="0"/>
              <a:t>IBM</a:t>
            </a:r>
          </a:p>
          <a:p>
            <a:pPr marL="457200" lvl="1" indent="0">
              <a:buNone/>
            </a:pPr>
            <a:endParaRPr lang="en-US" dirty="0"/>
          </a:p>
        </p:txBody>
      </p:sp>
    </p:spTree>
    <p:extLst>
      <p:ext uri="{BB962C8B-B14F-4D97-AF65-F5344CB8AC3E}">
        <p14:creationId xmlns:p14="http://schemas.microsoft.com/office/powerpoint/2010/main" val="24065565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The </a:t>
            </a:r>
            <a:r>
              <a:rPr lang="en-US" dirty="0"/>
              <a:t>end result is the ability to undertake integration projects </a:t>
            </a:r>
            <a:r>
              <a:rPr lang="en-US" dirty="0" smtClean="0"/>
              <a:t>using ESB can</a:t>
            </a:r>
            <a:r>
              <a:rPr lang="en-US" dirty="0"/>
              <a:t>:</a:t>
            </a:r>
          </a:p>
          <a:p>
            <a:pPr lvl="0"/>
            <a:r>
              <a:rPr lang="en-US" dirty="0" smtClean="0"/>
              <a:t>Focus </a:t>
            </a:r>
            <a:r>
              <a:rPr lang="en-US" dirty="0"/>
              <a:t>specifically on high-value business issues and deliver rapid ROI</a:t>
            </a:r>
          </a:p>
          <a:p>
            <a:pPr lvl="0"/>
            <a:r>
              <a:rPr lang="en-US" dirty="0"/>
              <a:t>Offer a low-cost alternative to traditional EAI models</a:t>
            </a:r>
          </a:p>
          <a:p>
            <a:pPr lvl="0"/>
            <a:r>
              <a:rPr lang="en-US" dirty="0"/>
              <a:t>Extend across the enterprise as more business operations are offered as services</a:t>
            </a:r>
          </a:p>
          <a:p>
            <a:pPr lvl="0"/>
            <a:r>
              <a:rPr lang="en-US" dirty="0"/>
              <a:t>Re-use these assets by using a ‘building block’ approach to application development</a:t>
            </a:r>
          </a:p>
          <a:p>
            <a:pPr lvl="0"/>
            <a:r>
              <a:rPr lang="en-US" dirty="0"/>
              <a:t>Integrate with third parties</a:t>
            </a:r>
          </a:p>
          <a:p>
            <a:pPr lvl="0"/>
            <a:r>
              <a:rPr lang="en-US" dirty="0"/>
              <a:t>Help avoid reliance on high-cost skills associated with proprietary or custom-built solutions</a:t>
            </a:r>
          </a:p>
          <a:p>
            <a:endParaRPr lang="en-US" dirty="0"/>
          </a:p>
        </p:txBody>
      </p:sp>
    </p:spTree>
    <p:extLst>
      <p:ext uri="{BB962C8B-B14F-4D97-AF65-F5344CB8AC3E}">
        <p14:creationId xmlns:p14="http://schemas.microsoft.com/office/powerpoint/2010/main" val="9800083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5743</TotalTime>
  <Words>2022</Words>
  <Application>Microsoft Office PowerPoint</Application>
  <PresentationFormat>On-screen Show (4:3)</PresentationFormat>
  <Paragraphs>466</Paragraphs>
  <Slides>51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ＭＳ Ｐゴシック</vt:lpstr>
      <vt:lpstr>ＭＳ Ｐゴシック</vt:lpstr>
      <vt:lpstr>Arial</vt:lpstr>
      <vt:lpstr>Calibri</vt:lpstr>
      <vt:lpstr>Wingdings</vt:lpstr>
      <vt:lpstr>ヒラギノ角ゴ Pro W3</vt:lpstr>
      <vt:lpstr>Office Theme</vt:lpstr>
      <vt:lpstr>Agenda</vt:lpstr>
      <vt:lpstr>Anatomy of enterprise applications</vt:lpstr>
      <vt:lpstr>Enterprise data</vt:lpstr>
      <vt:lpstr>Mapped to functional systems</vt:lpstr>
      <vt:lpstr>Anatomy of Enterprise</vt:lpstr>
      <vt:lpstr>How we reached there</vt:lpstr>
      <vt:lpstr>Problems with function based application</vt:lpstr>
      <vt:lpstr>Enterprise process models</vt:lpstr>
      <vt:lpstr>A Typical business process</vt:lpstr>
      <vt:lpstr>Need for Integration</vt:lpstr>
      <vt:lpstr>Technical Challenge</vt:lpstr>
      <vt:lpstr>Pain Points</vt:lpstr>
      <vt:lpstr>Information System</vt:lpstr>
      <vt:lpstr>Integration Architecture Approach</vt:lpstr>
      <vt:lpstr>Point to Point</vt:lpstr>
      <vt:lpstr>P2P</vt:lpstr>
      <vt:lpstr>Hub and Spoke</vt:lpstr>
      <vt:lpstr>Hub And Spoke</vt:lpstr>
      <vt:lpstr>Distributed Architechture</vt:lpstr>
      <vt:lpstr>Distributed Architecture</vt:lpstr>
      <vt:lpstr>SOA</vt:lpstr>
      <vt:lpstr>SOA</vt:lpstr>
      <vt:lpstr>SOA</vt:lpstr>
      <vt:lpstr>High Level View of SOA</vt:lpstr>
      <vt:lpstr>SOA-  what is a service?</vt:lpstr>
      <vt:lpstr>SOA : sequence diagram</vt:lpstr>
      <vt:lpstr>SOA : workflow</vt:lpstr>
      <vt:lpstr>SOA Reference Architecture : Enterprise View</vt:lpstr>
      <vt:lpstr>SOA Reference Architecture : System View</vt:lpstr>
      <vt:lpstr>Big SOA and Little SOA</vt:lpstr>
      <vt:lpstr>A Few Key SOA Protocols </vt:lpstr>
      <vt:lpstr>SOA - Governance</vt:lpstr>
      <vt:lpstr>SOA Impact</vt:lpstr>
      <vt:lpstr>SOA Process</vt:lpstr>
      <vt:lpstr>SOA - MSDN</vt:lpstr>
      <vt:lpstr>ESB</vt:lpstr>
      <vt:lpstr>ESB</vt:lpstr>
      <vt:lpstr>ESB</vt:lpstr>
      <vt:lpstr>Role of ESB in SOA</vt:lpstr>
      <vt:lpstr>Basic services</vt:lpstr>
      <vt:lpstr>Routing </vt:lpstr>
      <vt:lpstr>Routing </vt:lpstr>
      <vt:lpstr>Transformation and Enrichment</vt:lpstr>
      <vt:lpstr>Orchestration</vt:lpstr>
      <vt:lpstr>Development</vt:lpstr>
      <vt:lpstr>Non Functional Aspects</vt:lpstr>
      <vt:lpstr>Advance Features</vt:lpstr>
      <vt:lpstr>Monitoring</vt:lpstr>
      <vt:lpstr>SLA Tracking</vt:lpstr>
      <vt:lpstr>Players</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Application Integration</dc:title>
  <cp:lastModifiedBy>TrueLabs</cp:lastModifiedBy>
  <cp:revision>120</cp:revision>
  <dcterms:created xsi:type="dcterms:W3CDTF">2013-04-28T03:23:36Z</dcterms:created>
  <dcterms:modified xsi:type="dcterms:W3CDTF">2015-08-27T02:57:10Z</dcterms:modified>
</cp:coreProperties>
</file>