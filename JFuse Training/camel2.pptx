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345" r:id="rId33"/>
    <p:sldId id="346" r:id="rId34"/>
    <p:sldId id="347" r:id="rId35"/>
    <p:sldId id="348" r:id="rId36"/>
    <p:sldId id="34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44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</p:sldIdLst>
  <p:sldSz cx="10083800" cy="7556500"/>
  <p:notesSz cx="100838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>
      <p:cViewPr varScale="1">
        <p:scale>
          <a:sx n="64" d="100"/>
          <a:sy n="64" d="100"/>
        </p:scale>
        <p:origin x="141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34CA7-D050-4ACC-9C3C-0EE08AF890CB}" type="datetimeFigureOut">
              <a:rPr lang="en-IN" smtClean="0"/>
              <a:t>29-08-2015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0100" y="944563"/>
            <a:ext cx="34036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3636963"/>
            <a:ext cx="806767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69C26-8DF1-4837-BEB2-901CAEA9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0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69C26-8DF1-4837-BEB2-901CAEA9A4B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55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69C26-8DF1-4837-BEB2-901CAEA9A4B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98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69C26-8DF1-4837-BEB2-901CAEA9A4B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3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://www.springframework.org/schema/beans" TargetMode="External"/><Relationship Id="rId7" Type="http://schemas.openxmlformats.org/officeDocument/2006/relationships/hyperlink" Target="http://camel.apache.org/schema/spring/camel-spring.xs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amel.apache.org/schema/spring" TargetMode="External"/><Relationship Id="rId5" Type="http://schemas.openxmlformats.org/officeDocument/2006/relationships/hyperlink" Target="http://www.springframework.org/schema/beans/spring-beans.xsd" TargetMode="External"/><Relationship Id="rId4" Type="http://schemas.openxmlformats.org/officeDocument/2006/relationships/hyperlink" Target="http://www.w3.org/2001/XMLSchema-instanc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@Overrid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camel.apache.org/schema/sp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camel.apache.org/schema/sp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@Overrid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camel.apache.org/schema/sp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@languag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@languag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mailto:@languag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ftp://gert@www/public_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mailto:http://www@www.anova.b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mailto:user@server.com&amp;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mailto:vanthienen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mailto:vanthienen@skynet.be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NULL" TargetMode="External"/><Relationship Id="rId4" Type="http://schemas.openxmlformats.org/officeDocument/2006/relationships/hyperlink" Target="NULL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mailto:@Autowire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@Handler" TargetMode="Externa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mailto:@Handl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mailto:@Body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@Header" TargetMode="External"/><Relationship Id="rId5" Type="http://schemas.openxmlformats.org/officeDocument/2006/relationships/hyperlink" Target="mailto:@Property" TargetMode="External"/><Relationship Id="rId4" Type="http://schemas.openxmlformats.org/officeDocument/2006/relationships/hyperlink" Target="mailto:@OutHeader" TargetMode="Externa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mailto:@Simple" TargetMode="External"/><Relationship Id="rId3" Type="http://schemas.openxmlformats.org/officeDocument/2006/relationships/hyperlink" Target="mailto:@JavaScript" TargetMode="External"/><Relationship Id="rId7" Type="http://schemas.openxmlformats.org/officeDocument/2006/relationships/hyperlink" Target="mailto:@XQuery" TargetMode="External"/><Relationship Id="rId2" Type="http://schemas.openxmlformats.org/officeDocument/2006/relationships/hyperlink" Target="mailto:@BeanShel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@Python" TargetMode="External"/><Relationship Id="rId5" Type="http://schemas.openxmlformats.org/officeDocument/2006/relationships/hyperlink" Target="mailto:@PHP" TargetMode="External"/><Relationship Id="rId10" Type="http://schemas.openxmlformats.org/officeDocument/2006/relationships/hyperlink" Target="mailto:@id" TargetMode="External"/><Relationship Id="rId4" Type="http://schemas.openxmlformats.org/officeDocument/2006/relationships/hyperlink" Target="mailto:@MVEL" TargetMode="External"/><Relationship Id="rId9" Type="http://schemas.openxmlformats.org/officeDocument/2006/relationships/hyperlink" Target="mailto:@XPath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mailto:@Simple" TargetMode="External"/><Relationship Id="rId2" Type="http://schemas.openxmlformats.org/officeDocument/2006/relationships/hyperlink" Target="mailto:@Consume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@id" TargetMode="External"/><Relationship Id="rId4" Type="http://schemas.openxmlformats.org/officeDocument/2006/relationships/hyperlink" Target="mailto:@XPath" TargetMode="Externa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mailto:@Consume" TargetMode="Externa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00729" y="615504"/>
            <a:ext cx="186154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Apac</a:t>
            </a:r>
            <a:r>
              <a:rPr sz="3800" spc="-9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4025" y="615504"/>
            <a:ext cx="161321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Intro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uction</a:t>
            </a:r>
            <a:endParaRPr sz="3200" dirty="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latin typeface="Verdana"/>
                <a:cs typeface="Verdana"/>
              </a:rPr>
              <a:t>Getting started 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IPs in action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onents in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with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95420" y="615504"/>
            <a:ext cx="21599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Intro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Getting started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IPs in action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om</a:t>
            </a:r>
            <a:r>
              <a:rPr sz="3200" spc="-9" dirty="0" smtClean="0">
                <a:solidFill>
                  <a:srgbClr val="BFBFBF"/>
                </a:solidFill>
                <a:latin typeface="Verdana"/>
                <a:cs typeface="Verdana"/>
              </a:rPr>
              <a:t>p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onents 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with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am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B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4240" y="615504"/>
            <a:ext cx="326290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Ope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-Source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275100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en</a:t>
            </a:r>
            <a:r>
              <a:rPr sz="3200" spc="-4" dirty="0" smtClean="0">
                <a:latin typeface="Verdana"/>
                <a:cs typeface="Verdana"/>
              </a:rPr>
              <a:t>-</a:t>
            </a:r>
            <a:r>
              <a:rPr sz="3200" spc="0" dirty="0" smtClean="0">
                <a:latin typeface="Verdana"/>
                <a:cs typeface="Verdana"/>
              </a:rPr>
              <a:t>So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rce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2494753"/>
            <a:ext cx="453059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Ap</a:t>
            </a:r>
            <a:r>
              <a:rPr sz="2800" spc="0" dirty="0" smtClean="0">
                <a:latin typeface="Verdana"/>
                <a:cs typeface="Verdana"/>
              </a:rPr>
              <a:t>ache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ft</a:t>
            </a:r>
            <a:r>
              <a:rPr sz="2800" spc="0" dirty="0" smtClean="0">
                <a:latin typeface="Verdana"/>
                <a:cs typeface="Verdana"/>
              </a:rPr>
              <a:t>ware License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889" y="3061287"/>
            <a:ext cx="378379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ve</a:t>
            </a:r>
            <a:r>
              <a:rPr sz="2400" spc="-9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y libe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al open-s</a:t>
            </a:r>
            <a:r>
              <a:rPr sz="2400" spc="-4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u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ce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5729" y="3061287"/>
            <a:ext cx="111202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license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3548853"/>
            <a:ext cx="419011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ery ac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ive co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uni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3629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889" y="4116657"/>
            <a:ext cx="2054319" cy="80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90"/>
              </a:lnSpc>
              <a:spcBef>
                <a:spcPts val="129"/>
              </a:spcBef>
            </a:pP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ailing lists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713"/>
              </a:spcBef>
            </a:pPr>
            <a:r>
              <a:rPr sz="2400" spc="0" dirty="0" smtClean="0">
                <a:latin typeface="Verdana"/>
                <a:cs typeface="Verdana"/>
              </a:rPr>
              <a:t>devel</a:t>
            </a:r>
            <a:r>
              <a:rPr sz="2400" spc="-4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p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9870" y="414630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9870" y="46238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62380" y="615504"/>
            <a:ext cx="256987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Enterprise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02202" y="615504"/>
            <a:ext cx="279977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tegrati</a:t>
            </a:r>
            <a:r>
              <a:rPr sz="3800" spc="-9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74154" y="615504"/>
            <a:ext cx="210829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Patter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290" y="1829159"/>
            <a:ext cx="216741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nter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rise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7517" y="1829159"/>
            <a:ext cx="419912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Inte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ration Patterns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5090" y="2494753"/>
            <a:ext cx="1741565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3244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Based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on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en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18510" y="2494753"/>
            <a:ext cx="3290058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ook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y G. </a:t>
            </a:r>
            <a:r>
              <a:rPr sz="2800" spc="-4" dirty="0" smtClean="0">
                <a:latin typeface="Verdana"/>
                <a:cs typeface="Verdana"/>
              </a:rPr>
              <a:t>H</a:t>
            </a:r>
            <a:r>
              <a:rPr sz="2800" spc="0" dirty="0" smtClean="0">
                <a:latin typeface="Verdana"/>
                <a:cs typeface="Verdana"/>
              </a:rPr>
              <a:t>oh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35813" marR="53339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co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on 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</a:t>
            </a:r>
            <a:r>
              <a:rPr sz="4200" spc="-4" baseline="-1959" dirty="0" smtClean="0">
                <a:latin typeface="Verdana"/>
                <a:cs typeface="Verdana"/>
              </a:rPr>
              <a:t>tt</a:t>
            </a:r>
            <a:r>
              <a:rPr sz="4200" spc="0" baseline="-1959" dirty="0" smtClean="0">
                <a:latin typeface="Verdana"/>
                <a:cs typeface="Verdana"/>
              </a:rPr>
              <a:t>erns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8877" y="2494753"/>
            <a:ext cx="401349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861" marR="19082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&amp;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6308" y="2494753"/>
            <a:ext cx="158172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B. Woolf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5510" y="3071333"/>
            <a:ext cx="69566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96581" y="3071333"/>
            <a:ext cx="166477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solu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3647913"/>
            <a:ext cx="1949627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Exa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les: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6889" y="4214447"/>
            <a:ext cx="3306600" cy="12877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2864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w</a:t>
            </a:r>
            <a:r>
              <a:rPr sz="2400" spc="0" dirty="0" smtClean="0">
                <a:latin typeface="Verdana"/>
                <a:cs typeface="Verdana"/>
              </a:rPr>
              <a:t>i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etap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30208"/>
              </a:lnSpc>
              <a:spcBef>
                <a:spcPts val="543"/>
              </a:spcBef>
            </a:pPr>
            <a:r>
              <a:rPr sz="2400" spc="0" dirty="0" smtClean="0">
                <a:latin typeface="Verdana"/>
                <a:cs typeface="Verdana"/>
              </a:rPr>
              <a:t>content-based 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outer no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alizer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424409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870" y="472288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9870" y="520040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090" y="5659593"/>
            <a:ext cx="3793722" cy="8140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 </a:t>
            </a:r>
            <a:r>
              <a:rPr sz="2800" spc="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ak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0" dirty="0" smtClean="0">
                <a:latin typeface="Verdana"/>
                <a:cs typeface="Verdana"/>
              </a:rPr>
              <a:t>s it easy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400"/>
              </a:lnSpc>
              <a:spcBef>
                <a:spcPts val="24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</a:t>
            </a:r>
            <a:r>
              <a:rPr sz="4200" spc="-4" baseline="-1959" dirty="0" smtClean="0">
                <a:latin typeface="Verdana"/>
                <a:cs typeface="Verdana"/>
              </a:rPr>
              <a:t>tt</a:t>
            </a:r>
            <a:r>
              <a:rPr sz="4200" spc="0" baseline="-1959" dirty="0" smtClean="0">
                <a:latin typeface="Verdana"/>
                <a:cs typeface="Verdana"/>
              </a:rPr>
              <a:t>erns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3792" y="5659593"/>
            <a:ext cx="355338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ent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hese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7404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3210" y="7224342"/>
            <a:ext cx="43936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endParaRPr sz="13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</a:t>
            </a:r>
            <a:r>
              <a:rPr sz="3800" u="heavy" spc="39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Domai</a:t>
            </a:r>
            <a:r>
              <a:rPr sz="3800" u="heavy" spc="-4" dirty="0" smtClean="0">
                <a:latin typeface="Verdana"/>
                <a:cs typeface="Verdana"/>
              </a:rPr>
              <a:t>n</a:t>
            </a:r>
            <a:r>
              <a:rPr sz="3800" u="heavy" spc="0" dirty="0" smtClean="0">
                <a:latin typeface="Verdana"/>
                <a:cs typeface="Verdana"/>
              </a:rPr>
              <a:t>-speci</a:t>
            </a:r>
            <a:r>
              <a:rPr sz="3800" u="heavy" spc="-9" dirty="0" smtClean="0">
                <a:latin typeface="Verdana"/>
                <a:cs typeface="Verdana"/>
              </a:rPr>
              <a:t>f</a:t>
            </a:r>
            <a:r>
              <a:rPr sz="3800" u="heavy" spc="0" dirty="0" smtClean="0">
                <a:latin typeface="Verdana"/>
                <a:cs typeface="Verdana"/>
              </a:rPr>
              <a:t>ic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la</a:t>
            </a:r>
            <a:r>
              <a:rPr sz="3800" u="heavy" spc="-4" dirty="0" smtClean="0">
                <a:latin typeface="Verdana"/>
                <a:cs typeface="Verdana"/>
              </a:rPr>
              <a:t>n</a:t>
            </a:r>
            <a:r>
              <a:rPr sz="3800" u="heavy" spc="0" dirty="0" smtClean="0">
                <a:latin typeface="Verdana"/>
                <a:cs typeface="Verdana"/>
              </a:rPr>
              <a:t>guage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290" y="1829159"/>
            <a:ext cx="3148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Routing can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8160" y="1829159"/>
            <a:ext cx="209975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efined 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4518" y="1829159"/>
            <a:ext cx="90372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5090" y="2494753"/>
            <a:ext cx="2756484" cy="18224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  <a:spcBef>
                <a:spcPts val="105"/>
              </a:spcBef>
            </a:pPr>
            <a:r>
              <a:rPr sz="2800" spc="0" dirty="0" smtClean="0">
                <a:latin typeface="Verdana"/>
                <a:cs typeface="Verdana"/>
              </a:rPr>
              <a:t>Fluent </a:t>
            </a:r>
            <a:r>
              <a:rPr sz="2800" spc="4" dirty="0" smtClean="0">
                <a:latin typeface="Verdana"/>
                <a:cs typeface="Verdana"/>
              </a:rPr>
              <a:t>A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I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h</a:t>
            </a:r>
            <a:r>
              <a:rPr sz="2800" spc="0" dirty="0" smtClean="0">
                <a:latin typeface="Verdana"/>
                <a:cs typeface="Verdana"/>
              </a:rPr>
              <a:t>at your IDE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ts val="3400"/>
              </a:lnSpc>
              <a:spcBef>
                <a:spcPts val="1042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Sp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D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8995" y="2926553"/>
            <a:ext cx="2136847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allows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co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1313" y="2926553"/>
            <a:ext cx="203353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com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18372" y="2926553"/>
            <a:ext cx="51249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1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401708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4369273"/>
            <a:ext cx="6814761" cy="1967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Cus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om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ace wi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XML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s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  <a:spcBef>
                <a:spcPts val="986"/>
              </a:spcBef>
            </a:pP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cala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  <a:p>
            <a:pPr marL="12700" marR="14542">
              <a:lnSpc>
                <a:spcPct val="101277"/>
              </a:lnSpc>
              <a:spcBef>
                <a:spcPts val="1137"/>
              </a:spcBef>
            </a:pP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4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 some 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c</a:t>
            </a:r>
            <a:r>
              <a:rPr sz="2800" spc="4" dirty="0" smtClean="0">
                <a:latin typeface="Verdana"/>
                <a:cs typeface="Verdana"/>
              </a:rPr>
              <a:t>a</a:t>
            </a:r>
            <a:r>
              <a:rPr sz="2800" spc="-9" dirty="0" smtClean="0">
                <a:latin typeface="Verdana"/>
                <a:cs typeface="Verdana"/>
              </a:rPr>
              <a:t>l</a:t>
            </a:r>
            <a:r>
              <a:rPr sz="2800" spc="0" dirty="0" smtClean="0">
                <a:latin typeface="Verdana"/>
                <a:cs typeface="Verdana"/>
              </a:rPr>
              <a:t>a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4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ur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0" dirty="0" smtClean="0">
                <a:latin typeface="Verdana"/>
                <a:cs typeface="Verdana"/>
              </a:rPr>
              <a:t>s on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op of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75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Ja</a:t>
            </a:r>
            <a:r>
              <a:rPr sz="4200" spc="-4" baseline="-1959" dirty="0" smtClean="0">
                <a:latin typeface="Verdana"/>
                <a:cs typeface="Verdana"/>
              </a:rPr>
              <a:t>v</a:t>
            </a:r>
            <a:r>
              <a:rPr sz="4200" spc="0" baseline="-1959" dirty="0" smtClean="0">
                <a:latin typeface="Verdana"/>
                <a:cs typeface="Verdana"/>
              </a:rPr>
              <a:t>a D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5680" y="4369273"/>
            <a:ext cx="135508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ou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5026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89721" y="5522433"/>
            <a:ext cx="65535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3210" y="7224342"/>
            <a:ext cx="43936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984250"/>
            <a:ext cx="19189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775141" y="984250"/>
            <a:ext cx="1691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155771" y="984250"/>
            <a:ext cx="19242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06270" y="615504"/>
            <a:ext cx="395396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Domai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-speci</a:t>
            </a:r>
            <a:r>
              <a:rPr sz="3800" spc="-9" dirty="0" smtClean="0">
                <a:latin typeface="Verdana"/>
                <a:cs typeface="Verdana"/>
              </a:rPr>
              <a:t>f</a:t>
            </a:r>
            <a:r>
              <a:rPr sz="3800" spc="0" dirty="0" smtClean="0">
                <a:latin typeface="Verdana"/>
                <a:cs typeface="Verdana"/>
              </a:rPr>
              <a:t>ic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1636" y="615504"/>
            <a:ext cx="230922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guage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203992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5090" y="2494753"/>
            <a:ext cx="4387889" cy="7348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 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  <a:p>
            <a:pPr marL="201929">
              <a:lnSpc>
                <a:spcPct val="95825"/>
              </a:lnSpc>
              <a:spcBef>
                <a:spcPts val="718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).to(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3503133"/>
            <a:ext cx="3605374" cy="14841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  <a:p>
            <a:pPr marL="179069" marR="31555">
              <a:lnSpc>
                <a:spcPct val="95825"/>
              </a:lnSpc>
              <a:spcBef>
                <a:spcPts val="638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636270">
              <a:lnSpc>
                <a:spcPct val="95825"/>
              </a:lnSpc>
              <a:spcBef>
                <a:spcPts val="10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63627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179069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5840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090" y="5378923"/>
            <a:ext cx="3366437" cy="1035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34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 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cala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  <a:p>
            <a:pPr marL="162559">
              <a:lnSpc>
                <a:spcPts val="1839"/>
              </a:lnSpc>
              <a:spcBef>
                <a:spcPts val="1088"/>
              </a:spcBef>
            </a:pP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"timer:test" </a:t>
            </a:r>
            <a:r>
              <a:rPr sz="1600" spc="172" dirty="0" smtClean="0">
                <a:solidFill>
                  <a:srgbClr val="FF5D5D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003D84"/>
                </a:solidFill>
                <a:latin typeface="Times New Roman"/>
                <a:cs typeface="Times New Roman"/>
              </a:rPr>
              <a:t>-&gt;</a:t>
            </a:r>
            <a:r>
              <a:rPr sz="1600" spc="97" dirty="0" smtClean="0">
                <a:solidFill>
                  <a:srgbClr val="003D84"/>
                </a:solidFill>
                <a:latin typeface="Times New Roman"/>
                <a:cs typeface="Times New Roman"/>
              </a:rPr>
              <a:t> </a:t>
            </a:r>
            <a:r>
              <a:rPr sz="1600" spc="9" dirty="0" smtClean="0">
                <a:solidFill>
                  <a:srgbClr val="FF5D5D"/>
                </a:solidFill>
                <a:latin typeface="Times New Roman"/>
                <a:cs typeface="Times New Roman"/>
              </a:rPr>
              <a:t>"</a:t>
            </a:r>
            <a:r>
              <a:rPr sz="1600" spc="-9" dirty="0" smtClean="0">
                <a:solidFill>
                  <a:srgbClr val="FF5D5D"/>
                </a:solidFill>
                <a:latin typeface="Times New Roman"/>
                <a:cs typeface="Times New Roman"/>
              </a:rPr>
              <a:t>l</a:t>
            </a: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o</a:t>
            </a:r>
            <a:r>
              <a:rPr sz="1600" spc="9" dirty="0" smtClean="0">
                <a:solidFill>
                  <a:srgbClr val="FF5D5D"/>
                </a:solidFill>
                <a:latin typeface="Times New Roman"/>
                <a:cs typeface="Times New Roman"/>
              </a:rPr>
              <a:t>g</a:t>
            </a:r>
            <a:r>
              <a:rPr sz="1600" spc="-9" dirty="0" smtClean="0">
                <a:solidFill>
                  <a:srgbClr val="FF5D5D"/>
                </a:solidFill>
                <a:latin typeface="Times New Roman"/>
                <a:cs typeface="Times New Roman"/>
              </a:rPr>
              <a:t>:</a:t>
            </a: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t</a:t>
            </a:r>
            <a:r>
              <a:rPr sz="1600" spc="9" dirty="0" smtClean="0">
                <a:solidFill>
                  <a:srgbClr val="FF5D5D"/>
                </a:solidFill>
                <a:latin typeface="Times New Roman"/>
                <a:cs typeface="Times New Roman"/>
              </a:rPr>
              <a:t>e</a:t>
            </a:r>
            <a:r>
              <a:rPr sz="1600" spc="-9" dirty="0" smtClean="0">
                <a:solidFill>
                  <a:srgbClr val="FF5D5D"/>
                </a:solidFill>
                <a:latin typeface="Times New Roman"/>
                <a:cs typeface="Times New Roman"/>
              </a:rPr>
              <a:t>s</a:t>
            </a: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t" </a:t>
            </a:r>
            <a:endParaRPr sz="1600">
              <a:latin typeface="Times New Roman"/>
              <a:cs typeface="Times New Roman"/>
            </a:endParaRPr>
          </a:p>
          <a:p>
            <a:pPr marL="162559">
              <a:lnSpc>
                <a:spcPts val="1839"/>
              </a:lnSpc>
              <a:spcBef>
                <a:spcPts val="160"/>
              </a:spcBef>
            </a:pP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"timer:test"</a:t>
            </a:r>
            <a:r>
              <a:rPr sz="1600" spc="466" dirty="0" smtClean="0">
                <a:solidFill>
                  <a:srgbClr val="FF5D5D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to</a:t>
            </a:r>
            <a:r>
              <a:rPr sz="1600" spc="327" dirty="0" smtClean="0">
                <a:latin typeface="Times New Roman"/>
                <a:cs typeface="Times New Roman"/>
              </a:rPr>
              <a:t> </a:t>
            </a:r>
            <a:r>
              <a:rPr sz="1600" spc="9" dirty="0" smtClean="0">
                <a:solidFill>
                  <a:srgbClr val="FF5D5D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log:test"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45980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0" y="527051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     </a:t>
            </a:r>
            <a:r>
              <a:rPr sz="3800" u="heavy" spc="45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URIs 	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290" y="1829159"/>
            <a:ext cx="528951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URIs to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ecify en</a:t>
            </a:r>
            <a:r>
              <a:rPr sz="3200" spc="-4" dirty="0" smtClean="0">
                <a:latin typeface="Verdana"/>
                <a:cs typeface="Verdana"/>
              </a:rPr>
              <a:t>dp</a:t>
            </a:r>
            <a:r>
              <a:rPr sz="3200" spc="0" dirty="0" smtClean="0">
                <a:latin typeface="Verdana"/>
                <a:cs typeface="Verdana"/>
              </a:rPr>
              <a:t>oi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5090" y="2494753"/>
            <a:ext cx="369579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el-co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ovi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6889" y="3061287"/>
            <a:ext cx="2973761" cy="1765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di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ect:, seda:, vm: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ct val="101277"/>
              </a:lnSpc>
              <a:spcBef>
                <a:spcPts val="723"/>
              </a:spcBef>
            </a:pPr>
            <a:r>
              <a:rPr sz="2400" spc="0" dirty="0" smtClean="0">
                <a:latin typeface="Verdana"/>
                <a:cs typeface="Verdana"/>
              </a:rPr>
              <a:t>time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ct val="101277"/>
              </a:lnSpc>
              <a:spcBef>
                <a:spcPts val="843"/>
              </a:spcBef>
            </a:pPr>
            <a:r>
              <a:rPr sz="2400" spc="0" dirty="0" smtClean="0">
                <a:latin typeface="Verdana"/>
                <a:cs typeface="Verdana"/>
              </a:rPr>
              <a:t>log: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ct val="101277"/>
              </a:lnSpc>
              <a:spcBef>
                <a:spcPts val="853"/>
              </a:spcBef>
            </a:pPr>
            <a:r>
              <a:rPr sz="2400" spc="-4" dirty="0" smtClean="0">
                <a:latin typeface="Verdana"/>
                <a:cs typeface="Verdana"/>
              </a:rPr>
              <a:t>..</a:t>
            </a:r>
            <a:r>
              <a:rPr sz="2400" spc="0" dirty="0" smtClean="0"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9870" y="35697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9870" y="404724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9870" y="452603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4985223"/>
            <a:ext cx="377415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co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onen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 can a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4233" y="4985223"/>
            <a:ext cx="120776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506610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6889" y="5551757"/>
            <a:ext cx="5478302" cy="1286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camel-gae 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ovides ghttp:, gtask:,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723"/>
              </a:spcBef>
            </a:pPr>
            <a:r>
              <a:rPr sz="2400" spc="0" dirty="0" smtClean="0">
                <a:latin typeface="Verdana"/>
                <a:cs typeface="Verdana"/>
              </a:rPr>
              <a:t>camel-mina 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ovides tcp: and udp: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ct val="101277"/>
              </a:lnSpc>
              <a:spcBef>
                <a:spcPts val="843"/>
              </a:spcBef>
            </a:pPr>
            <a:r>
              <a:rPr sz="2400" spc="-4" dirty="0" smtClean="0">
                <a:latin typeface="Verdana"/>
                <a:cs typeface="Verdana"/>
              </a:rPr>
              <a:t>..</a:t>
            </a:r>
            <a:r>
              <a:rPr sz="2400" spc="0" dirty="0" smtClean="0">
                <a:latin typeface="Verdana"/>
                <a:cs typeface="Verdana"/>
              </a:rPr>
              <a:t>. and over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4" dirty="0" smtClean="0">
                <a:latin typeface="Verdana"/>
                <a:cs typeface="Verdana"/>
              </a:rPr>
              <a:t>8</a:t>
            </a:r>
            <a:r>
              <a:rPr sz="2400" spc="0" dirty="0" smtClean="0">
                <a:latin typeface="Verdana"/>
                <a:cs typeface="Verdana"/>
              </a:rPr>
              <a:t>0 othe</a:t>
            </a:r>
            <a:r>
              <a:rPr sz="2400" spc="-9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1344" y="5551757"/>
            <a:ext cx="148471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g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ail: </a:t>
            </a:r>
            <a:r>
              <a:rPr sz="2400" spc="-4" dirty="0" smtClean="0">
                <a:latin typeface="Verdana"/>
                <a:cs typeface="Verdana"/>
              </a:rPr>
              <a:t>..</a:t>
            </a:r>
            <a:r>
              <a:rPr sz="2400" spc="0" dirty="0" smtClean="0"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870" y="558140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9870" y="606019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870" y="653771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446786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611207" y="984250"/>
            <a:ext cx="44687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     </a:t>
            </a:r>
            <a:r>
              <a:rPr sz="3800" u="heavy" spc="45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URIs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804206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URI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aram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ters to confi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ure en</a:t>
            </a:r>
            <a:r>
              <a:rPr sz="3200" spc="-4" dirty="0" smtClean="0">
                <a:latin typeface="Verdana"/>
                <a:cs typeface="Verdana"/>
              </a:rPr>
              <a:t>dp</a:t>
            </a:r>
            <a:r>
              <a:rPr sz="3200" spc="0" dirty="0" smtClean="0">
                <a:latin typeface="Verdana"/>
                <a:cs typeface="Verdana"/>
              </a:rPr>
              <a:t>oi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7364100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syn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ax : ?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ara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1=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alue</a:t>
            </a:r>
            <a:r>
              <a:rPr sz="2800" spc="-9" dirty="0" smtClean="0">
                <a:latin typeface="Verdana"/>
                <a:cs typeface="Verdana"/>
              </a:rPr>
              <a:t>&amp;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ara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2=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alue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ca</a:t>
            </a:r>
            <a:r>
              <a:rPr sz="4200" spc="-4" baseline="-1959" dirty="0" smtClean="0">
                <a:latin typeface="Verdana"/>
                <a:cs typeface="Verdana"/>
              </a:rPr>
              <a:t>v</a:t>
            </a:r>
            <a:r>
              <a:rPr sz="4200" spc="0" baseline="-1959" dirty="0" smtClean="0">
                <a:latin typeface="Verdana"/>
                <a:cs typeface="Verdana"/>
              </a:rPr>
              <a:t>eat : &amp;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eco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es </a:t>
            </a:r>
            <a:r>
              <a:rPr sz="4200" spc="-4" baseline="-1959" dirty="0" smtClean="0">
                <a:latin typeface="Verdana"/>
                <a:cs typeface="Verdana"/>
              </a:rPr>
              <a:t>&amp;</a:t>
            </a:r>
            <a:r>
              <a:rPr sz="4200" spc="0" baseline="-1959" dirty="0" smtClean="0">
                <a:latin typeface="Verdana"/>
                <a:cs typeface="Verdana"/>
              </a:rPr>
              <a:t>a</a:t>
            </a:r>
            <a:r>
              <a:rPr sz="4200" spc="-4" baseline="-1959" dirty="0" smtClean="0">
                <a:latin typeface="Verdana"/>
                <a:cs typeface="Verdana"/>
              </a:rPr>
              <a:t>mp</a:t>
            </a:r>
            <a:r>
              <a:rPr sz="4200" spc="0" baseline="-1959" dirty="0" smtClean="0">
                <a:latin typeface="Verdana"/>
                <a:cs typeface="Verdana"/>
              </a:rPr>
              <a:t>; in XML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3656689"/>
            <a:ext cx="8110239" cy="1140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3124710" algn="ctr">
              <a:lnSpc>
                <a:spcPts val="3360"/>
              </a:lnSpc>
              <a:spcBef>
                <a:spcPts val="168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- lo</a:t>
            </a:r>
            <a:r>
              <a:rPr sz="3200" spc="-9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: en</a:t>
            </a:r>
            <a:r>
              <a:rPr sz="3200" spc="-4" dirty="0" smtClean="0">
                <a:latin typeface="Verdana"/>
                <a:cs typeface="Verdana"/>
              </a:rPr>
              <a:t>dp</a:t>
            </a:r>
            <a:r>
              <a:rPr sz="3200" spc="0" dirty="0" smtClean="0">
                <a:latin typeface="Verdana"/>
                <a:cs typeface="Verdana"/>
              </a:rPr>
              <a:t>oi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</a:t>
            </a:r>
            <a:endParaRPr sz="3200">
              <a:latin typeface="Verdana"/>
              <a:cs typeface="Verdana"/>
            </a:endParaRPr>
          </a:p>
          <a:p>
            <a:pPr marL="140969" marR="30479">
              <a:lnSpc>
                <a:spcPts val="1565"/>
              </a:lnSpc>
            </a:pPr>
            <a:r>
              <a:rPr sz="2400" spc="0" baseline="1811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"log:example?level=DEBUG"</a:t>
            </a:r>
            <a:endParaRPr sz="1600">
              <a:latin typeface="Times New Roman"/>
              <a:cs typeface="Times New Roman"/>
            </a:endParaRPr>
          </a:p>
          <a:p>
            <a:pPr marL="140969" marR="30479">
              <a:lnSpc>
                <a:spcPct val="95825"/>
              </a:lnSpc>
              <a:spcBef>
                <a:spcPts val="71"/>
              </a:spcBef>
            </a:pP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"log:example?level=DEBUG&amp;showAll=true"</a:t>
            </a:r>
            <a:endParaRPr sz="1600">
              <a:latin typeface="Times New Roman"/>
              <a:cs typeface="Times New Roman"/>
            </a:endParaRPr>
          </a:p>
          <a:p>
            <a:pPr marL="14096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"log:another-log?showBody=false&amp;showBodyType=true&amp;multiline=true"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5317849"/>
            <a:ext cx="706288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– tim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r: en</a:t>
            </a:r>
            <a:r>
              <a:rPr sz="3200" spc="-4" dirty="0" smtClean="0">
                <a:latin typeface="Verdana"/>
                <a:cs typeface="Verdana"/>
              </a:rPr>
              <a:t>dp</a:t>
            </a:r>
            <a:r>
              <a:rPr sz="3200" spc="0" dirty="0" smtClean="0">
                <a:latin typeface="Verdana"/>
                <a:cs typeface="Verdana"/>
              </a:rPr>
              <a:t>oi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 in </a:t>
            </a:r>
            <a:r>
              <a:rPr sz="3200" spc="-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ML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440" y="541101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446786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611207" y="984250"/>
            <a:ext cx="44687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7865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33750" y="615504"/>
            <a:ext cx="21728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Message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6392" y="615504"/>
            <a:ext cx="1239487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Data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7428530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 su</a:t>
            </a:r>
            <a:r>
              <a:rPr sz="3200" spc="-4" dirty="0" smtClean="0">
                <a:latin typeface="Verdana"/>
                <a:cs typeface="Verdana"/>
              </a:rPr>
              <a:t>pp</a:t>
            </a:r>
            <a:r>
              <a:rPr sz="3200" spc="0" dirty="0" smtClean="0">
                <a:latin typeface="Verdana"/>
                <a:cs typeface="Verdana"/>
              </a:rPr>
              <a:t>orts any ki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d of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ayload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1433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Plu</a:t>
            </a:r>
            <a:r>
              <a:rPr sz="4800" spc="-4" baseline="-1714" dirty="0" smtClean="0">
                <a:latin typeface="Verdana"/>
                <a:cs typeface="Verdana"/>
              </a:rPr>
              <a:t>gg</a:t>
            </a:r>
            <a:r>
              <a:rPr sz="4800" spc="0" baseline="-1714" dirty="0" smtClean="0">
                <a:latin typeface="Verdana"/>
                <a:cs typeface="Verdana"/>
              </a:rPr>
              <a:t>a</a:t>
            </a:r>
            <a:r>
              <a:rPr sz="4800" spc="-4" baseline="-1714" dirty="0" smtClean="0">
                <a:latin typeface="Verdana"/>
                <a:cs typeface="Verdana"/>
              </a:rPr>
              <a:t>b</a:t>
            </a:r>
            <a:r>
              <a:rPr sz="4800" spc="0" baseline="-1714" dirty="0" smtClean="0">
                <a:latin typeface="Verdana"/>
                <a:cs typeface="Verdana"/>
              </a:rPr>
              <a:t>le han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lers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3167853"/>
            <a:ext cx="779029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Ty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eCon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ers allow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you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easily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con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3248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889" y="3735657"/>
            <a:ext cx="71289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File to St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ing, St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eam to bytes,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-4" dirty="0" smtClean="0">
                <a:latin typeface="Verdana"/>
                <a:cs typeface="Verdana"/>
              </a:rPr>
              <a:t>X</a:t>
            </a:r>
            <a:r>
              <a:rPr sz="2400" spc="0" dirty="0" smtClean="0">
                <a:latin typeface="Verdana"/>
                <a:cs typeface="Verdana"/>
              </a:rPr>
              <a:t>ML to St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ing,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50909" y="3735657"/>
            <a:ext cx="40267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..</a:t>
            </a:r>
            <a:r>
              <a:rPr sz="2400" spc="0" dirty="0" smtClean="0"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37640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4223223"/>
            <a:ext cx="4835422" cy="8140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3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Da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 For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ats sup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ort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24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arshallin</a:t>
            </a:r>
            <a:r>
              <a:rPr sz="4200" spc="-1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/un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arshalling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30410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889" y="5222827"/>
            <a:ext cx="499875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JA</a:t>
            </a:r>
            <a:r>
              <a:rPr sz="2400" spc="-9" dirty="0" smtClean="0">
                <a:latin typeface="Verdana"/>
                <a:cs typeface="Verdana"/>
              </a:rPr>
              <a:t>X</a:t>
            </a:r>
            <a:r>
              <a:rPr sz="2400" spc="4" dirty="0" smtClean="0">
                <a:latin typeface="Verdana"/>
                <a:cs typeface="Verdana"/>
              </a:rPr>
              <a:t>B</a:t>
            </a:r>
            <a:r>
              <a:rPr sz="2400" spc="0" dirty="0" smtClean="0">
                <a:latin typeface="Verdana"/>
                <a:cs typeface="Verdana"/>
              </a:rPr>
              <a:t>, Google 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ototype </a:t>
            </a:r>
            <a:r>
              <a:rPr sz="2400" spc="4" dirty="0" smtClean="0">
                <a:latin typeface="Verdana"/>
                <a:cs typeface="Verdana"/>
              </a:rPr>
              <a:t>B</a:t>
            </a:r>
            <a:r>
              <a:rPr sz="2400" spc="0" dirty="0" smtClean="0">
                <a:latin typeface="Verdana"/>
                <a:cs typeface="Verdana"/>
              </a:rPr>
              <a:t>u</a:t>
            </a:r>
            <a:r>
              <a:rPr sz="2400" spc="-4" dirty="0" smtClean="0">
                <a:latin typeface="Verdana"/>
                <a:cs typeface="Verdana"/>
              </a:rPr>
              <a:t>ff</a:t>
            </a:r>
            <a:r>
              <a:rPr sz="2400" spc="0" dirty="0" smtClean="0">
                <a:latin typeface="Verdana"/>
                <a:cs typeface="Verdana"/>
              </a:rPr>
              <a:t>e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s,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20357" y="5222827"/>
            <a:ext cx="121222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H</a:t>
            </a:r>
            <a:r>
              <a:rPr sz="2400" spc="0" dirty="0" smtClean="0">
                <a:latin typeface="Verdana"/>
                <a:cs typeface="Verdana"/>
              </a:rPr>
              <a:t>L</a:t>
            </a:r>
            <a:r>
              <a:rPr sz="2400" spc="4" dirty="0" smtClean="0">
                <a:latin typeface="Verdana"/>
                <a:cs typeface="Verdana"/>
              </a:rPr>
              <a:t>7</a:t>
            </a:r>
            <a:r>
              <a:rPr sz="2400" spc="0" dirty="0" smtClean="0">
                <a:latin typeface="Verdana"/>
                <a:cs typeface="Verdana"/>
              </a:rPr>
              <a:t>, </a:t>
            </a:r>
            <a:r>
              <a:rPr sz="2400" spc="-4" dirty="0" smtClean="0">
                <a:latin typeface="Verdana"/>
                <a:cs typeface="Verdana"/>
              </a:rPr>
              <a:t>..</a:t>
            </a:r>
            <a:r>
              <a:rPr sz="2400" spc="0" dirty="0" smtClean="0"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9870" y="525247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78675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93870" y="615504"/>
            <a:ext cx="156247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290" y="1829159"/>
            <a:ext cx="681146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 su</a:t>
            </a:r>
            <a:r>
              <a:rPr sz="3200" spc="-4" dirty="0" smtClean="0">
                <a:latin typeface="Verdana"/>
                <a:cs typeface="Verdana"/>
              </a:rPr>
              <a:t>pp</a:t>
            </a:r>
            <a:r>
              <a:rPr sz="3200" spc="0" dirty="0" smtClean="0">
                <a:latin typeface="Verdana"/>
                <a:cs typeface="Verdana"/>
              </a:rPr>
              <a:t>orts the use of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090" y="2494753"/>
            <a:ext cx="570780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endParaRPr sz="2800">
              <a:latin typeface="Verdana"/>
              <a:cs typeface="Verdana"/>
            </a:endParaRPr>
          </a:p>
          <a:p>
            <a:pPr marL="12700" marR="1214">
              <a:lnSpc>
                <a:spcPct val="133928"/>
              </a:lnSpc>
              <a:spcBef>
                <a:spcPts val="651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1700" y="2494753"/>
            <a:ext cx="3725217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ocessing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33928"/>
              </a:lnSpc>
              <a:spcBef>
                <a:spcPts val="651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ining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ex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essions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ou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1771" y="3071333"/>
            <a:ext cx="191672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ica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4233269"/>
            <a:ext cx="1850540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Features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43264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898863"/>
            <a:ext cx="6590437" cy="13893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elli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ent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in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251"/>
              </a:spcBef>
            </a:pP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everal anno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ease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uil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in 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1297" y="5475443"/>
            <a:ext cx="113526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5563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44010" y="615504"/>
            <a:ext cx="186171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Testi</a:t>
            </a:r>
            <a:r>
              <a:rPr sz="3800" spc="-9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290" y="1829159"/>
            <a:ext cx="538540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Su</a:t>
            </a:r>
            <a:r>
              <a:rPr sz="3200" spc="-4" dirty="0" smtClean="0">
                <a:latin typeface="Verdana"/>
                <a:cs typeface="Verdana"/>
              </a:rPr>
              <a:t>pp</a:t>
            </a:r>
            <a:r>
              <a:rPr sz="3200" spc="0" dirty="0" smtClean="0">
                <a:latin typeface="Verdana"/>
                <a:cs typeface="Verdana"/>
              </a:rPr>
              <a:t>ort for testing routes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5090" y="2494753"/>
            <a:ext cx="492630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el-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uil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unit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6022" y="2494753"/>
            <a:ext cx="94000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6889" y="3061287"/>
            <a:ext cx="454975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ann</a:t>
            </a:r>
            <a:r>
              <a:rPr sz="2400" spc="-4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tations and base classes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3548853"/>
            <a:ext cx="324251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Tes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oin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629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889" y="4116657"/>
            <a:ext cx="1355974" cy="1286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5564">
              <a:lnSpc>
                <a:spcPts val="2590"/>
              </a:lnSpc>
              <a:spcBef>
                <a:spcPts val="129"/>
              </a:spcBef>
            </a:pP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ock: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713"/>
              </a:spcBef>
            </a:pPr>
            <a:r>
              <a:rPr sz="2400" spc="0" dirty="0" smtClean="0">
                <a:latin typeface="Verdana"/>
                <a:cs typeface="Verdana"/>
              </a:rPr>
              <a:t>datase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12700" marR="55564">
              <a:lnSpc>
                <a:spcPct val="101277"/>
              </a:lnSpc>
              <a:spcBef>
                <a:spcPts val="853"/>
              </a:spcBef>
            </a:pPr>
            <a:r>
              <a:rPr sz="2400" spc="0" dirty="0" smtClean="0">
                <a:latin typeface="Verdana"/>
                <a:cs typeface="Verdana"/>
              </a:rPr>
              <a:t>test: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9870" y="414630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9870" y="46238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510261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5561803"/>
            <a:ext cx="202781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8593" y="5561803"/>
            <a:ext cx="156325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or se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a: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7327" y="5561803"/>
            <a:ext cx="185129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lace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3387" y="5561803"/>
            <a:ext cx="190723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ans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64268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95420" y="615504"/>
            <a:ext cx="21599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Intro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d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latin typeface="Verdana"/>
                <a:cs typeface="Verdana"/>
              </a:rPr>
              <a:t>Getting started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IPs in action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om</a:t>
            </a:r>
            <a:r>
              <a:rPr sz="3200" spc="-9" dirty="0" smtClean="0">
                <a:solidFill>
                  <a:srgbClr val="BFBFBF"/>
                </a:solidFill>
                <a:latin typeface="Verdana"/>
                <a:cs typeface="Verdana"/>
              </a:rPr>
              <a:t>p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onents 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with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B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53870" y="615504"/>
            <a:ext cx="187764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Getti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3574" y="615504"/>
            <a:ext cx="1813517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started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7644" y="615504"/>
            <a:ext cx="112072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with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0149" y="615504"/>
            <a:ext cx="161321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1829159"/>
            <a:ext cx="3209136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6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ontext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3870"/>
              </a:lnSpc>
              <a:spcBef>
                <a:spcPts val="1433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Defining routes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3176629"/>
            <a:ext cx="136221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2032" y="3176629"/>
            <a:ext cx="78029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API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8810" y="3176629"/>
            <a:ext cx="132953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asics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23590" y="615504"/>
            <a:ext cx="350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r>
              <a:rPr sz="3800" spc="-9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ontext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556537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Runtime execution context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2494753"/>
            <a:ext cx="449984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'</a:t>
            </a:r>
            <a:r>
              <a:rPr sz="2800" spc="-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lue'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every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hing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else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889" y="3061287"/>
            <a:ext cx="6198442" cy="808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Regist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y,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TypeConve</a:t>
            </a:r>
            <a:r>
              <a:rPr sz="2400" spc="-9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te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s,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s,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ct val="101277"/>
              </a:lnSpc>
              <a:spcBef>
                <a:spcPts val="723"/>
              </a:spcBef>
            </a:pPr>
            <a:r>
              <a:rPr sz="2400" spc="0" dirty="0" smtClean="0">
                <a:latin typeface="Verdana"/>
                <a:cs typeface="Verdana"/>
              </a:rPr>
              <a:t>Languages and Data Fo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ats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0049" y="3061287"/>
            <a:ext cx="157713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Endpoints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35697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290" y="4036419"/>
            <a:ext cx="8229326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Routes are a</a:t>
            </a:r>
            <a:r>
              <a:rPr sz="3200" spc="-4" dirty="0" smtClean="0">
                <a:latin typeface="Verdana"/>
                <a:cs typeface="Verdana"/>
              </a:rPr>
              <a:t>dd</a:t>
            </a:r>
            <a:r>
              <a:rPr sz="3200" spc="0" dirty="0" smtClean="0">
                <a:latin typeface="Verdana"/>
                <a:cs typeface="Verdana"/>
              </a:rPr>
              <a:t>ed to the context as well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0" y="412958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090" y="4702013"/>
            <a:ext cx="6124419" cy="1245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ext allows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u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con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ol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ou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395"/>
              </a:lnSpc>
              <a:spcBef>
                <a:spcPts val="16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wi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 s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ar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() and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s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() 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ho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4749" y="4702013"/>
            <a:ext cx="86737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ov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0" dirty="0" smtClean="0">
                <a:latin typeface="Verdana"/>
                <a:cs typeface="Verdana"/>
              </a:rPr>
              <a:t>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7828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23590" y="615504"/>
            <a:ext cx="350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r>
              <a:rPr sz="3800" spc="-9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ontext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1829159"/>
            <a:ext cx="77912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reate and start a new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ontext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2494753"/>
            <a:ext cx="6097706" cy="7704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 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co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81279">
              <a:lnSpc>
                <a:spcPct val="95825"/>
              </a:lnSpc>
              <a:spcBef>
                <a:spcPts val="998"/>
              </a:spcBef>
            </a:pPr>
            <a:r>
              <a:rPr sz="1600" spc="0" dirty="0" smtClean="0">
                <a:latin typeface="Times New Roman"/>
                <a:cs typeface="Times New Roman"/>
              </a:rPr>
              <a:t>CamelContext</a:t>
            </a:r>
            <a:r>
              <a:rPr sz="1600" spc="46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context</a:t>
            </a:r>
            <a:r>
              <a:rPr sz="1600" spc="39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0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37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DefaultCamelContext();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3670" y="3290569"/>
            <a:ext cx="2614989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context.addRoutes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context.start();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4640" y="3290569"/>
            <a:ext cx="2250797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MyRouteBuilder());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5" y="7207250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23590" y="615504"/>
            <a:ext cx="350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r>
              <a:rPr sz="3800" spc="-9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ontext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776246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reate and start a new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ontest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354282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 a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XML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150" y="3222605"/>
            <a:ext cx="8735258" cy="20074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3444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&lt;?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xml </a:t>
            </a:r>
            <a:r>
              <a:rPr sz="1600" spc="5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version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"1.0"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?&gt;</a:t>
            </a:r>
            <a:endParaRPr sz="1600">
              <a:latin typeface="Times New Roman"/>
              <a:cs typeface="Times New Roman"/>
            </a:endParaRPr>
          </a:p>
          <a:p>
            <a:pPr marL="866140" marR="1372294" indent="-853440">
              <a:lnSpc>
                <a:spcPts val="1839"/>
              </a:lnSpc>
              <a:spcBef>
                <a:spcPts val="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beans</a:t>
            </a:r>
            <a:r>
              <a:rPr sz="1600" spc="457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"http://www.springframework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.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org/schema/beans"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xmlns:xsi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4"/>
              </a:rPr>
              <a:t>"http://www.w3.org/2001/XMLSchema-i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  <a:hlinkClick r:id="rId4"/>
              </a:rPr>
              <a:t>n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4"/>
              </a:rPr>
              <a:t>stance"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xsi:schemaLocatio</a:t>
            </a:r>
            <a:r>
              <a:rPr sz="1600" spc="-14" dirty="0" smtClean="0">
                <a:solidFill>
                  <a:srgbClr val="7E007E"/>
                </a:solidFill>
                <a:latin typeface="Times New Roman"/>
                <a:cs typeface="Times New Roman"/>
              </a:rPr>
              <a:t>n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endParaRPr sz="1650">
              <a:latin typeface="Times New Roman"/>
              <a:cs typeface="Times New Roman"/>
            </a:endParaRPr>
          </a:p>
          <a:p>
            <a:pPr marL="1384300" indent="-152400">
              <a:lnSpc>
                <a:spcPts val="1897"/>
              </a:lnSpc>
              <a:spcBef>
                <a:spcPts val="93"/>
              </a:spcBef>
            </a:pPr>
            <a:r>
              <a:rPr sz="165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http://www.spri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n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gframework.org/schema/beans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endParaRPr sz="1650">
              <a:latin typeface="Times New Roman"/>
              <a:cs typeface="Times New Roman"/>
            </a:endParaRPr>
          </a:p>
          <a:p>
            <a:pPr marL="1384300">
              <a:lnSpc>
                <a:spcPts val="1897"/>
              </a:lnSpc>
              <a:spcBef>
                <a:spcPts val="102"/>
              </a:spcBef>
            </a:pP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5"/>
              </a:rPr>
              <a:t>http://www.spring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  <a:hlinkClick r:id="rId5"/>
              </a:rPr>
              <a:t>f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5"/>
              </a:rPr>
              <a:t>ramework.org/schema/beans/spring-beans.xsd</a:t>
            </a:r>
            <a:endParaRPr sz="1650">
              <a:latin typeface="Times New Roman"/>
              <a:cs typeface="Times New Roman"/>
            </a:endParaRPr>
          </a:p>
          <a:p>
            <a:pPr marL="1231900" marR="23444">
              <a:lnSpc>
                <a:spcPts val="1889"/>
              </a:lnSpc>
              <a:spcBef>
                <a:spcPts val="196"/>
              </a:spcBef>
            </a:pPr>
            <a:r>
              <a:rPr sz="1650" dirty="0" smtClean="0">
                <a:solidFill>
                  <a:srgbClr val="2900FF"/>
                </a:solidFill>
                <a:latin typeface="Times New Roman"/>
                <a:cs typeface="Times New Roman"/>
                <a:hlinkClick r:id="rId6"/>
              </a:rPr>
              <a:t>http://camel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6"/>
              </a:rPr>
              <a:t>apache.org/schema/spring</a:t>
            </a:r>
            <a:endParaRPr sz="1650">
              <a:latin typeface="Times New Roman"/>
              <a:cs typeface="Times New Roman"/>
            </a:endParaRPr>
          </a:p>
          <a:p>
            <a:pPr marL="1384300" marR="23444">
              <a:lnSpc>
                <a:spcPct val="95825"/>
              </a:lnSpc>
            </a:pPr>
            <a:r>
              <a:rPr sz="1650" dirty="0" smtClean="0">
                <a:solidFill>
                  <a:srgbClr val="2900FF"/>
                </a:solidFill>
                <a:latin typeface="Times New Roman"/>
                <a:cs typeface="Times New Roman"/>
                <a:hlinkClick r:id="rId7"/>
              </a:rPr>
              <a:t>http://camel.a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7"/>
              </a:rPr>
              <a:t>ache.org/schema/spring/camel-spring.xsd</a:t>
            </a:r>
            <a:r>
              <a:rPr sz="1650" spc="-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350" y="5500985"/>
            <a:ext cx="736836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camelContext </a:t>
            </a:r>
            <a:r>
              <a:rPr sz="1600" spc="2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6"/>
              </a:rPr>
              <a:t>"http://camel.apache.org/schema/spring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  <a:hlinkClick r:id="rId6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6550" y="5759450"/>
            <a:ext cx="54363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&lt;!--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8070" y="5759450"/>
            <a:ext cx="346969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routes </a:t>
            </a:r>
            <a:r>
              <a:rPr sz="1600" spc="348" dirty="0" smtClean="0">
                <a:solidFill>
                  <a:srgbClr val="3E5EB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can</a:t>
            </a:r>
            <a:r>
              <a:rPr sz="1600" spc="286" dirty="0" smtClean="0">
                <a:solidFill>
                  <a:srgbClr val="3E5EB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be</a:t>
            </a:r>
            <a:r>
              <a:rPr sz="1600" spc="299" dirty="0" smtClean="0">
                <a:solidFill>
                  <a:srgbClr val="3E5EB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added</a:t>
            </a:r>
            <a:r>
              <a:rPr sz="1600" spc="38" dirty="0" smtClean="0">
                <a:solidFill>
                  <a:srgbClr val="3E5EB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here</a:t>
            </a:r>
            <a:r>
              <a:rPr sz="1600" spc="183" dirty="0" smtClean="0">
                <a:solidFill>
                  <a:srgbClr val="3E5EB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5EBE"/>
                </a:solidFill>
                <a:latin typeface="Times New Roman"/>
                <a:cs typeface="Times New Roman"/>
              </a:rPr>
              <a:t>--&gt;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9350" y="6012180"/>
            <a:ext cx="188342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150" y="6518909"/>
            <a:ext cx="10312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beans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1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72460" y="615504"/>
            <a:ext cx="210253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De</a:t>
            </a:r>
            <a:r>
              <a:rPr sz="3800" spc="-4" dirty="0" smtClean="0">
                <a:latin typeface="Verdana"/>
                <a:cs typeface="Verdana"/>
              </a:rPr>
              <a:t>f</a:t>
            </a:r>
            <a:r>
              <a:rPr sz="3800" spc="0" dirty="0" smtClean="0">
                <a:latin typeface="Verdana"/>
                <a:cs typeface="Verdana"/>
              </a:rPr>
              <a:t>ining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7055" y="615504"/>
            <a:ext cx="163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792084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Defining routes in a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ava Route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uil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7016304" cy="13893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9" dirty="0" smtClean="0">
                <a:latin typeface="Verdana"/>
                <a:cs typeface="Verdana"/>
              </a:rPr>
              <a:t>x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or</a:t>
            </a:r>
            <a:r>
              <a:rPr sz="4200" spc="-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.a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ache.ca</a:t>
            </a:r>
            <a:r>
              <a:rPr sz="4200" spc="-1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el.</a:t>
            </a:r>
            <a:r>
              <a:rPr sz="4200" spc="-9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uil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er.Rou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eBuil</a:t>
            </a:r>
            <a:r>
              <a:rPr sz="4200" spc="-14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3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</a:t>
            </a:r>
            <a:r>
              <a:rPr sz="4200" spc="-4" baseline="-1959" dirty="0" smtClean="0">
                <a:latin typeface="Verdana"/>
                <a:cs typeface="Verdana"/>
              </a:rPr>
              <a:t>mp</a:t>
            </a:r>
            <a:r>
              <a:rPr sz="4200" spc="0" baseline="-1959" dirty="0" smtClean="0">
                <a:latin typeface="Verdana"/>
                <a:cs typeface="Verdana"/>
              </a:rPr>
              <a:t>le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ent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he con</a:t>
            </a:r>
            <a:r>
              <a:rPr sz="4200" spc="-9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</a:t>
            </a:r>
            <a:r>
              <a:rPr sz="4200" spc="-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ure() 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hod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5840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1869" y="4104640"/>
            <a:ext cx="5907008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16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51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MyRouteBuilder</a:t>
            </a:r>
            <a:r>
              <a:rPr sz="1600" spc="45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sz="1600" spc="51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RouteBuilder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4680" y="410464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9070" y="4611370"/>
            <a:ext cx="4923457" cy="9880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34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636363"/>
                </a:solidFill>
                <a:latin typeface="Times New Roman"/>
                <a:cs typeface="Times New Roman"/>
                <a:hlinkClick r:id="rId3"/>
              </a:rPr>
              <a:t>@Override</a:t>
            </a:r>
            <a:endParaRPr sz="1600">
              <a:latin typeface="Times New Roman"/>
              <a:cs typeface="Times New Roman"/>
            </a:endParaRPr>
          </a:p>
          <a:p>
            <a:pPr marL="469900" indent="-457200">
              <a:lnSpc>
                <a:spcPts val="1839"/>
              </a:lnSpc>
              <a:spcBef>
                <a:spcPts val="63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515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225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configure() </a:t>
            </a:r>
            <a:r>
              <a:rPr sz="1600" spc="18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38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 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ts val="1839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from(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).to(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  <a:p>
            <a:pPr marL="12700" marR="22349">
              <a:lnSpc>
                <a:spcPct val="95825"/>
              </a:lnSpc>
              <a:spcBef>
                <a:spcPts val="165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6520" y="486410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587629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72460" y="615504"/>
            <a:ext cx="210253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De</a:t>
            </a:r>
            <a:r>
              <a:rPr sz="3800" spc="-4" dirty="0" smtClean="0">
                <a:latin typeface="Verdana"/>
                <a:cs typeface="Verdana"/>
              </a:rPr>
              <a:t>f</a:t>
            </a:r>
            <a:r>
              <a:rPr sz="3800" spc="0" dirty="0" smtClean="0">
                <a:latin typeface="Verdana"/>
                <a:cs typeface="Verdana"/>
              </a:rPr>
              <a:t>ining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7055" y="615504"/>
            <a:ext cx="163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809721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Defining routes in a Scala Route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uil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7243177" cy="812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9" dirty="0" smtClean="0">
                <a:latin typeface="Verdana"/>
                <a:cs typeface="Verdana"/>
              </a:rPr>
              <a:t>x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395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o.a.ca</a:t>
            </a:r>
            <a:r>
              <a:rPr sz="4200" spc="-1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el.scala.</a:t>
            </a:r>
            <a:r>
              <a:rPr sz="4200" spc="-25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sl.</a:t>
            </a:r>
            <a:r>
              <a:rPr sz="4200" spc="-9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uil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er.Rou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eBuil</a:t>
            </a:r>
            <a:r>
              <a:rPr sz="4200" spc="-14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5360" y="3778250"/>
            <a:ext cx="35916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4B4B4B"/>
                </a:solidFill>
                <a:latin typeface="Times New Roman"/>
                <a:cs typeface="Times New Roman"/>
              </a:rPr>
              <a:t>package</a:t>
            </a:r>
            <a:r>
              <a:rPr sz="1600" spc="447" dirty="0" smtClean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be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anova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course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camel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5360" y="4283710"/>
            <a:ext cx="6763027" cy="22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4B4B4B"/>
                </a:solidFill>
                <a:latin typeface="Times New Roman"/>
                <a:cs typeface="Times New Roman"/>
              </a:rPr>
              <a:t>import</a:t>
            </a:r>
            <a:r>
              <a:rPr sz="1600" spc="419" dirty="0" smtClean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org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apache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camel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scala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dsl</a:t>
            </a:r>
            <a:r>
              <a:rPr sz="1600" spc="0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builde</a:t>
            </a:r>
            <a:r>
              <a:rPr sz="1600" spc="9" dirty="0" smtClean="0">
                <a:solidFill>
                  <a:srgbClr val="8D3D00"/>
                </a:solidFill>
                <a:latin typeface="Times New Roman"/>
                <a:cs typeface="Times New Roman"/>
              </a:rPr>
              <a:t>r</a:t>
            </a:r>
            <a:r>
              <a:rPr sz="1600" spc="0" dirty="0" smtClean="0">
                <a:latin typeface="Times New Roman"/>
                <a:cs typeface="Times New Roman"/>
              </a:rPr>
              <a:t>.RouteBuilder;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5360" y="4790440"/>
            <a:ext cx="3468508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4B4B4B"/>
                </a:solidFill>
                <a:latin typeface="Times New Roman"/>
                <a:cs typeface="Times New Roman"/>
              </a:rPr>
              <a:t>class</a:t>
            </a:r>
            <a:r>
              <a:rPr sz="1600" spc="343" dirty="0" smtClean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MyRouteBuilder</a:t>
            </a:r>
            <a:r>
              <a:rPr sz="1600" spc="453" dirty="0" smtClean="0">
                <a:solidFill>
                  <a:srgbClr val="8D3D00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4B4B4B"/>
                </a:solidFill>
                <a:latin typeface="Times New Roman"/>
                <a:cs typeface="Times New Roman"/>
              </a:rPr>
              <a:t>extends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770" y="4790440"/>
            <a:ext cx="1519158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8D3D00"/>
                </a:solidFill>
                <a:latin typeface="Times New Roman"/>
                <a:cs typeface="Times New Roman"/>
              </a:rPr>
              <a:t>RouteBuilder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3460" y="479044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200" y="5295900"/>
            <a:ext cx="3224728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"timer:test"</a:t>
            </a:r>
            <a:r>
              <a:rPr sz="1600" spc="167" dirty="0" smtClean="0">
                <a:solidFill>
                  <a:srgbClr val="FF5D5D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003D84"/>
                </a:solidFill>
                <a:latin typeface="Times New Roman"/>
                <a:cs typeface="Times New Roman"/>
              </a:rPr>
              <a:t>to</a:t>
            </a:r>
            <a:r>
              <a:rPr sz="1600" spc="261" dirty="0" smtClean="0">
                <a:solidFill>
                  <a:srgbClr val="003D8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FF5D5D"/>
                </a:solidFill>
                <a:latin typeface="Times New Roman"/>
                <a:cs typeface="Times New Roman"/>
              </a:rPr>
              <a:t>"log:test"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5360" y="580263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72460" y="615504"/>
            <a:ext cx="210253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De</a:t>
            </a:r>
            <a:r>
              <a:rPr sz="3800" spc="-4" dirty="0" smtClean="0">
                <a:latin typeface="Verdana"/>
                <a:cs typeface="Verdana"/>
              </a:rPr>
              <a:t>f</a:t>
            </a:r>
            <a:r>
              <a:rPr sz="3800" spc="0" dirty="0" smtClean="0">
                <a:latin typeface="Verdana"/>
                <a:cs typeface="Verdana"/>
              </a:rPr>
              <a:t>ining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7055" y="615504"/>
            <a:ext cx="163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656585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Defining routes in a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ring </a:t>
            </a:r>
            <a:r>
              <a:rPr sz="3200" spc="-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ML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5578" y="1829159"/>
            <a:ext cx="69455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file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2494753"/>
            <a:ext cx="4779392" cy="812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add &lt;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out</a:t>
            </a:r>
            <a:r>
              <a:rPr sz="2800" spc="-9" dirty="0" smtClean="0">
                <a:latin typeface="Verdana"/>
                <a:cs typeface="Verdana"/>
              </a:rPr>
              <a:t>e</a:t>
            </a:r>
            <a:r>
              <a:rPr sz="2800" spc="4" dirty="0" smtClean="0">
                <a:latin typeface="Verdana"/>
                <a:cs typeface="Verdana"/>
              </a:rPr>
              <a:t>/</a:t>
            </a:r>
            <a:r>
              <a:rPr sz="2800" spc="0" dirty="0" smtClean="0">
                <a:latin typeface="Verdana"/>
                <a:cs typeface="Verdana"/>
              </a:rPr>
              <a:t>&gt; ele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395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&lt;ca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elCon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ex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/&gt; ...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869" y="3724255"/>
            <a:ext cx="736836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camelContext </a:t>
            </a:r>
            <a:r>
              <a:rPr sz="1600" spc="2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http://camel.apache.org/schema/sprin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g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9070" y="4236720"/>
            <a:ext cx="3439004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1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46990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5501640"/>
            <a:ext cx="188342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72460" y="615504"/>
            <a:ext cx="210253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De</a:t>
            </a:r>
            <a:r>
              <a:rPr sz="3800" spc="-4" dirty="0" smtClean="0">
                <a:latin typeface="Verdana"/>
                <a:cs typeface="Verdana"/>
              </a:rPr>
              <a:t>f</a:t>
            </a:r>
            <a:r>
              <a:rPr sz="3800" spc="0" dirty="0" smtClean="0">
                <a:latin typeface="Verdana"/>
                <a:cs typeface="Verdana"/>
              </a:rPr>
              <a:t>ining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7055" y="615504"/>
            <a:ext cx="163088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656585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Defining routes in a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ring </a:t>
            </a:r>
            <a:r>
              <a:rPr sz="3200" spc="-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ML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5578" y="1829159"/>
            <a:ext cx="69455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file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2494753"/>
            <a:ext cx="5965904" cy="812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... or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er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e</a:t>
            </a:r>
            <a:r>
              <a:rPr sz="2800" spc="-9" dirty="0" smtClean="0">
                <a:latin typeface="Verdana"/>
                <a:cs typeface="Verdana"/>
              </a:rPr>
              <a:t>x</a:t>
            </a:r>
            <a:r>
              <a:rPr sz="2800" spc="0" dirty="0" smtClean="0">
                <a:latin typeface="Verdana"/>
                <a:cs typeface="Verdana"/>
              </a:rPr>
              <a:t>ist</a:t>
            </a:r>
            <a:r>
              <a:rPr sz="2800" spc="-9" dirty="0" smtClean="0">
                <a:latin typeface="Verdana"/>
                <a:cs typeface="Verdana"/>
              </a:rPr>
              <a:t>i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g 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a/Scala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395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Rou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eBuil</a:t>
            </a:r>
            <a:r>
              <a:rPr sz="4200" spc="-14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860" y="4148435"/>
            <a:ext cx="736836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camelContext </a:t>
            </a:r>
            <a:r>
              <a:rPr sz="1600" spc="2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http://camel.apache.org/schema/sprin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g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6060" y="4659630"/>
            <a:ext cx="5388629" cy="735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packageSca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n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73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package</a:t>
            </a: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spc="0" dirty="0" smtClean="0">
                <a:latin typeface="Times New Roman"/>
                <a:cs typeface="Times New Roman"/>
              </a:rPr>
              <a:t>be.anova.course.came</a:t>
            </a:r>
            <a:r>
              <a:rPr sz="1600" spc="-25" dirty="0" smtClean="0">
                <a:latin typeface="Times New Roman"/>
                <a:cs typeface="Times New Roman"/>
              </a:rPr>
              <a:t>l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package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packageSca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n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8860" y="5673090"/>
            <a:ext cx="188342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47670" y="615504"/>
            <a:ext cx="161321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amel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2426" y="615504"/>
            <a:ext cx="92183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API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5617" y="615504"/>
            <a:ext cx="15750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basics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2569719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Let's look at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interfaces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634" y="1829159"/>
            <a:ext cx="3304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5526" y="1829159"/>
            <a:ext cx="80339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w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5469" y="1829159"/>
            <a:ext cx="111796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4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ic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9965" y="1829159"/>
            <a:ext cx="136221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8707" y="1829159"/>
            <a:ext cx="77924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9" dirty="0" smtClean="0">
                <a:latin typeface="Verdana"/>
                <a:cs typeface="Verdana"/>
              </a:rPr>
              <a:t>A</a:t>
            </a:r>
            <a:r>
              <a:rPr sz="3200" spc="0" dirty="0" smtClean="0">
                <a:latin typeface="Verdana"/>
                <a:cs typeface="Verdana"/>
              </a:rPr>
              <a:t>PI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2988783"/>
            <a:ext cx="1796400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996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Exchan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Messa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ocessor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0696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36462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2228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60800" y="615504"/>
            <a:ext cx="24276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Exc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ange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3959350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ontai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 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es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433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onsists of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9334" y="1829159"/>
            <a:ext cx="114118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while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6995" y="1829159"/>
            <a:ext cx="154535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routing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3167853"/>
            <a:ext cx="2534403" cy="312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3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exchan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id</a:t>
            </a:r>
            <a:endParaRPr sz="2800">
              <a:latin typeface="Verdana"/>
              <a:cs typeface="Verdana"/>
            </a:endParaRPr>
          </a:p>
          <a:p>
            <a:pPr marL="12700" marR="431486">
              <a:lnSpc>
                <a:spcPts val="3402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MEP </a:t>
            </a:r>
            <a:endParaRPr sz="2800">
              <a:latin typeface="Verdana"/>
              <a:cs typeface="Verdana"/>
            </a:endParaRPr>
          </a:p>
          <a:p>
            <a:pPr marL="12700" marR="431486">
              <a:lnSpc>
                <a:spcPts val="3402"/>
              </a:lnSpc>
              <a:spcBef>
                <a:spcPts val="1143"/>
              </a:spcBef>
            </a:pPr>
            <a:r>
              <a:rPr sz="2800" spc="0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ies </a:t>
            </a:r>
            <a:endParaRPr sz="2800">
              <a:latin typeface="Verdana"/>
              <a:cs typeface="Verdana"/>
            </a:endParaRPr>
          </a:p>
          <a:p>
            <a:pPr marL="12700" marR="431486">
              <a:lnSpc>
                <a:spcPts val="3402"/>
              </a:lnSpc>
              <a:spcBef>
                <a:spcPts val="1143"/>
              </a:spcBef>
            </a:pPr>
            <a:r>
              <a:rPr sz="2800" spc="0" dirty="0" smtClean="0">
                <a:latin typeface="Verdana"/>
                <a:cs typeface="Verdana"/>
              </a:rPr>
              <a:t>In Messa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395"/>
              </a:lnSpc>
              <a:spcBef>
                <a:spcPts val="1313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O</a:t>
            </a:r>
            <a:r>
              <a:rPr sz="4200" spc="0" baseline="-1959" dirty="0" smtClean="0">
                <a:latin typeface="Verdana"/>
                <a:cs typeface="Verdana"/>
              </a:rPr>
              <a:t>ut Messa</a:t>
            </a:r>
            <a:r>
              <a:rPr sz="4200" spc="-1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395"/>
              </a:lnSpc>
            </a:pPr>
            <a:r>
              <a:rPr sz="4200" spc="0" baseline="-1959" dirty="0" smtClean="0">
                <a:latin typeface="Verdana"/>
                <a:cs typeface="Verdana"/>
              </a:rPr>
              <a:t>(also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used</a:t>
            </a:r>
            <a:r>
              <a:rPr sz="4200" spc="-14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248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8253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55563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5323" y="5907243"/>
            <a:ext cx="130488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Faul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60800" y="615504"/>
            <a:ext cx="24276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Exc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ange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203992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1869" y="2576829"/>
            <a:ext cx="115319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</a:t>
            </a:r>
            <a:r>
              <a:rPr sz="1600" spc="7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id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32989" y="2576829"/>
            <a:ext cx="3348216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exchange.getExchangeId();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1869" y="2829560"/>
            <a:ext cx="5420796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ExchangePattern</a:t>
            </a:r>
            <a:r>
              <a:rPr sz="1600" spc="42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mep </a:t>
            </a:r>
            <a:r>
              <a:rPr sz="1600" spc="27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exchange.getPattern();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1869" y="3336290"/>
            <a:ext cx="6971069" cy="734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Object</a:t>
            </a:r>
            <a:r>
              <a:rPr sz="1600" spc="28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property </a:t>
            </a:r>
            <a:r>
              <a:rPr sz="1600" spc="18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exchange.getProperty</a:t>
            </a:r>
            <a:r>
              <a:rPr sz="1600" spc="-25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"property.name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</a:t>
            </a:r>
            <a:r>
              <a:rPr sz="1600" spc="15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string</a:t>
            </a:r>
            <a:r>
              <a:rPr sz="1600" spc="57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  <a:p>
            <a:pPr marL="59181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exchange.getProperty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"property.name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String.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1869" y="4348480"/>
            <a:ext cx="3713817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Message</a:t>
            </a:r>
            <a:r>
              <a:rPr sz="1600" spc="-23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in </a:t>
            </a:r>
            <a:r>
              <a:rPr sz="1600" spc="17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exchange.getIn();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1869" y="4601209"/>
            <a:ext cx="2997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if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630" y="4601209"/>
            <a:ext cx="4049117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(exchange.hasOut()) </a:t>
            </a:r>
            <a:r>
              <a:rPr sz="1600" spc="2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04140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Message</a:t>
            </a:r>
            <a:r>
              <a:rPr sz="1600" spc="-11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out </a:t>
            </a:r>
            <a:r>
              <a:rPr sz="1600" spc="12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exchange.getOut();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869" y="510794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869" y="5613400"/>
            <a:ext cx="2997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if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7630" y="5613400"/>
            <a:ext cx="5756116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(exchange.isFailed()) </a:t>
            </a:r>
            <a:r>
              <a:rPr sz="1600" spc="21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04140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r>
              <a:rPr sz="1600" spc="22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 </a:t>
            </a:r>
            <a:r>
              <a:rPr sz="1600" spc="58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exchange.getException();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612013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89070" y="615504"/>
            <a:ext cx="21728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Message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2823338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U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ed as In or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433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onsists of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3040" y="1829159"/>
            <a:ext cx="82358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Out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3302" y="1829159"/>
            <a:ext cx="188577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5894" y="1829159"/>
            <a:ext cx="59019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2477" y="1829159"/>
            <a:ext cx="20479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han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3167853"/>
            <a:ext cx="2300024" cy="15354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hea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ers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4550"/>
              </a:lnSpc>
              <a:spcBef>
                <a:spcPts val="387"/>
              </a:spcBef>
            </a:pP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y a</a:t>
            </a:r>
            <a:r>
              <a:rPr sz="2800" spc="-4" dirty="0" smtClean="0">
                <a:latin typeface="Verdana"/>
                <a:cs typeface="Verdana"/>
              </a:rPr>
              <a:t>tt</a:t>
            </a:r>
            <a:r>
              <a:rPr sz="2800" spc="0" dirty="0" smtClean="0">
                <a:latin typeface="Verdana"/>
                <a:cs typeface="Verdana"/>
              </a:rPr>
              <a:t>ach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248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38253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89070" y="615504"/>
            <a:ext cx="21728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Message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290" y="1829159"/>
            <a:ext cx="6461799" cy="125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les</a:t>
            </a:r>
            <a:endParaRPr sz="3200">
              <a:latin typeface="Verdana"/>
              <a:cs typeface="Verdana"/>
            </a:endParaRPr>
          </a:p>
          <a:p>
            <a:pPr marL="81279" marR="30479">
              <a:lnSpc>
                <a:spcPct val="95825"/>
              </a:lnSpc>
              <a:spcBef>
                <a:spcPts val="238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Object </a:t>
            </a:r>
            <a:r>
              <a:rPr sz="1600" spc="28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body</a:t>
            </a:r>
            <a:r>
              <a:rPr sz="1600" spc="22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message.getBody();</a:t>
            </a:r>
            <a:endParaRPr sz="1600">
              <a:latin typeface="Times New Roman"/>
              <a:cs typeface="Times New Roman"/>
            </a:endParaRPr>
          </a:p>
          <a:p>
            <a:pPr marL="8127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 </a:t>
            </a:r>
            <a:r>
              <a:rPr sz="1600" spc="25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bodyAsString</a:t>
            </a:r>
            <a:r>
              <a:rPr sz="1600" spc="-298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message.getBody(String</a:t>
            </a:r>
            <a:r>
              <a:rPr sz="1600" spc="-25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869" y="3360419"/>
            <a:ext cx="6758979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//</a:t>
            </a:r>
            <a:r>
              <a:rPr sz="1600" spc="95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will </a:t>
            </a:r>
            <a:r>
              <a:rPr sz="1600" spc="18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throw</a:t>
            </a:r>
            <a:r>
              <a:rPr sz="1600" spc="-4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exception</a:t>
            </a:r>
            <a:r>
              <a:rPr sz="1600" spc="33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if</a:t>
            </a:r>
            <a:r>
              <a:rPr sz="1600" spc="175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conversion</a:t>
            </a:r>
            <a:r>
              <a:rPr sz="1600" spc="-325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not</a:t>
            </a:r>
            <a:r>
              <a:rPr sz="1600" spc="253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possible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 </a:t>
            </a:r>
            <a:r>
              <a:rPr sz="1600" spc="1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mandatoryString</a:t>
            </a:r>
            <a:r>
              <a:rPr sz="1600" spc="-24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message.getBody(String</a:t>
            </a:r>
            <a:r>
              <a:rPr sz="1600" spc="-25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69" y="4119879"/>
            <a:ext cx="6971268" cy="1240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if</a:t>
            </a:r>
            <a:r>
              <a:rPr sz="1600" spc="175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(message.hasAttachments()) </a:t>
            </a:r>
            <a:r>
              <a:rPr sz="1600" spc="23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7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DataHandler</a:t>
            </a:r>
            <a:r>
              <a:rPr sz="1600" spc="10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attachment </a:t>
            </a:r>
            <a:r>
              <a:rPr sz="1600" spc="17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  <a:p>
            <a:pPr marL="9271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message.getAttachment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"attachment.name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message.addAttachment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"attachement.new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attachment);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5638800"/>
            <a:ext cx="7275869" cy="735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Object</a:t>
            </a:r>
            <a:r>
              <a:rPr sz="1600" spc="41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header</a:t>
            </a:r>
            <a:r>
              <a:rPr sz="1600" spc="41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message.getHeader</a:t>
            </a:r>
            <a:r>
              <a:rPr sz="1600" spc="-3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"header.name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Integer </a:t>
            </a:r>
            <a:r>
              <a:rPr sz="1600" spc="148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headerAsInt</a:t>
            </a:r>
            <a:r>
              <a:rPr sz="1600" spc="-72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  <a:p>
            <a:pPr marL="1384300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message.getHeader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"header.name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Integer</a:t>
            </a:r>
            <a:r>
              <a:rPr sz="1600" spc="9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</a:t>
            </a:r>
            <a:r>
              <a:rPr sz="1600" spc="-9" dirty="0" smtClean="0">
                <a:solidFill>
                  <a:srgbClr val="7E0054"/>
                </a:solidFill>
                <a:latin typeface="Times New Roman"/>
                <a:cs typeface="Times New Roman"/>
              </a:rPr>
              <a:t>s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60800" y="615504"/>
            <a:ext cx="24262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cess</a:t>
            </a:r>
            <a:r>
              <a:rPr sz="3800" spc="-1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6643096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ter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ace to c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eate an</a:t>
            </a:r>
            <a:r>
              <a:rPr sz="3200" spc="-19" dirty="0" smtClean="0">
                <a:latin typeface="Verdana"/>
                <a:cs typeface="Verdana"/>
              </a:rPr>
              <a:t> 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han</a:t>
            </a:r>
            <a:r>
              <a:rPr sz="3200" spc="1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ro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essor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988783"/>
            <a:ext cx="6706662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consu</a:t>
            </a:r>
            <a:r>
              <a:rPr sz="2800" spc="-1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in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/han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ling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an Exchan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or 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essa</a:t>
            </a:r>
            <a:r>
              <a:rPr sz="4200" spc="-1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ans</a:t>
            </a:r>
            <a:r>
              <a:rPr sz="4200" spc="-9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or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a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0696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6462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270" y="3958590"/>
            <a:ext cx="578486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16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51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MyProcessor</a:t>
            </a:r>
            <a:r>
              <a:rPr sz="1600" spc="-8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implements</a:t>
            </a:r>
            <a:r>
              <a:rPr sz="1600" spc="212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Processor </a:t>
            </a:r>
            <a:r>
              <a:rPr sz="1600" spc="34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270" y="4459585"/>
            <a:ext cx="834374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private</a:t>
            </a:r>
            <a:r>
              <a:rPr sz="1600" spc="-12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static</a:t>
            </a:r>
            <a:r>
              <a:rPr sz="1600" spc="61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final</a:t>
            </a:r>
            <a:r>
              <a:rPr sz="1600" spc="37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Log  </a:t>
            </a:r>
            <a:r>
              <a:rPr sz="1600" spc="43" dirty="0" smtClean="0">
                <a:latin typeface="Times New Roman"/>
                <a:cs typeface="Times New Roman"/>
              </a:rPr>
              <a:t> </a:t>
            </a:r>
            <a:r>
              <a:rPr sz="16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LOG</a:t>
            </a:r>
            <a:r>
              <a:rPr sz="1650" spc="5" dirty="0" smtClean="0">
                <a:solidFill>
                  <a:srgbClr val="0000B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LogFactory</a:t>
            </a:r>
            <a:r>
              <a:rPr sz="1600" spc="-9" dirty="0" smtClean="0">
                <a:latin typeface="Times New Roman"/>
                <a:cs typeface="Times New Roman"/>
              </a:rPr>
              <a:t>.</a:t>
            </a:r>
            <a:r>
              <a:rPr sz="1650" spc="0" dirty="0" smtClean="0">
                <a:latin typeface="Times New Roman"/>
                <a:cs typeface="Times New Roman"/>
              </a:rPr>
              <a:t>getLog</a:t>
            </a:r>
            <a:r>
              <a:rPr sz="1600" spc="0" dirty="0" smtClean="0">
                <a:latin typeface="Times New Roman"/>
                <a:cs typeface="Times New Roman"/>
              </a:rPr>
              <a:t>(MyProcessor</a:t>
            </a:r>
            <a:r>
              <a:rPr sz="1600" spc="-19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470" y="4970780"/>
            <a:ext cx="6988829" cy="4827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600" spc="28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452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process(Exchange</a:t>
            </a:r>
            <a:r>
              <a:rPr sz="1600" spc="19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exchange)</a:t>
            </a:r>
            <a:r>
              <a:rPr sz="1600" spc="21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336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r>
              <a:rPr sz="1600" spc="3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441422" marR="517126" algn="ctr">
              <a:lnSpc>
                <a:spcPct val="95825"/>
              </a:lnSpc>
              <a:spcBef>
                <a:spcPts val="13"/>
              </a:spcBef>
            </a:pPr>
            <a:r>
              <a:rPr sz="1650" dirty="0" smtClean="0">
                <a:solidFill>
                  <a:srgbClr val="0000BF"/>
                </a:solidFill>
                <a:latin typeface="Times New Roman"/>
                <a:cs typeface="Times New Roman"/>
              </a:rPr>
              <a:t>LOG</a:t>
            </a:r>
            <a:r>
              <a:rPr sz="1600" dirty="0" smtClean="0">
                <a:latin typeface="Times New Roman"/>
                <a:cs typeface="Times New Roman"/>
              </a:rPr>
              <a:t>.info(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"Handling </a:t>
            </a:r>
            <a:r>
              <a:rPr sz="1600" spc="15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361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+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exchange.getExchangeId());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670" y="5730240"/>
            <a:ext cx="7612538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exchange.getOut().copyFrom(exchange.getIn());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exchange.getOut().setBody</a:t>
            </a:r>
            <a:r>
              <a:rPr sz="1600" spc="-1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"Message </a:t>
            </a:r>
            <a:r>
              <a:rPr sz="1600" spc="365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handled</a:t>
            </a:r>
            <a:r>
              <a:rPr sz="1600" spc="431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on  </a:t>
            </a:r>
            <a:r>
              <a:rPr sz="1600" spc="7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361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+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37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Date());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470" y="623697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270" y="674243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2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60800" y="615504"/>
            <a:ext cx="24262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cess</a:t>
            </a:r>
            <a:r>
              <a:rPr sz="3800" spc="-1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669126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d a Pro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essor in the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ava 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2494753"/>
            <a:ext cx="7042724" cy="812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ocess()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hod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add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</a:t>
            </a:r>
            <a:r>
              <a:rPr sz="2800" spc="-19" dirty="0" smtClean="0">
                <a:latin typeface="Verdana"/>
                <a:cs typeface="Verdana"/>
              </a:rPr>
              <a:t>o</a:t>
            </a:r>
            <a:r>
              <a:rPr sz="2800" spc="0" dirty="0" smtClean="0">
                <a:latin typeface="Verdana"/>
                <a:cs typeface="Verdana"/>
              </a:rPr>
              <a:t>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395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ins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ance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3503133"/>
            <a:ext cx="6118718" cy="8140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</a:t>
            </a:r>
            <a:r>
              <a:rPr sz="2800" spc="-19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ef()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er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P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ocessor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24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Re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is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17993" y="3503133"/>
            <a:ext cx="40134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5693" y="3503133"/>
            <a:ext cx="65535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5840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4730" y="4546600"/>
            <a:ext cx="5907008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16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51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MyRouteBuilder</a:t>
            </a:r>
            <a:r>
              <a:rPr sz="1600" spc="45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sz="1600" spc="51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RouteBuilder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87540" y="454660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1930" y="5053330"/>
            <a:ext cx="5179838" cy="1493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504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636363"/>
                </a:solidFill>
                <a:latin typeface="Times New Roman"/>
                <a:cs typeface="Times New Roman"/>
                <a:hlinkClick r:id="rId3"/>
              </a:rPr>
              <a:t>@Override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5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25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configure() </a:t>
            </a:r>
            <a:r>
              <a:rPr sz="1600" spc="26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51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r>
              <a:rPr sz="1600" spc="-5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469900" marR="3504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927100" marR="3504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.process(</a:t>
            </a:r>
            <a:r>
              <a:rPr sz="160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1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MyProcessor())</a:t>
            </a:r>
            <a:endParaRPr sz="1600">
              <a:latin typeface="Times New Roman"/>
              <a:cs typeface="Times New Roman"/>
            </a:endParaRPr>
          </a:p>
          <a:p>
            <a:pPr marL="927100" marR="3504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  <a:p>
            <a:pPr marL="12700" marR="3504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4730" y="682498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  </a:t>
            </a:r>
            <a:r>
              <a:rPr sz="3800" u="heavy" spc="-225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Pr</a:t>
            </a:r>
            <a:r>
              <a:rPr sz="3800" u="heavy" spc="-4" dirty="0" smtClean="0">
                <a:latin typeface="Verdana"/>
                <a:cs typeface="Verdana"/>
              </a:rPr>
              <a:t>o</a:t>
            </a:r>
            <a:r>
              <a:rPr sz="3800" u="heavy" spc="0" dirty="0" smtClean="0">
                <a:latin typeface="Verdana"/>
                <a:cs typeface="Verdana"/>
              </a:rPr>
              <a:t>cess</a:t>
            </a:r>
            <a:r>
              <a:rPr sz="3800" u="heavy" spc="-14" dirty="0" smtClean="0">
                <a:latin typeface="Verdana"/>
                <a:cs typeface="Verdana"/>
              </a:rPr>
              <a:t>o</a:t>
            </a:r>
            <a:r>
              <a:rPr sz="3800" u="heavy" spc="0" dirty="0" smtClean="0">
                <a:latin typeface="Verdana"/>
                <a:cs typeface="Verdana"/>
              </a:rPr>
              <a:t>r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669126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d a Pro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essor in the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ava 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560440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wi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an anon</a:t>
            </a:r>
            <a:r>
              <a:rPr sz="2800" spc="-9" dirty="0" smtClean="0">
                <a:latin typeface="Verdana"/>
                <a:cs typeface="Verdana"/>
              </a:rPr>
              <a:t>y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ous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inner class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2990" y="3920490"/>
            <a:ext cx="7680452" cy="1494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6144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600" spc="5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25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configure() </a:t>
            </a:r>
            <a:r>
              <a:rPr sz="1600" spc="26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51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r>
              <a:rPr sz="1600" spc="-5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256540" marR="36144">
              <a:lnSpc>
                <a:spcPct val="95825"/>
              </a:lnSpc>
              <a:spcBef>
                <a:spcPts val="73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36144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.process(</a:t>
            </a:r>
            <a:r>
              <a:rPr sz="160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1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Processor() </a:t>
            </a:r>
            <a:r>
              <a:rPr sz="1600" spc="28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92709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600" spc="28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452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process(Exchange</a:t>
            </a:r>
            <a:r>
              <a:rPr sz="1600" spc="18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exchange)</a:t>
            </a:r>
            <a:r>
              <a:rPr sz="1600" spc="21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336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endParaRPr sz="1600">
              <a:latin typeface="Times New Roman"/>
              <a:cs typeface="Times New Roman"/>
            </a:endParaRPr>
          </a:p>
          <a:p>
            <a:pPr marL="1170940" marR="36144">
              <a:lnSpc>
                <a:spcPct val="95825"/>
              </a:lnSpc>
              <a:spcBef>
                <a:spcPts val="100"/>
              </a:spcBef>
            </a:pPr>
            <a:r>
              <a:rPr sz="1650" dirty="0" smtClean="0">
                <a:solidFill>
                  <a:srgbClr val="0000BF"/>
                </a:solidFill>
                <a:latin typeface="Times New Roman"/>
                <a:cs typeface="Times New Roman"/>
              </a:rPr>
              <a:t>LOG</a:t>
            </a:r>
            <a:r>
              <a:rPr sz="1600" dirty="0" smtClean="0">
                <a:latin typeface="Times New Roman"/>
                <a:cs typeface="Times New Roman"/>
              </a:rPr>
              <a:t>.info(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"Handled </a:t>
            </a:r>
            <a:r>
              <a:rPr sz="1600" spc="15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371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+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exchange.getExchangeId());</a:t>
            </a:r>
            <a:endParaRPr sz="1600">
              <a:latin typeface="Times New Roman"/>
              <a:cs typeface="Times New Roman"/>
            </a:endParaRPr>
          </a:p>
          <a:p>
            <a:pPr marL="927099" marR="36144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3640" y="467995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0190" y="5692140"/>
            <a:ext cx="225047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}).to(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2990" y="594487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3873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201928" y="984250"/>
            <a:ext cx="38780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5" y="73110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60800" y="615504"/>
            <a:ext cx="24262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cess</a:t>
            </a:r>
            <a:r>
              <a:rPr sz="3800" spc="-1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1829159"/>
            <a:ext cx="71045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d a Pro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essor in the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ring 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2494753"/>
            <a:ext cx="6429080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 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ocessor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as a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</a:t>
            </a:r>
            <a:endParaRPr sz="2800">
              <a:latin typeface="Verdana"/>
              <a:cs typeface="Verdana"/>
            </a:endParaRPr>
          </a:p>
          <a:p>
            <a:pPr marL="12700" marR="37693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&lt;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ocess/&gt;</a:t>
            </a:r>
            <a:r>
              <a:rPr sz="4200" spc="-14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 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er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 </a:t>
            </a:r>
            <a:r>
              <a:rPr sz="4200" spc="-4" baseline="-1959" dirty="0" smtClean="0">
                <a:latin typeface="Verdana"/>
                <a:cs typeface="Verdana"/>
              </a:rPr>
              <a:t>Sp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69" y="4181455"/>
            <a:ext cx="7368364" cy="17532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camelContext </a:t>
            </a:r>
            <a:r>
              <a:rPr sz="1600" spc="2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"http://camel.apache.org/schema/spring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41959" marR="6017065" algn="ctr">
              <a:lnSpc>
                <a:spcPct val="95825"/>
              </a:lnSpc>
              <a:spcBef>
                <a:spcPts val="51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927100" marR="31555">
              <a:lnSpc>
                <a:spcPct val="95825"/>
              </a:lnSpc>
              <a:spcBef>
                <a:spcPts val="11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"timer:test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92710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process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ref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"processor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92710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"log:test"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441959" marR="5895145" algn="ctr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R="5500175" algn="ctr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camelContex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6205835"/>
            <a:ext cx="785606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spc="47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id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"process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o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r" </a:t>
            </a:r>
            <a:r>
              <a:rPr sz="1650" spc="1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"be.anova.course.camel.MyProcessor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11350" y="615504"/>
            <a:ext cx="210477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Exercise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85463" y="615504"/>
            <a:ext cx="31693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4438" y="615504"/>
            <a:ext cx="376322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Getti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 started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748922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reate a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ontext in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ava co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2494753"/>
            <a:ext cx="7160490" cy="812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</a:t>
            </a:r>
            <a:r>
              <a:rPr sz="2800" spc="-9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eate a 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4" dirty="0" smtClean="0">
                <a:latin typeface="Verdana"/>
                <a:cs typeface="Verdana"/>
              </a:rPr>
              <a:t>u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hat wr</a:t>
            </a:r>
            <a:r>
              <a:rPr sz="2800" spc="-9" dirty="0" smtClean="0">
                <a:latin typeface="Verdana"/>
                <a:cs typeface="Verdana"/>
              </a:rPr>
              <a:t>i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 a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395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log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every 5 secon</a:t>
            </a:r>
            <a:r>
              <a:rPr sz="4200" spc="-1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2035" y="2494753"/>
            <a:ext cx="65535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3503133"/>
            <a:ext cx="8152567" cy="14502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445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add a 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</a:t>
            </a:r>
            <a:r>
              <a:rPr sz="2800" spc="-14" dirty="0" smtClean="0">
                <a:latin typeface="Verdana"/>
                <a:cs typeface="Verdana"/>
              </a:rPr>
              <a:t>e</a:t>
            </a:r>
            <a:r>
              <a:rPr sz="2800" spc="0" dirty="0" smtClean="0">
                <a:latin typeface="Verdana"/>
                <a:cs typeface="Verdana"/>
              </a:rPr>
              <a:t>ssor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add a </a:t>
            </a:r>
            <a:r>
              <a:rPr sz="2800" spc="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amp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  <a:p>
            <a:pPr marL="444500" marR="53340">
              <a:lnSpc>
                <a:spcPct val="101277"/>
              </a:lnSpc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870"/>
              </a:lnSpc>
              <a:spcBef>
                <a:spcPts val="1328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reate a 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am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l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ontext in S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ring </a:t>
            </a:r>
            <a:r>
              <a:rPr sz="4800" spc="-4" baseline="-1714" dirty="0" smtClean="0">
                <a:latin typeface="Verdana"/>
                <a:cs typeface="Verdana"/>
              </a:rPr>
              <a:t>X</a:t>
            </a:r>
            <a:r>
              <a:rPr sz="4800" spc="0" baseline="-1714" dirty="0" smtClean="0">
                <a:latin typeface="Verdana"/>
                <a:cs typeface="Verdana"/>
              </a:rPr>
              <a:t>ML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5840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461472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5187153"/>
            <a:ext cx="7443067" cy="13906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y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om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one 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ano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her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1480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add a 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c</a:t>
            </a:r>
            <a:r>
              <a:rPr sz="2800" spc="0" dirty="0" smtClean="0">
                <a:latin typeface="Verdana"/>
                <a:cs typeface="Verdana"/>
              </a:rPr>
              <a:t>essor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show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</a:t>
            </a:r>
            <a:r>
              <a:rPr sz="2800" spc="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9" dirty="0" smtClean="0">
                <a:latin typeface="Verdana"/>
                <a:cs typeface="Verdana"/>
              </a:rPr>
              <a:t>l</a:t>
            </a:r>
            <a:r>
              <a:rPr sz="2800" spc="0" dirty="0" smtClean="0">
                <a:latin typeface="Verdana"/>
                <a:cs typeface="Verdana"/>
              </a:rPr>
              <a:t>e con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ents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log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52680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45092" y="5763733"/>
            <a:ext cx="40134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84461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tit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2025650"/>
            <a:ext cx="6819900" cy="313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844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tit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654050"/>
            <a:ext cx="6372225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031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3995420" y="615504"/>
            <a:ext cx="54660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lang="en-US" sz="3800" spc="0" dirty="0" smtClean="0">
                <a:latin typeface="Verdana"/>
                <a:cs typeface="Verdana"/>
              </a:rPr>
              <a:t>Exception Handling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20" name="object 11"/>
          <p:cNvSpPr txBox="1"/>
          <p:nvPr/>
        </p:nvSpPr>
        <p:spPr>
          <a:xfrm>
            <a:off x="1355090" y="1720851"/>
            <a:ext cx="7711018" cy="434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endParaRPr sz="2800" dirty="0">
              <a:latin typeface="Verdana"/>
              <a:cs typeface="Verdan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4700" y="2197933"/>
            <a:ext cx="8839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</a:t>
            </a:r>
            <a:r>
              <a:rPr lang="en-IN" dirty="0" err="1"/>
              <a:t>camelContext</a:t>
            </a:r>
            <a:r>
              <a:rPr lang="en-IN" dirty="0"/>
              <a:t> trace="false" id="</a:t>
            </a:r>
            <a:r>
              <a:rPr lang="en-IN" dirty="0" err="1"/>
              <a:t>camelContext</a:t>
            </a:r>
            <a:r>
              <a:rPr lang="en-IN" dirty="0"/>
              <a:t>"</a:t>
            </a:r>
          </a:p>
          <a:p>
            <a:r>
              <a:rPr lang="en-IN" dirty="0"/>
              <a:t>		</a:t>
            </a:r>
            <a:r>
              <a:rPr lang="en-IN" dirty="0" err="1"/>
              <a:t>xmlns</a:t>
            </a:r>
            <a:r>
              <a:rPr lang="en-IN" dirty="0"/>
              <a:t>="http://camel.apache.org/schema/spring"&gt;</a:t>
            </a:r>
          </a:p>
          <a:p>
            <a:r>
              <a:rPr lang="en-IN" dirty="0"/>
              <a:t>		&lt;route&gt; &lt;from </a:t>
            </a:r>
            <a:r>
              <a:rPr lang="en-IN" dirty="0" err="1"/>
              <a:t>uri</a:t>
            </a:r>
            <a:r>
              <a:rPr lang="en-IN" dirty="0"/>
              <a:t>="file:/c:/temp"/&gt;</a:t>
            </a:r>
          </a:p>
          <a:p>
            <a:r>
              <a:rPr lang="en-IN" dirty="0"/>
              <a:t>		&lt;to </a:t>
            </a:r>
            <a:r>
              <a:rPr lang="en-IN" dirty="0" err="1"/>
              <a:t>uri</a:t>
            </a:r>
            <a:r>
              <a:rPr lang="en-IN" dirty="0"/>
              <a:t>="file:/c:/temp1"/&gt;</a:t>
            </a:r>
          </a:p>
          <a:p>
            <a:r>
              <a:rPr lang="en-IN" dirty="0"/>
              <a:t>	    &lt;to </a:t>
            </a:r>
            <a:r>
              <a:rPr lang="en-IN" dirty="0" err="1"/>
              <a:t>uri</a:t>
            </a:r>
            <a:r>
              <a:rPr lang="en-IN" dirty="0"/>
              <a:t>="</a:t>
            </a:r>
            <a:r>
              <a:rPr lang="en-IN" dirty="0" err="1"/>
              <a:t>validator:file:c</a:t>
            </a:r>
            <a:r>
              <a:rPr lang="en-IN" dirty="0"/>
              <a:t>:/</a:t>
            </a:r>
            <a:r>
              <a:rPr lang="en-IN" dirty="0" err="1"/>
              <a:t>univ</a:t>
            </a:r>
            <a:r>
              <a:rPr lang="en-IN" dirty="0"/>
              <a:t>/EnrollmentInfo.xsd"/&gt;</a:t>
            </a:r>
          </a:p>
          <a:p>
            <a:r>
              <a:rPr lang="en-IN" dirty="0"/>
              <a:t>		&lt;</a:t>
            </a:r>
            <a:r>
              <a:rPr lang="en-IN" dirty="0" err="1"/>
              <a:t>onException</a:t>
            </a:r>
            <a:r>
              <a:rPr lang="en-IN" dirty="0"/>
              <a:t>&gt;</a:t>
            </a:r>
          </a:p>
          <a:p>
            <a:r>
              <a:rPr lang="en-IN" dirty="0"/>
              <a:t>			&lt;exception&gt;</a:t>
            </a:r>
            <a:r>
              <a:rPr lang="en-IN" dirty="0" err="1"/>
              <a:t>org.apache.camel.ValidationException</a:t>
            </a:r>
            <a:r>
              <a:rPr lang="en-IN" dirty="0"/>
              <a:t>&lt;/exception&gt;</a:t>
            </a:r>
          </a:p>
          <a:p>
            <a:r>
              <a:rPr lang="en-IN" dirty="0"/>
              <a:t>			</a:t>
            </a:r>
          </a:p>
          <a:p>
            <a:r>
              <a:rPr lang="en-IN" dirty="0"/>
              <a:t>			&lt;to </a:t>
            </a:r>
            <a:r>
              <a:rPr lang="en-IN" dirty="0" err="1"/>
              <a:t>uri</a:t>
            </a:r>
            <a:r>
              <a:rPr lang="en-IN" dirty="0"/>
              <a:t>="file:/c:/temp1/invalid"/&gt;</a:t>
            </a:r>
          </a:p>
          <a:p>
            <a:r>
              <a:rPr lang="en-IN" dirty="0"/>
              <a:t>		&lt;/</a:t>
            </a:r>
            <a:r>
              <a:rPr lang="en-IN" dirty="0" err="1"/>
              <a:t>onException</a:t>
            </a:r>
            <a:r>
              <a:rPr lang="en-IN" dirty="0"/>
              <a:t>&gt;</a:t>
            </a:r>
          </a:p>
          <a:p>
            <a:r>
              <a:rPr lang="en-IN" dirty="0"/>
              <a:t>		&lt;/route&gt;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&lt;/</a:t>
            </a:r>
            <a:r>
              <a:rPr lang="en-IN" dirty="0" err="1"/>
              <a:t>camelContext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2537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3995420" y="615504"/>
            <a:ext cx="54660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lang="en-US" sz="3800" spc="0" dirty="0" smtClean="0">
                <a:latin typeface="Verdana"/>
                <a:cs typeface="Verdana"/>
              </a:rPr>
              <a:t>Exception Handling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20" name="object 11"/>
          <p:cNvSpPr txBox="1"/>
          <p:nvPr/>
        </p:nvSpPr>
        <p:spPr>
          <a:xfrm>
            <a:off x="1355090" y="1720851"/>
            <a:ext cx="7711018" cy="434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endParaRPr sz="2800" dirty="0">
              <a:latin typeface="Verdana"/>
              <a:cs typeface="Verdan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4700" y="2197933"/>
            <a:ext cx="8839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</a:t>
            </a:r>
            <a:r>
              <a:rPr lang="en-IN" dirty="0" err="1"/>
              <a:t>camelContext</a:t>
            </a:r>
            <a:r>
              <a:rPr lang="en-IN" dirty="0"/>
              <a:t> trace="false" id="</a:t>
            </a:r>
            <a:r>
              <a:rPr lang="en-IN" dirty="0" err="1"/>
              <a:t>camelContext</a:t>
            </a:r>
            <a:r>
              <a:rPr lang="en-IN" dirty="0"/>
              <a:t>"</a:t>
            </a:r>
          </a:p>
          <a:p>
            <a:r>
              <a:rPr lang="en-IN" dirty="0"/>
              <a:t>		</a:t>
            </a:r>
            <a:r>
              <a:rPr lang="en-IN" dirty="0" err="1"/>
              <a:t>xmlns</a:t>
            </a:r>
            <a:r>
              <a:rPr lang="en-IN" dirty="0"/>
              <a:t>="http://camel.apache.org/schema/spring"&gt;</a:t>
            </a:r>
          </a:p>
          <a:p>
            <a:r>
              <a:rPr lang="en-IN" dirty="0"/>
              <a:t>		&lt;route&gt; &lt;from </a:t>
            </a:r>
            <a:r>
              <a:rPr lang="en-IN" dirty="0" err="1"/>
              <a:t>uri</a:t>
            </a:r>
            <a:r>
              <a:rPr lang="en-IN" dirty="0"/>
              <a:t>="file:/c:/temp"/&gt;</a:t>
            </a:r>
          </a:p>
          <a:p>
            <a:r>
              <a:rPr lang="en-IN" dirty="0"/>
              <a:t>		&lt;to </a:t>
            </a:r>
            <a:r>
              <a:rPr lang="en-IN" dirty="0" err="1"/>
              <a:t>uri</a:t>
            </a:r>
            <a:r>
              <a:rPr lang="en-IN" dirty="0"/>
              <a:t>="file:/c:/temp1"/&gt;</a:t>
            </a:r>
          </a:p>
          <a:p>
            <a:r>
              <a:rPr lang="en-IN" dirty="0"/>
              <a:t>	    &lt;to </a:t>
            </a:r>
            <a:r>
              <a:rPr lang="en-IN" dirty="0" err="1"/>
              <a:t>uri</a:t>
            </a:r>
            <a:r>
              <a:rPr lang="en-IN" dirty="0"/>
              <a:t>="</a:t>
            </a:r>
            <a:r>
              <a:rPr lang="en-IN" dirty="0" err="1"/>
              <a:t>validator:file:c</a:t>
            </a:r>
            <a:r>
              <a:rPr lang="en-IN" dirty="0"/>
              <a:t>:/</a:t>
            </a:r>
            <a:r>
              <a:rPr lang="en-IN" dirty="0" err="1"/>
              <a:t>univ</a:t>
            </a:r>
            <a:r>
              <a:rPr lang="en-IN" dirty="0"/>
              <a:t>/EnrollmentInfo.xsd"/&gt;</a:t>
            </a:r>
          </a:p>
          <a:p>
            <a:r>
              <a:rPr lang="en-IN" dirty="0"/>
              <a:t>		&lt;</a:t>
            </a:r>
            <a:r>
              <a:rPr lang="en-IN" dirty="0" err="1"/>
              <a:t>onException</a:t>
            </a:r>
            <a:r>
              <a:rPr lang="en-IN" dirty="0"/>
              <a:t>&gt;</a:t>
            </a:r>
          </a:p>
          <a:p>
            <a:r>
              <a:rPr lang="en-IN" dirty="0"/>
              <a:t>			&lt;exception&gt;</a:t>
            </a:r>
            <a:r>
              <a:rPr lang="en-IN" dirty="0" err="1"/>
              <a:t>org.apache.camel.ValidationException</a:t>
            </a:r>
            <a:r>
              <a:rPr lang="en-IN" dirty="0"/>
              <a:t>&lt;/exception&gt;</a:t>
            </a:r>
          </a:p>
          <a:p>
            <a:r>
              <a:rPr lang="en-IN" dirty="0"/>
              <a:t>			</a:t>
            </a:r>
          </a:p>
          <a:p>
            <a:r>
              <a:rPr lang="en-IN" dirty="0"/>
              <a:t>			&lt;to </a:t>
            </a:r>
            <a:r>
              <a:rPr lang="en-IN" dirty="0" err="1"/>
              <a:t>uri</a:t>
            </a:r>
            <a:r>
              <a:rPr lang="en-IN" dirty="0"/>
              <a:t>="file:/c:/temp1/invalid"/&gt;</a:t>
            </a:r>
          </a:p>
          <a:p>
            <a:r>
              <a:rPr lang="en-IN" dirty="0"/>
              <a:t>		&lt;/</a:t>
            </a:r>
            <a:r>
              <a:rPr lang="en-IN" dirty="0" err="1"/>
              <a:t>onException</a:t>
            </a:r>
            <a:r>
              <a:rPr lang="en-IN" dirty="0"/>
              <a:t>&gt;</a:t>
            </a:r>
          </a:p>
          <a:p>
            <a:r>
              <a:rPr lang="en-IN" dirty="0"/>
              <a:t>		&lt;/route&gt;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&lt;/</a:t>
            </a:r>
            <a:r>
              <a:rPr lang="en-IN" dirty="0" err="1"/>
              <a:t>camelContext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4728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231900" y="615504"/>
            <a:ext cx="822960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lang="en-US" sz="3800" spc="0" dirty="0" smtClean="0">
                <a:latin typeface="Verdana"/>
                <a:cs typeface="Verdana"/>
              </a:rPr>
              <a:t>On Exception Retry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20" name="object 11"/>
          <p:cNvSpPr txBox="1"/>
          <p:nvPr/>
        </p:nvSpPr>
        <p:spPr>
          <a:xfrm>
            <a:off x="1355090" y="1720851"/>
            <a:ext cx="7711018" cy="434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endParaRPr sz="2800" dirty="0">
              <a:latin typeface="Verdana"/>
              <a:cs typeface="Verdan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4700" y="2197933"/>
            <a:ext cx="8839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from("</a:t>
            </a:r>
            <a:r>
              <a:rPr lang="en-IN" dirty="0" err="1" smtClean="0"/>
              <a:t>direct:universityEmail</a:t>
            </a:r>
            <a:r>
              <a:rPr lang="en-IN" dirty="0" smtClean="0"/>
              <a:t>")</a:t>
            </a:r>
            <a:endParaRPr lang="en-IN" dirty="0"/>
          </a:p>
          <a:p>
            <a:r>
              <a:rPr lang="en-IN" dirty="0"/>
              <a:t>.</a:t>
            </a:r>
            <a:r>
              <a:rPr lang="en-IN" dirty="0" err="1"/>
              <a:t>onException</a:t>
            </a:r>
            <a:r>
              <a:rPr lang="en-IN" dirty="0"/>
              <a:t>(</a:t>
            </a:r>
            <a:r>
              <a:rPr lang="en-IN" dirty="0" err="1"/>
              <a:t>Exception.</a:t>
            </a:r>
            <a:r>
              <a:rPr lang="en-IN" b="1" dirty="0" err="1"/>
              <a:t>class</a:t>
            </a:r>
            <a:r>
              <a:rPr lang="en-IN" b="1" dirty="0" smtClean="0"/>
              <a:t>)</a:t>
            </a:r>
            <a:endParaRPr lang="en-IN" b="1" dirty="0"/>
          </a:p>
          <a:p>
            <a:r>
              <a:rPr lang="en-IN" dirty="0" smtClean="0"/>
              <a:t>.</a:t>
            </a:r>
            <a:r>
              <a:rPr lang="en-IN" dirty="0" err="1"/>
              <a:t>maximumRedeliveries</a:t>
            </a:r>
            <a:r>
              <a:rPr lang="en-IN" dirty="0"/>
              <a:t>(3)</a:t>
            </a:r>
          </a:p>
          <a:p>
            <a:r>
              <a:rPr lang="en-IN" dirty="0"/>
              <a:t>.</a:t>
            </a:r>
            <a:r>
              <a:rPr lang="en-IN" dirty="0" err="1"/>
              <a:t>redeliveryDelay</a:t>
            </a:r>
            <a:r>
              <a:rPr lang="en-IN" dirty="0"/>
              <a:t>(5000)</a:t>
            </a:r>
          </a:p>
          <a:p>
            <a:endParaRPr lang="en-US" u="sng" dirty="0"/>
          </a:p>
          <a:p>
            <a:r>
              <a:rPr lang="en-IN" dirty="0"/>
              <a:t>.end()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63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62380" y="615504"/>
            <a:ext cx="543959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Enterprise 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tegrati</a:t>
            </a:r>
            <a:r>
              <a:rPr sz="3800" spc="-9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74154" y="615504"/>
            <a:ext cx="210829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Patter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290" y="1829159"/>
            <a:ext cx="7645730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Look at 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ome of the E</a:t>
            </a:r>
            <a:r>
              <a:rPr sz="3200" spc="-4" dirty="0" smtClean="0">
                <a:latin typeface="Verdana"/>
                <a:cs typeface="Verdana"/>
              </a:rPr>
              <a:t>I</a:t>
            </a:r>
            <a:r>
              <a:rPr sz="3200" spc="0" dirty="0" smtClean="0">
                <a:latin typeface="Verdana"/>
                <a:cs typeface="Verdana"/>
              </a:rPr>
              <a:t>Ps availa</a:t>
            </a:r>
            <a:r>
              <a:rPr sz="3200" spc="-9" dirty="0" smtClean="0">
                <a:latin typeface="Verdana"/>
                <a:cs typeface="Verdana"/>
              </a:rPr>
              <a:t>bl</a:t>
            </a:r>
            <a:r>
              <a:rPr sz="3200" spc="0" dirty="0" smtClean="0">
                <a:latin typeface="Verdana"/>
                <a:cs typeface="Verdana"/>
              </a:rPr>
              <a:t>e </a:t>
            </a:r>
            <a:r>
              <a:rPr sz="3200" spc="-9" dirty="0" smtClean="0">
                <a:latin typeface="Verdana"/>
                <a:cs typeface="Verdana"/>
              </a:rPr>
              <a:t>i</a:t>
            </a:r>
            <a:r>
              <a:rPr sz="3200" spc="0" dirty="0" smtClean="0">
                <a:latin typeface="Verdana"/>
                <a:cs typeface="Verdana"/>
              </a:rPr>
              <a:t>n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am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5090" y="2988783"/>
            <a:ext cx="370026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Goals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and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cases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30696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3565363"/>
            <a:ext cx="2916129" cy="957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</a:t>
            </a:r>
            <a:r>
              <a:rPr sz="4200" spc="-4" baseline="-1959" dirty="0" smtClean="0">
                <a:latin typeface="Verdana"/>
                <a:cs typeface="Verdana"/>
              </a:rPr>
              <a:t>mp</a:t>
            </a:r>
            <a:r>
              <a:rPr sz="4200" spc="0" baseline="-1959" dirty="0" smtClean="0">
                <a:latin typeface="Verdana"/>
                <a:cs typeface="Verdana"/>
              </a:rPr>
              <a:t>le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en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a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6171" y="3565363"/>
            <a:ext cx="401349" cy="957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2804" y="3565363"/>
            <a:ext cx="655350" cy="957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63336" y="3565363"/>
            <a:ext cx="171615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6462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3336" y="4141943"/>
            <a:ext cx="123844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6341" y="4141943"/>
            <a:ext cx="81997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XML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1516" y="4141943"/>
            <a:ext cx="79301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2228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290" y="4727299"/>
            <a:ext cx="177564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xercise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82046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7207250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-41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Pipeli</a:t>
            </a:r>
            <a:r>
              <a:rPr sz="3800" u="heavy" spc="-4" dirty="0" smtClean="0">
                <a:latin typeface="Verdana"/>
                <a:cs typeface="Verdana"/>
              </a:rPr>
              <a:t>n</a:t>
            </a:r>
            <a:r>
              <a:rPr sz="3800" u="heavy" spc="0" dirty="0" smtClean="0">
                <a:latin typeface="Verdana"/>
                <a:cs typeface="Verdana"/>
              </a:rPr>
              <a:t>e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7996142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can you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u</a:t>
            </a:r>
            <a:r>
              <a:rPr sz="3200" spc="-9" dirty="0" smtClean="0">
                <a:latin typeface="Verdana"/>
                <a:cs typeface="Verdana"/>
              </a:rPr>
              <a:t>i</a:t>
            </a:r>
            <a:r>
              <a:rPr sz="3200" spc="0" dirty="0" smtClean="0">
                <a:latin typeface="Verdana"/>
                <a:cs typeface="Verdana"/>
              </a:rPr>
              <a:t>ld compl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 </a:t>
            </a:r>
            <a:r>
              <a:rPr sz="3200" spc="4" dirty="0" smtClean="0">
                <a:latin typeface="Verdana"/>
                <a:cs typeface="Verdana"/>
              </a:rPr>
              <a:t>p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es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ing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from in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e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en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ent servi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es?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2988783"/>
            <a:ext cx="6890508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ex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licit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&lt;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eline/&gt;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/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eline()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ut also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ha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ens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y </a:t>
            </a:r>
            <a:r>
              <a:rPr sz="4200" spc="-4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ault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in a 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ou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0696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36462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4149449"/>
            <a:ext cx="7362544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ro</a:t>
            </a:r>
            <a:r>
              <a:rPr sz="3200" spc="-4" dirty="0" smtClean="0">
                <a:latin typeface="Verdana"/>
                <a:cs typeface="Verdana"/>
              </a:rPr>
              <a:t>ce</a:t>
            </a:r>
            <a:r>
              <a:rPr sz="3200" spc="0" dirty="0" smtClean="0">
                <a:latin typeface="Verdana"/>
                <a:cs typeface="Verdana"/>
              </a:rPr>
              <a:t>ssi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 r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q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ir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424388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4643479"/>
            <a:ext cx="3425666" cy="925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va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idatio</a:t>
            </a:r>
            <a:r>
              <a:rPr sz="3200" spc="-9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, sto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k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22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b</a:t>
            </a:r>
            <a:r>
              <a:rPr sz="4800" spc="0" baseline="-1714" dirty="0" smtClean="0">
                <a:latin typeface="Verdana"/>
                <a:cs typeface="Verdana"/>
              </a:rPr>
              <a:t>acko</a:t>
            </a:r>
            <a:r>
              <a:rPr sz="4800" spc="-4" baseline="-1714" dirty="0" smtClean="0">
                <a:latin typeface="Verdana"/>
                <a:cs typeface="Verdana"/>
              </a:rPr>
              <a:t>rd</a:t>
            </a:r>
            <a:r>
              <a:rPr sz="4800" spc="0" baseline="-1714" dirty="0" smtClean="0">
                <a:latin typeface="Verdana"/>
                <a:cs typeface="Verdana"/>
              </a:rPr>
              <a:t>ering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5325" y="4643479"/>
            <a:ext cx="186966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c</a:t>
            </a: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4" dirty="0" smtClean="0">
                <a:latin typeface="Verdana"/>
                <a:cs typeface="Verdana"/>
              </a:rPr>
              <a:t>k</a:t>
            </a:r>
            <a:r>
              <a:rPr sz="3200" spc="0" dirty="0" smtClean="0">
                <a:latin typeface="Verdana"/>
                <a:cs typeface="Verdana"/>
              </a:rPr>
              <a:t>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31254" y="4643479"/>
            <a:ext cx="84065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and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984250"/>
            <a:ext cx="35102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52873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66442" y="984250"/>
            <a:ext cx="351354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5" y="7131050"/>
            <a:ext cx="676275" cy="2571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7131050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97579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5258" y="615504"/>
            <a:ext cx="196627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Pipeli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290" y="1829159"/>
            <a:ext cx="3293149" cy="1557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le:</a:t>
            </a:r>
            <a:endParaRPr sz="3200">
              <a:latin typeface="Verdana"/>
              <a:cs typeface="Verdana"/>
            </a:endParaRPr>
          </a:p>
          <a:p>
            <a:pPr marL="81279" marR="30479">
              <a:lnSpc>
                <a:spcPct val="95825"/>
              </a:lnSpc>
              <a:spcBef>
                <a:spcPts val="783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25119" marR="1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"direct:validation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25119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"direct:stock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2511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"direct:backorder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3820" y="2373629"/>
            <a:ext cx="3468409" cy="1242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39" marR="30479">
              <a:lnSpc>
                <a:spcPct val="95825"/>
              </a:lnSpc>
              <a:spcBef>
                <a:spcPts val="7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.pipeline()</a:t>
            </a:r>
            <a:endParaRPr sz="1600">
              <a:latin typeface="Times New Roman"/>
              <a:cs typeface="Times New Roman"/>
            </a:endParaRPr>
          </a:p>
          <a:p>
            <a:pPr marL="500379" marR="1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"direct:validation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00379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"direct:stock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0037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"direct:backorder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69" y="4570730"/>
            <a:ext cx="3835244" cy="1493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1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"direct:validati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o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n"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"direct:stock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"direct:backor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d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er"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5270" y="4658359"/>
            <a:ext cx="4079084" cy="20002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39" marR="31555">
              <a:lnSpc>
                <a:spcPct val="95825"/>
              </a:lnSpc>
              <a:spcBef>
                <a:spcPts val="2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39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pipeline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79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"direct:validation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500379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"direct:stock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500379" marR="31555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"direct:backorder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39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pipeline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97480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5158" y="615504"/>
            <a:ext cx="21728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Message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7800" y="615504"/>
            <a:ext cx="132361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Filter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830" y="1829159"/>
            <a:ext cx="7281220" cy="28431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7160" marR="61386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can </a:t>
            </a:r>
            <a:r>
              <a:rPr sz="3200" spc="4" dirty="0" smtClean="0">
                <a:latin typeface="Verdana"/>
                <a:cs typeface="Verdana"/>
              </a:rPr>
              <a:t>y</a:t>
            </a:r>
            <a:r>
              <a:rPr sz="3200" spc="0" dirty="0" smtClean="0">
                <a:latin typeface="Verdana"/>
                <a:cs typeface="Verdana"/>
              </a:rPr>
              <a:t>ou avoid re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eivi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</a:t>
            </a:r>
            <a:endParaRPr sz="3200">
              <a:latin typeface="Verdana"/>
              <a:cs typeface="Verdana"/>
            </a:endParaRPr>
          </a:p>
          <a:p>
            <a:pPr marL="137160" marR="61386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uninteresting 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es?</a:t>
            </a:r>
            <a:endParaRPr sz="3200">
              <a:latin typeface="Verdana"/>
              <a:cs typeface="Verdana"/>
            </a:endParaRPr>
          </a:p>
          <a:p>
            <a:pPr marL="137160">
              <a:lnSpc>
                <a:spcPct val="101277"/>
              </a:lnSpc>
              <a:spcBef>
                <a:spcPts val="141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o</a:t>
            </a:r>
            <a:r>
              <a:rPr sz="3200" spc="-9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ly co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y 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-4" dirty="0" smtClean="0">
                <a:latin typeface="Verdana"/>
                <a:cs typeface="Verdana"/>
              </a:rPr>
              <a:t>M</a:t>
            </a:r>
            <a:r>
              <a:rPr sz="3200" spc="0" dirty="0" smtClean="0">
                <a:latin typeface="Verdana"/>
                <a:cs typeface="Verdana"/>
              </a:rPr>
              <a:t>L 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iles 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rom to 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ir</a:t>
            </a:r>
            <a:r>
              <a:rPr sz="3200" spc="-4" dirty="0" smtClean="0">
                <a:latin typeface="Verdana"/>
                <a:cs typeface="Verdana"/>
              </a:rPr>
              <a:t>/</a:t>
            </a:r>
            <a:r>
              <a:rPr sz="3200" spc="0" dirty="0" smtClean="0">
                <a:latin typeface="Verdana"/>
                <a:cs typeface="Verdana"/>
              </a:rPr>
              <a:t>b</a:t>
            </a:r>
            <a:endParaRPr sz="3200">
              <a:latin typeface="Verdana"/>
              <a:cs typeface="Verdana"/>
            </a:endParaRPr>
          </a:p>
          <a:p>
            <a:pPr marL="12700" marR="61386">
              <a:lnSpc>
                <a:spcPts val="1825"/>
              </a:lnSpc>
              <a:spcBef>
                <a:spcPts val="91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"file:dir/a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61386">
              <a:lnSpc>
                <a:spcPct val="95825"/>
              </a:lnSpc>
              <a:spcBef>
                <a:spcPts val="8"/>
              </a:spcBef>
            </a:pPr>
            <a:r>
              <a:rPr sz="1600" dirty="0" smtClean="0">
                <a:latin typeface="Times New Roman"/>
                <a:cs typeface="Times New Roman"/>
              </a:rPr>
              <a:t>.filter(header(Exchange</a:t>
            </a:r>
            <a:r>
              <a:rPr sz="1600" spc="-14" dirty="0" smtClean="0">
                <a:latin typeface="Times New Roman"/>
                <a:cs typeface="Times New Roman"/>
              </a:rPr>
              <a:t>.</a:t>
            </a:r>
            <a:r>
              <a:rPr sz="16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FILE_NAME</a:t>
            </a:r>
            <a:r>
              <a:rPr sz="1600" spc="0" dirty="0" smtClean="0">
                <a:latin typeface="Times New Roman"/>
                <a:cs typeface="Times New Roman"/>
              </a:rPr>
              <a:t>).endsWith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".xml"</a:t>
            </a:r>
            <a:r>
              <a:rPr sz="1600" spc="0" dirty="0" smtClean="0">
                <a:latin typeface="Times New Roman"/>
                <a:cs typeface="Times New Roman"/>
              </a:rPr>
              <a:t>))</a:t>
            </a:r>
            <a:endParaRPr sz="1600">
              <a:latin typeface="Times New Roman"/>
              <a:cs typeface="Times New Roman"/>
            </a:endParaRPr>
          </a:p>
          <a:p>
            <a:pPr marL="469900" marR="61386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"file:dir/b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35670" y="2996289"/>
            <a:ext cx="105220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/</a:t>
            </a: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780" y="5154930"/>
            <a:ext cx="6333509" cy="174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23"/>
              </a:spcBef>
            </a:pPr>
            <a:r>
              <a:rPr sz="1600" spc="11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3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"file:dir/a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140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filter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927100">
              <a:lnSpc>
                <a:spcPct val="95825"/>
              </a:lnSpc>
              <a:spcBef>
                <a:spcPts val="150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simple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spc="0" dirty="0" smtClean="0">
                <a:latin typeface="Times New Roman"/>
                <a:cs typeface="Times New Roman"/>
              </a:rPr>
              <a:t>${file:name}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contains</a:t>
            </a:r>
            <a:r>
              <a:rPr sz="1600" spc="383" dirty="0" smtClean="0">
                <a:latin typeface="Times New Roman"/>
                <a:cs typeface="Times New Roman"/>
              </a:rPr>
              <a:t> </a:t>
            </a:r>
            <a:r>
              <a:rPr sz="1600" spc="-19" dirty="0" smtClean="0">
                <a:latin typeface="Times New Roman"/>
                <a:cs typeface="Times New Roman"/>
              </a:rPr>
              <a:t>'</a:t>
            </a:r>
            <a:r>
              <a:rPr sz="1600" spc="0" dirty="0" smtClean="0">
                <a:latin typeface="Times New Roman"/>
                <a:cs typeface="Times New Roman"/>
              </a:rPr>
              <a:t>xml</a:t>
            </a:r>
            <a:r>
              <a:rPr sz="1600" spc="9" dirty="0" smtClean="0">
                <a:latin typeface="Times New Roman"/>
                <a:cs typeface="Times New Roman"/>
              </a:rPr>
              <a:t>'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simple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927100" marR="30479">
              <a:lnSpc>
                <a:spcPct val="95825"/>
              </a:lnSpc>
              <a:spcBef>
                <a:spcPts val="100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"file:dir/b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filter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</a:t>
            </a:r>
            <a:r>
              <a:rPr sz="3800" u="heavy" spc="2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Sidetrack:</a:t>
            </a:r>
            <a:r>
              <a:rPr sz="3800" u="heavy" spc="-5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Languages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290" y="1829159"/>
            <a:ext cx="6664105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5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IPs o</a:t>
            </a:r>
            <a:r>
              <a:rPr sz="3200" spc="-9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ten re</a:t>
            </a:r>
            <a:r>
              <a:rPr sz="3200" spc="-4" dirty="0" smtClean="0">
                <a:latin typeface="Verdana"/>
                <a:cs typeface="Verdana"/>
              </a:rPr>
              <a:t>qu</a:t>
            </a:r>
            <a:r>
              <a:rPr sz="3200" spc="0" dirty="0" smtClean="0">
                <a:latin typeface="Verdana"/>
                <a:cs typeface="Verdana"/>
              </a:rPr>
              <a:t>ire an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ex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re</a:t>
            </a:r>
            <a:r>
              <a:rPr sz="4800" spc="-4" baseline="-1714" dirty="0" smtClean="0">
                <a:latin typeface="Verdana"/>
                <a:cs typeface="Verdana"/>
              </a:rPr>
              <a:t>s</a:t>
            </a:r>
            <a:r>
              <a:rPr sz="4800" spc="0" baseline="-1714" dirty="0" smtClean="0">
                <a:latin typeface="Verdana"/>
                <a:cs typeface="Verdana"/>
              </a:rPr>
              <a:t>sio</a:t>
            </a:r>
            <a:r>
              <a:rPr sz="4800" spc="-4" baseline="-1714" dirty="0" smtClean="0">
                <a:latin typeface="Verdana"/>
                <a:cs typeface="Verdana"/>
              </a:rPr>
              <a:t>n/p</a:t>
            </a:r>
            <a:r>
              <a:rPr sz="4800" spc="0" baseline="-1714" dirty="0" smtClean="0">
                <a:latin typeface="Verdana"/>
                <a:cs typeface="Verdana"/>
              </a:rPr>
              <a:t>re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icate, w</a:t>
            </a:r>
            <a:r>
              <a:rPr sz="4800" spc="-4" baseline="-1714" dirty="0" smtClean="0">
                <a:latin typeface="Verdana"/>
                <a:cs typeface="Verdana"/>
              </a:rPr>
              <a:t>h</a:t>
            </a:r>
            <a:r>
              <a:rPr sz="4800" spc="0" baseline="-1714" dirty="0" smtClean="0">
                <a:latin typeface="Verdana"/>
                <a:cs typeface="Verdana"/>
              </a:rPr>
              <a:t>ich can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3114" y="2323189"/>
            <a:ext cx="58123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290" y="2817219"/>
            <a:ext cx="427593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ex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ressed in several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5514" y="2817219"/>
            <a:ext cx="227400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La</a:t>
            </a:r>
            <a:r>
              <a:rPr sz="3200" spc="-4" dirty="0" smtClean="0">
                <a:latin typeface="Verdana"/>
                <a:cs typeface="Verdana"/>
              </a:rPr>
              <a:t>ng</a:t>
            </a:r>
            <a:r>
              <a:rPr sz="3200" spc="0" dirty="0" smtClean="0">
                <a:latin typeface="Verdana"/>
                <a:cs typeface="Verdana"/>
              </a:rPr>
              <a:t>ua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090" y="3481543"/>
            <a:ext cx="3596228" cy="32651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3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hea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er, cons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ct val="101277"/>
              </a:lnSpc>
              <a:spcBef>
                <a:spcPts val="996"/>
              </a:spcBef>
            </a:pPr>
            <a:r>
              <a:rPr sz="2800" spc="0" dirty="0" smtClean="0">
                <a:latin typeface="Verdana"/>
                <a:cs typeface="Verdana"/>
              </a:rPr>
              <a:t>si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ct val="101277"/>
              </a:lnSpc>
              <a:spcBef>
                <a:spcPts val="1137"/>
              </a:spcBef>
            </a:pPr>
            <a:r>
              <a:rPr sz="2800" spc="0" dirty="0" smtClean="0">
                <a:latin typeface="Verdana"/>
                <a:cs typeface="Verdana"/>
              </a:rPr>
              <a:t>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h, x</a:t>
            </a: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0" dirty="0" smtClean="0">
                <a:latin typeface="Verdana"/>
                <a:cs typeface="Verdana"/>
              </a:rPr>
              <a:t>uery</a:t>
            </a:r>
            <a:endParaRPr sz="2800">
              <a:latin typeface="Verdana"/>
              <a:cs typeface="Verdana"/>
            </a:endParaRPr>
          </a:p>
          <a:p>
            <a:pPr marL="12700" marR="2353058">
              <a:lnSpc>
                <a:spcPts val="3402"/>
              </a:lnSpc>
              <a:spcBef>
                <a:spcPts val="1137"/>
              </a:spcBef>
            </a:pPr>
            <a:r>
              <a:rPr sz="2800" spc="-4" dirty="0" smtClean="0">
                <a:latin typeface="Verdana"/>
                <a:cs typeface="Verdana"/>
              </a:rPr>
              <a:t>O</a:t>
            </a:r>
            <a:r>
              <a:rPr sz="2800" spc="0" dirty="0" smtClean="0">
                <a:latin typeface="Verdana"/>
                <a:cs typeface="Verdana"/>
              </a:rPr>
              <a:t>GNL </a:t>
            </a:r>
            <a:endParaRPr sz="2800">
              <a:latin typeface="Verdana"/>
              <a:cs typeface="Verdana"/>
            </a:endParaRPr>
          </a:p>
          <a:p>
            <a:pPr marL="12700" marR="2353058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J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P EL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30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cri</a:t>
            </a:r>
            <a:r>
              <a:rPr sz="4200" spc="-4" baseline="-1959" dirty="0" smtClean="0">
                <a:latin typeface="Verdana"/>
                <a:cs typeface="Verdana"/>
              </a:rPr>
              <a:t>pt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lan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ua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240" y="356242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414027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47168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52934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587001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6433" y="6365713"/>
            <a:ext cx="338609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like Ru</a:t>
            </a:r>
            <a:r>
              <a:rPr sz="2800" spc="-9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y, Groo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y,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7974" y="6365713"/>
            <a:ext cx="46680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...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64465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6942293"/>
            <a:ext cx="1015873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tabLst>
                <a:tab pos="10083800" algn="l"/>
              </a:tabLst>
            </a:pPr>
            <a:r>
              <a:rPr sz="1875" strike="sngStrike" baseline="32466" dirty="0" smtClean="0">
                <a:latin typeface="Times New Roman"/>
                <a:cs typeface="Times New Roman"/>
              </a:rPr>
              <a:t>                         </a:t>
            </a:r>
            <a:r>
              <a:rPr sz="1875" strike="sngStrike" spc="89" baseline="32466" dirty="0" smtClean="0">
                <a:latin typeface="Times New Roman"/>
                <a:cs typeface="Times New Roman"/>
              </a:rPr>
              <a:t> </a:t>
            </a:r>
            <a:r>
              <a:rPr sz="1875" strike="sngStrike" spc="0" baseline="32466" dirty="0" smtClean="0">
                <a:latin typeface="Times New Roman"/>
                <a:cs typeface="Times New Roman"/>
              </a:rPr>
              <a:t>●    </a:t>
            </a:r>
            <a:r>
              <a:rPr sz="1875" strike="sngStrike" spc="-14" baseline="32466" dirty="0" smtClean="0">
                <a:latin typeface="Times New Roman"/>
                <a:cs typeface="Times New Roman"/>
              </a:rPr>
              <a:t> </a:t>
            </a:r>
            <a:r>
              <a:rPr sz="2800" strike="sngStrike" spc="0" dirty="0" smtClean="0">
                <a:latin typeface="Verdana"/>
                <a:cs typeface="Verdana"/>
              </a:rPr>
              <a:t>... 	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3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240792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900567" y="984250"/>
            <a:ext cx="1674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667455" y="984250"/>
            <a:ext cx="24125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24989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2668" y="615504"/>
            <a:ext cx="365480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C</a:t>
            </a:r>
            <a:r>
              <a:rPr sz="3800" spc="0" dirty="0" smtClean="0">
                <a:latin typeface="Verdana"/>
                <a:cs typeface="Verdana"/>
              </a:rPr>
              <a:t>ontent-based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8340" y="615504"/>
            <a:ext cx="158540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3195745" cy="159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6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to ro</a:t>
            </a:r>
            <a:r>
              <a:rPr sz="3200" spc="-9" dirty="0" smtClean="0">
                <a:latin typeface="Verdana"/>
                <a:cs typeface="Verdana"/>
              </a:rPr>
              <a:t>u</a:t>
            </a:r>
            <a:r>
              <a:rPr sz="3200" spc="4" dirty="0" smtClean="0">
                <a:latin typeface="Verdana"/>
                <a:cs typeface="Verdana"/>
              </a:rPr>
              <a:t>t</a:t>
            </a:r>
            <a:r>
              <a:rPr sz="3200" spc="0" dirty="0" smtClean="0">
                <a:latin typeface="Verdana"/>
                <a:cs typeface="Verdana"/>
              </a:rPr>
              <a:t>e a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reci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ient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ased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604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4" baseline="-1714" dirty="0" smtClean="0">
                <a:latin typeface="Verdana"/>
                <a:cs typeface="Verdana"/>
              </a:rPr>
              <a:t>x</a:t>
            </a:r>
            <a:r>
              <a:rPr sz="4800" spc="0" baseline="-1714" dirty="0" smtClean="0">
                <a:latin typeface="Verdana"/>
                <a:cs typeface="Verdana"/>
              </a:rPr>
              <a:t>amp</a:t>
            </a:r>
            <a:r>
              <a:rPr sz="4800" spc="-9" baseline="-1714" dirty="0" smtClean="0">
                <a:latin typeface="Verdana"/>
                <a:cs typeface="Verdana"/>
              </a:rPr>
              <a:t>l</a:t>
            </a:r>
            <a:r>
              <a:rPr sz="4800" spc="0" baseline="-1714" dirty="0" smtClean="0">
                <a:latin typeface="Verdana"/>
                <a:cs typeface="Verdana"/>
              </a:rPr>
              <a:t>e: s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nd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7027" y="1829159"/>
            <a:ext cx="5303094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59">
              <a:lnSpc>
                <a:spcPts val="3420"/>
              </a:lnSpc>
              <a:spcBef>
                <a:spcPts val="171"/>
              </a:spcBef>
            </a:pPr>
            <a:r>
              <a:rPr sz="3200" spc="4" dirty="0" smtClean="0">
                <a:latin typeface="Verdana"/>
                <a:cs typeface="Verdana"/>
              </a:rPr>
              <a:t>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 to t</a:t>
            </a: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0" dirty="0" smtClean="0">
                <a:latin typeface="Verdana"/>
                <a:cs typeface="Verdana"/>
              </a:rPr>
              <a:t>e corr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ct</a:t>
            </a:r>
            <a:endParaRPr sz="3200">
              <a:latin typeface="Verdana"/>
              <a:cs typeface="Verdana"/>
            </a:endParaRPr>
          </a:p>
          <a:p>
            <a:pPr marL="80975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on the messa</a:t>
            </a:r>
            <a:r>
              <a:rPr sz="4800" spc="-4" baseline="-1714" dirty="0" smtClean="0">
                <a:latin typeface="Verdana"/>
                <a:cs typeface="Verdana"/>
              </a:rPr>
              <a:t>g</a:t>
            </a:r>
            <a:r>
              <a:rPr sz="4800" spc="0" baseline="-1714" dirty="0" smtClean="0">
                <a:latin typeface="Verdana"/>
                <a:cs typeface="Verdana"/>
              </a:rPr>
              <a:t>e content?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99306" y="2996289"/>
            <a:ext cx="357262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s to 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4" dirty="0" smtClean="0">
                <a:latin typeface="Verdana"/>
                <a:cs typeface="Verdana"/>
              </a:rPr>
              <a:t>p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ci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ic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28458" y="2996289"/>
            <a:ext cx="117378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9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3490319"/>
            <a:ext cx="61123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fol</a:t>
            </a:r>
            <a:r>
              <a:rPr sz="3200" spc="-9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er custom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 la</a:t>
            </a:r>
            <a:r>
              <a:rPr sz="3200" spc="-4" dirty="0" smtClean="0">
                <a:latin typeface="Verdana"/>
                <a:cs typeface="Verdana"/>
              </a:rPr>
              <a:t>ng</a:t>
            </a:r>
            <a:r>
              <a:rPr sz="3200" spc="0" dirty="0" smtClean="0">
                <a:latin typeface="Verdana"/>
                <a:cs typeface="Verdana"/>
              </a:rPr>
              <a:t>ua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869" y="4429759"/>
            <a:ext cx="5178111" cy="1493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.choice()</a:t>
            </a:r>
            <a:endParaRPr sz="1600">
              <a:latin typeface="Times New Roman"/>
              <a:cs typeface="Times New Roman"/>
            </a:endParaRPr>
          </a:p>
          <a:p>
            <a:pPr marL="500380">
              <a:lnSpc>
                <a:spcPct val="95825"/>
              </a:lnSpc>
              <a:spcBef>
                <a:spcPts val="110"/>
              </a:spcBef>
            </a:pPr>
            <a:r>
              <a:rPr sz="1600" dirty="0" smtClean="0">
                <a:latin typeface="Times New Roman"/>
                <a:cs typeface="Times New Roman"/>
              </a:rPr>
              <a:t>.when(</a:t>
            </a:r>
            <a:r>
              <a:rPr sz="1650" dirty="0" smtClean="0">
                <a:latin typeface="Times New Roman"/>
                <a:cs typeface="Times New Roman"/>
              </a:rPr>
              <a:t>xpath</a:t>
            </a:r>
            <a:r>
              <a:rPr sz="1600" dirty="0" smtClean="0">
                <a:latin typeface="Times New Roman"/>
                <a:cs typeface="Times New Roman"/>
              </a:rPr>
              <a:t>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"/order/customer/@language</a:t>
            </a:r>
            <a:endParaRPr sz="1600">
              <a:latin typeface="Times New Roman"/>
              <a:cs typeface="Times New Roman"/>
            </a:endParaRPr>
          </a:p>
          <a:p>
            <a:pPr marL="744219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"file:orders/gd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00380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latin typeface="Times New Roman"/>
                <a:cs typeface="Times New Roman"/>
              </a:rPr>
              <a:t>.when(</a:t>
            </a:r>
            <a:r>
              <a:rPr sz="1650" dirty="0" smtClean="0">
                <a:latin typeface="Times New Roman"/>
                <a:cs typeface="Times New Roman"/>
              </a:rPr>
              <a:t>xpath</a:t>
            </a:r>
            <a:r>
              <a:rPr sz="1600" dirty="0" smtClean="0">
                <a:latin typeface="Times New Roman"/>
                <a:cs typeface="Times New Roman"/>
              </a:rPr>
              <a:t>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"/order/customer/@language</a:t>
            </a:r>
            <a:endParaRPr sz="1600">
              <a:latin typeface="Times New Roman"/>
              <a:cs typeface="Times New Roman"/>
            </a:endParaRPr>
          </a:p>
          <a:p>
            <a:pPr marL="744219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"file:orders/cy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4429" y="4936490"/>
            <a:ext cx="11506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= </a:t>
            </a:r>
            <a:r>
              <a:rPr sz="1600" spc="21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'gd'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429" y="5441950"/>
            <a:ext cx="11506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= </a:t>
            </a:r>
            <a:r>
              <a:rPr sz="1600" spc="21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'cy'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</a:t>
            </a:r>
            <a:r>
              <a:rPr sz="3800" u="heavy" spc="56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-4" dirty="0" smtClean="0">
                <a:latin typeface="Verdana"/>
                <a:cs typeface="Verdana"/>
              </a:rPr>
              <a:t>C</a:t>
            </a:r>
            <a:r>
              <a:rPr sz="3800" u="heavy" spc="0" dirty="0" smtClean="0">
                <a:latin typeface="Verdana"/>
                <a:cs typeface="Verdana"/>
              </a:rPr>
              <a:t>ontent-based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Router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1829159"/>
            <a:ext cx="6757531" cy="2286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9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s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nd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s to 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4" dirty="0" smtClean="0">
                <a:latin typeface="Verdana"/>
                <a:cs typeface="Verdana"/>
              </a:rPr>
              <a:t>p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ci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ic</a:t>
            </a:r>
            <a:endParaRPr sz="3200">
              <a:latin typeface="Verdana"/>
              <a:cs typeface="Verdana"/>
            </a:endParaRPr>
          </a:p>
          <a:p>
            <a:pPr marL="21590" marR="60959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fol</a:t>
            </a:r>
            <a:r>
              <a:rPr sz="3200" spc="-9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er custom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 la</a:t>
            </a:r>
            <a:r>
              <a:rPr sz="3200" spc="-4" dirty="0" smtClean="0">
                <a:latin typeface="Verdana"/>
                <a:cs typeface="Verdana"/>
              </a:rPr>
              <a:t>ng</a:t>
            </a:r>
            <a:r>
              <a:rPr sz="3200" spc="0" dirty="0" smtClean="0">
                <a:latin typeface="Verdana"/>
                <a:cs typeface="Verdana"/>
              </a:rPr>
              <a:t>ua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ct val="95825"/>
              </a:lnSpc>
              <a:spcBef>
                <a:spcPts val="2814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40" marR="60959">
              <a:lnSpc>
                <a:spcPct val="95825"/>
              </a:lnSpc>
              <a:spcBef>
                <a:spcPts val="10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6095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choice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80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when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28458" y="1829159"/>
            <a:ext cx="117378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9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4141470"/>
            <a:ext cx="4689336" cy="22529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4421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dirty="0" smtClean="0">
                <a:latin typeface="Times New Roman"/>
                <a:cs typeface="Times New Roman"/>
                <a:hlinkClick r:id="rId3"/>
              </a:rPr>
              <a:t>/order/customer/@language</a:t>
            </a:r>
            <a:endParaRPr sz="1600">
              <a:latin typeface="Times New Roman"/>
              <a:cs typeface="Times New Roman"/>
            </a:endParaRPr>
          </a:p>
          <a:p>
            <a:pPr marL="744219" marR="30479">
              <a:lnSpc>
                <a:spcPct val="95825"/>
              </a:lnSpc>
              <a:spcBef>
                <a:spcPts val="13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"file:orders/gd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500380" marR="3047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when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72440" marR="3429476" algn="ctr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when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74421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dirty="0" smtClean="0">
                <a:latin typeface="Times New Roman"/>
                <a:cs typeface="Times New Roman"/>
                <a:hlinkClick r:id="rId3"/>
              </a:rPr>
              <a:t>/order/customer/@language</a:t>
            </a:r>
            <a:endParaRPr sz="1600">
              <a:latin typeface="Times New Roman"/>
              <a:cs typeface="Times New Roman"/>
            </a:endParaRPr>
          </a:p>
          <a:p>
            <a:pPr marL="744219" marR="30479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"file:orders/cy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500380" marR="3047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when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28600" marR="3308826" algn="ctr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choice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9280" y="4141470"/>
            <a:ext cx="177819" cy="22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3120" y="4141470"/>
            <a:ext cx="1516399" cy="22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-9" dirty="0" smtClean="0">
                <a:latin typeface="Times New Roman"/>
                <a:cs typeface="Times New Roman"/>
              </a:rPr>
              <a:t>'</a:t>
            </a:r>
            <a:r>
              <a:rPr sz="1600" u="heavy" spc="0" dirty="0" smtClean="0">
                <a:latin typeface="Times New Roman"/>
                <a:cs typeface="Times New Roman"/>
              </a:rPr>
              <a:t>g</a:t>
            </a:r>
            <a:r>
              <a:rPr sz="1600" u="heavy" spc="-9" dirty="0" smtClean="0">
                <a:latin typeface="Times New Roman"/>
                <a:cs typeface="Times New Roman"/>
              </a:rPr>
              <a:t>d</a:t>
            </a:r>
            <a:r>
              <a:rPr sz="1600" spc="9" dirty="0" smtClean="0">
                <a:latin typeface="Times New Roman"/>
                <a:cs typeface="Times New Roman"/>
              </a:rPr>
              <a:t>'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9280" y="5153659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3120" y="5153659"/>
            <a:ext cx="151639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-9" dirty="0" smtClean="0">
                <a:latin typeface="Times New Roman"/>
                <a:cs typeface="Times New Roman"/>
              </a:rPr>
              <a:t>'</a:t>
            </a:r>
            <a:r>
              <a:rPr sz="1600" u="sng" spc="0" dirty="0" smtClean="0">
                <a:latin typeface="Times New Roman"/>
                <a:cs typeface="Times New Roman"/>
              </a:rPr>
              <a:t>c</a:t>
            </a:r>
            <a:r>
              <a:rPr sz="1600" u="sng" spc="-9" dirty="0" smtClean="0">
                <a:latin typeface="Times New Roman"/>
                <a:cs typeface="Times New Roman"/>
              </a:rPr>
              <a:t>y</a:t>
            </a:r>
            <a:r>
              <a:rPr sz="1600" spc="9" dirty="0" smtClean="0">
                <a:latin typeface="Times New Roman"/>
                <a:cs typeface="Times New Roman"/>
              </a:rPr>
              <a:t>'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17716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79010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516343" y="984250"/>
            <a:ext cx="1686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302436" y="984250"/>
            <a:ext cx="177755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</a:t>
            </a:r>
            <a:r>
              <a:rPr sz="3800" u="heavy" spc="-17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Multicast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7269470" cy="159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to ro</a:t>
            </a:r>
            <a:r>
              <a:rPr sz="3200" spc="-9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te </a:t>
            </a:r>
            <a:r>
              <a:rPr sz="3200" spc="4" dirty="0" smtClean="0">
                <a:latin typeface="Verdana"/>
                <a:cs typeface="Verdana"/>
              </a:rPr>
              <a:t>t</a:t>
            </a: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0" dirty="0" smtClean="0">
                <a:latin typeface="Verdana"/>
                <a:cs typeface="Verdana"/>
              </a:rPr>
              <a:t>e same m</a:t>
            </a:r>
            <a:r>
              <a:rPr sz="3200" spc="-9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ssage to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multi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reci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ients?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1604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4" baseline="-1714" dirty="0" smtClean="0">
                <a:latin typeface="Verdana"/>
                <a:cs typeface="Verdana"/>
              </a:rPr>
              <a:t>x</a:t>
            </a:r>
            <a:r>
              <a:rPr sz="4800" spc="0" baseline="-1714" dirty="0" smtClean="0">
                <a:latin typeface="Verdana"/>
                <a:cs typeface="Verdana"/>
              </a:rPr>
              <a:t>am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le: o</a:t>
            </a:r>
            <a:r>
              <a:rPr sz="4800" spc="-9" baseline="-1714" dirty="0" smtClean="0">
                <a:latin typeface="Verdana"/>
                <a:cs typeface="Verdana"/>
              </a:rPr>
              <a:t>r</a:t>
            </a:r>
            <a:r>
              <a:rPr sz="4800" spc="4" baseline="-1714" dirty="0" smtClean="0">
                <a:latin typeface="Verdana"/>
                <a:cs typeface="Verdana"/>
              </a:rPr>
              <a:t>d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r in</a:t>
            </a:r>
            <a:r>
              <a:rPr sz="4800" spc="-4" baseline="-1714" dirty="0" smtClean="0">
                <a:latin typeface="Verdana"/>
                <a:cs typeface="Verdana"/>
              </a:rPr>
              <a:t>f</a:t>
            </a:r>
            <a:r>
              <a:rPr sz="4800" spc="0" baseline="-1714" dirty="0" smtClean="0">
                <a:latin typeface="Verdana"/>
                <a:cs typeface="Verdana"/>
              </a:rPr>
              <a:t>ormation is se</a:t>
            </a:r>
            <a:r>
              <a:rPr sz="4800" spc="-4" baseline="-1714" dirty="0" smtClean="0">
                <a:latin typeface="Verdana"/>
                <a:cs typeface="Verdana"/>
              </a:rPr>
              <a:t>n</a:t>
            </a:r>
            <a:r>
              <a:rPr sz="4800" spc="0" baseline="-1714" dirty="0" smtClean="0">
                <a:latin typeface="Verdana"/>
                <a:cs typeface="Verdana"/>
              </a:rPr>
              <a:t>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89721" y="2996289"/>
            <a:ext cx="49395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4" dirty="0" smtClean="0">
                <a:latin typeface="Verdana"/>
                <a:cs typeface="Verdana"/>
              </a:rPr>
              <a:t>t</a:t>
            </a:r>
            <a:r>
              <a:rPr sz="3200" spc="0" dirty="0" smtClean="0">
                <a:latin typeface="Verdana"/>
                <a:cs typeface="Verdana"/>
              </a:rPr>
              <a:t>o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3490319"/>
            <a:ext cx="2893194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acco</a:t>
            </a:r>
            <a:r>
              <a:rPr sz="3200" spc="-9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nti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 as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22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e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artement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2941" y="3490319"/>
            <a:ext cx="88324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w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1725" y="3490319"/>
            <a:ext cx="54217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0352" y="3490319"/>
            <a:ext cx="212731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ul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il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4" dirty="0" smtClean="0">
                <a:latin typeface="Verdana"/>
                <a:cs typeface="Verdana"/>
              </a:rPr>
              <a:t>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nt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984250"/>
            <a:ext cx="33705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38903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707996" y="984250"/>
            <a:ext cx="337199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7879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5558" y="615504"/>
            <a:ext cx="2247527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Multicast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290" y="1829159"/>
            <a:ext cx="3990379" cy="1706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le:</a:t>
            </a:r>
            <a:endParaRPr sz="3200">
              <a:latin typeface="Verdana"/>
              <a:cs typeface="Verdana"/>
            </a:endParaRPr>
          </a:p>
          <a:p>
            <a:pPr marL="321309" marR="30479">
              <a:lnSpc>
                <a:spcPct val="95825"/>
              </a:lnSpc>
              <a:spcBef>
                <a:spcPts val="1953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65150" marR="3047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.multicast()</a:t>
            </a:r>
            <a:endParaRPr sz="1600">
              <a:latin typeface="Times New Roman"/>
              <a:cs typeface="Times New Roman"/>
            </a:endParaRPr>
          </a:p>
          <a:p>
            <a:pPr marL="778510" marR="3047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"direct:accounting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77851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"direct:fulfillment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0150" y="4249420"/>
            <a:ext cx="3836852" cy="9894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1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multicast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80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"direct:accounting"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0320" y="5008880"/>
            <a:ext cx="2997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150" y="5255875"/>
            <a:ext cx="4322924" cy="741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00380">
              <a:lnSpc>
                <a:spcPts val="1780"/>
              </a:lnSpc>
              <a:spcBef>
                <a:spcPts val="89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"direct:fulfillment" </a:t>
            </a:r>
            <a:r>
              <a:rPr sz="1650" spc="1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51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multicast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</a:t>
            </a:r>
            <a:r>
              <a:rPr sz="3800" u="heavy" spc="-21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Wire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Tap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8428799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to 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ect m</a:t>
            </a:r>
            <a:r>
              <a:rPr sz="3200" spc="-9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 t</a:t>
            </a: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0" dirty="0" smtClean="0">
                <a:latin typeface="Verdana"/>
                <a:cs typeface="Verdana"/>
              </a:rPr>
              <a:t>at trav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 f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m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en</a:t>
            </a:r>
            <a:r>
              <a:rPr sz="4800" spc="-4" baseline="-1714" dirty="0" smtClean="0">
                <a:latin typeface="Verdana"/>
                <a:cs typeface="Verdana"/>
              </a:rPr>
              <a:t>dp</a:t>
            </a:r>
            <a:r>
              <a:rPr sz="4800" spc="0" baseline="-1714" dirty="0" smtClean="0">
                <a:latin typeface="Verdana"/>
                <a:cs typeface="Verdana"/>
              </a:rPr>
              <a:t>oi</a:t>
            </a:r>
            <a:r>
              <a:rPr sz="4800" spc="-4" baseline="-1714" dirty="0" smtClean="0">
                <a:latin typeface="Verdana"/>
                <a:cs typeface="Verdana"/>
              </a:rPr>
              <a:t>n</a:t>
            </a:r>
            <a:r>
              <a:rPr sz="4800" spc="0" baseline="-1714" dirty="0" smtClean="0">
                <a:latin typeface="Verdana"/>
                <a:cs typeface="Verdana"/>
              </a:rPr>
              <a:t>t to the ot</a:t>
            </a:r>
            <a:r>
              <a:rPr sz="4800" spc="-4" baseline="-1714" dirty="0" smtClean="0">
                <a:latin typeface="Verdana"/>
                <a:cs typeface="Verdana"/>
              </a:rPr>
              <a:t>h</a:t>
            </a:r>
            <a:r>
              <a:rPr sz="4800" spc="0" baseline="-1714" dirty="0" smtClean="0">
                <a:latin typeface="Verdana"/>
                <a:cs typeface="Verdana"/>
              </a:rPr>
              <a:t>er?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2996289"/>
            <a:ext cx="4416542" cy="1905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we w</a:t>
            </a:r>
            <a:r>
              <a:rPr sz="3200" spc="4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t to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every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</a:t>
            </a:r>
            <a:endParaRPr sz="3200">
              <a:latin typeface="Verdana"/>
              <a:cs typeface="Verdana"/>
            </a:endParaRPr>
          </a:p>
          <a:p>
            <a:pPr marL="153669" marR="60960">
              <a:lnSpc>
                <a:spcPct val="95825"/>
              </a:lnSpc>
              <a:spcBef>
                <a:spcPts val="1794"/>
              </a:spcBef>
            </a:pPr>
            <a:r>
              <a:rPr sz="1600" dirty="0" smtClean="0">
                <a:latin typeface="Times New Roman"/>
                <a:cs typeface="Times New Roman"/>
              </a:rPr>
              <a:t>from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96240" marR="60960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.wireTap(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"file:audit/orders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96240" marR="6096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</a:t>
            </a:r>
            <a:r>
              <a:rPr sz="1600" spc="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6128" y="2996289"/>
            <a:ext cx="106214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ke</a:t>
            </a:r>
            <a:r>
              <a:rPr sz="3200" spc="-1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p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14541" y="2996289"/>
            <a:ext cx="3304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1434" y="2996289"/>
            <a:ext cx="103765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co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y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6275" y="2996289"/>
            <a:ext cx="47589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of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1869" y="5345430"/>
            <a:ext cx="4444844" cy="1242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2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>
              <a:lnSpc>
                <a:spcPct val="95825"/>
              </a:lnSpc>
              <a:spcBef>
                <a:spcPts val="9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wireTap</a:t>
            </a:r>
            <a:r>
              <a:rPr sz="1600" spc="474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"file:audit/orders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e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r"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365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38395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656230" y="984250"/>
            <a:ext cx="16859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712738" y="984250"/>
            <a:ext cx="33672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14320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01998" y="615504"/>
            <a:ext cx="23192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Recipie</a:t>
            </a:r>
            <a:r>
              <a:rPr sz="3800" spc="-1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3281" y="615504"/>
            <a:ext cx="94062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List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7274152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to route a mes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4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 to a l</a:t>
            </a:r>
            <a:r>
              <a:rPr sz="3200" spc="-19" dirty="0" smtClean="0">
                <a:latin typeface="Verdana"/>
                <a:cs typeface="Verdana"/>
              </a:rPr>
              <a:t>i</a:t>
            </a:r>
            <a:r>
              <a:rPr sz="3200" spc="0" dirty="0" smtClean="0">
                <a:latin typeface="Verdana"/>
                <a:cs typeface="Verdana"/>
              </a:rPr>
              <a:t>st of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ynami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ally s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ecified reci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ients?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2996289"/>
            <a:ext cx="354276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Th</a:t>
            </a:r>
            <a:r>
              <a:rPr sz="3200" spc="-9" dirty="0" smtClean="0">
                <a:latin typeface="Verdana"/>
                <a:cs typeface="Verdana"/>
              </a:rPr>
              <a:t>i</a:t>
            </a:r>
            <a:r>
              <a:rPr sz="3200" spc="0" dirty="0" smtClean="0">
                <a:latin typeface="Verdana"/>
                <a:cs typeface="Verdana"/>
              </a:rPr>
              <a:t>s 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IP can al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o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1555" y="2996289"/>
            <a:ext cx="58204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603" y="2996289"/>
            <a:ext cx="104995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sed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5824" y="2996289"/>
            <a:ext cx="4931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to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4464" y="2996289"/>
            <a:ext cx="107264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4" dirty="0" smtClean="0">
                <a:latin typeface="Verdana"/>
                <a:cs typeface="Verdana"/>
              </a:rPr>
              <a:t>b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ild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4256" y="2996289"/>
            <a:ext cx="3304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290" y="3490319"/>
            <a:ext cx="185974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Dynamic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9059" y="3490319"/>
            <a:ext cx="144851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Router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</a:t>
            </a:r>
            <a:r>
              <a:rPr sz="3800" u="heavy" spc="-45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Recipie</a:t>
            </a:r>
            <a:r>
              <a:rPr sz="3800" u="heavy" spc="-14" dirty="0" smtClean="0">
                <a:latin typeface="Verdana"/>
                <a:cs typeface="Verdana"/>
              </a:rPr>
              <a:t>n</a:t>
            </a:r>
            <a:r>
              <a:rPr sz="3800" u="heavy" spc="0" dirty="0" smtClean="0">
                <a:latin typeface="Verdana"/>
                <a:cs typeface="Verdana"/>
              </a:rPr>
              <a:t>t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List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60" y="1829159"/>
            <a:ext cx="8091985" cy="20214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573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s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nd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s to 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4" dirty="0" smtClean="0">
                <a:latin typeface="Verdana"/>
                <a:cs typeface="Verdana"/>
              </a:rPr>
              <a:t>p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ci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ic o</a:t>
            </a:r>
            <a:r>
              <a:rPr sz="3200" spc="-9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  <a:p>
            <a:pPr marL="125730" marR="60959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fol</a:t>
            </a:r>
            <a:r>
              <a:rPr sz="3200" spc="-9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er custom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 la</a:t>
            </a:r>
            <a:r>
              <a:rPr sz="3200" spc="-4" dirty="0" smtClean="0">
                <a:latin typeface="Verdana"/>
                <a:cs typeface="Verdana"/>
              </a:rPr>
              <a:t>ng</a:t>
            </a:r>
            <a:r>
              <a:rPr sz="3200" spc="0" dirty="0" smtClean="0">
                <a:latin typeface="Verdana"/>
                <a:cs typeface="Verdana"/>
              </a:rPr>
              <a:t>ua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ct val="95825"/>
              </a:lnSpc>
              <a:spcBef>
                <a:spcPts val="2714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.setHeader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"language"</a:t>
            </a:r>
            <a:r>
              <a:rPr sz="1600" spc="0" dirty="0" smtClean="0">
                <a:latin typeface="Times New Roman"/>
                <a:cs typeface="Times New Roman"/>
              </a:rPr>
              <a:t>).xpath(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"/order/customer/@language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.recipientList().simple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"file:orders/${header.language}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890" y="4415790"/>
            <a:ext cx="6272549" cy="2252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5269" marR="30479">
              <a:lnSpc>
                <a:spcPct val="95825"/>
              </a:lnSpc>
              <a:spcBef>
                <a:spcPts val="13"/>
              </a:spcBef>
            </a:pPr>
            <a:r>
              <a:rPr sz="1600" spc="11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3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5269" marR="30479">
              <a:lnSpc>
                <a:spcPct val="95825"/>
              </a:lnSpc>
              <a:spcBef>
                <a:spcPts val="100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setHeader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headerName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"language"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79" marR="3047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dirty="0" smtClean="0">
                <a:latin typeface="Times New Roman"/>
                <a:cs typeface="Times New Roman"/>
                <a:hlinkClick r:id="rId3"/>
              </a:rPr>
              <a:t>/order/customer/@languag</a:t>
            </a:r>
            <a:r>
              <a:rPr sz="1600" spc="-25" dirty="0" smtClean="0">
                <a:latin typeface="Times New Roman"/>
                <a:cs typeface="Times New Roman"/>
                <a:hlinkClick r:id="rId3"/>
              </a:rPr>
              <a:t>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5269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setHeader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5269" marR="30479">
              <a:lnSpc>
                <a:spcPct val="95825"/>
              </a:lnSpc>
              <a:spcBef>
                <a:spcPts val="150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recipientLis</a:t>
            </a:r>
            <a:r>
              <a:rPr sz="1600" spc="-1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7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simple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dirty="0" smtClean="0">
                <a:latin typeface="Times New Roman"/>
                <a:cs typeface="Times New Roman"/>
              </a:rPr>
              <a:t>file:orders/${header.language</a:t>
            </a:r>
            <a:r>
              <a:rPr sz="1600" spc="-14" dirty="0" smtClean="0">
                <a:latin typeface="Times New Roman"/>
                <a:cs typeface="Times New Roman"/>
              </a:rPr>
              <a:t>}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simple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5269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recipientLis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282702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84547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236127" y="984250"/>
            <a:ext cx="16985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248819" y="984250"/>
            <a:ext cx="28311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-1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EIP: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Splitter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7526580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can we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ro</a:t>
            </a:r>
            <a:r>
              <a:rPr sz="3200" spc="-4" dirty="0" smtClean="0">
                <a:latin typeface="Verdana"/>
                <a:cs typeface="Verdana"/>
              </a:rPr>
              <a:t>ce</a:t>
            </a:r>
            <a:r>
              <a:rPr sz="3200" spc="0" dirty="0" smtClean="0">
                <a:latin typeface="Verdana"/>
                <a:cs typeface="Verdana"/>
              </a:rPr>
              <a:t>ss a mes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4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 that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contai</a:t>
            </a:r>
            <a:r>
              <a:rPr sz="4800" spc="-4" baseline="-1714" dirty="0" smtClean="0">
                <a:latin typeface="Verdana"/>
                <a:cs typeface="Verdana"/>
              </a:rPr>
              <a:t>n</a:t>
            </a:r>
            <a:r>
              <a:rPr sz="4800" spc="0" baseline="-1714" dirty="0" smtClean="0">
                <a:latin typeface="Verdana"/>
                <a:cs typeface="Verdana"/>
              </a:rPr>
              <a:t>s multi</a:t>
            </a:r>
            <a:r>
              <a:rPr sz="4800" spc="-4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le elements?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6780" y="2996289"/>
            <a:ext cx="5774586" cy="1756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20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amp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e: a c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stom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 se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  <a:p>
            <a:pPr marL="29209" marR="60959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contai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ing multi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ers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ct val="95825"/>
              </a:lnSpc>
              <a:spcBef>
                <a:spcPts val="624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39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.split().xpath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"/orders/order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39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7248" y="2996289"/>
            <a:ext cx="3304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24141" y="2996289"/>
            <a:ext cx="127228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in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52256" y="2996289"/>
            <a:ext cx="69340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fi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19" y="5024120"/>
            <a:ext cx="3956069" cy="17462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1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split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80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dirty="0" smtClean="0">
                <a:latin typeface="Times New Roman"/>
                <a:cs typeface="Times New Roman"/>
              </a:rPr>
              <a:t>/orders/orde</a:t>
            </a:r>
            <a:r>
              <a:rPr sz="1600" spc="-9" dirty="0" smtClean="0">
                <a:latin typeface="Times New Roman"/>
                <a:cs typeface="Times New Roman"/>
              </a:rPr>
              <a:t>r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xpath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80" marR="30479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to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split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984250"/>
            <a:ext cx="35610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579535" y="984250"/>
            <a:ext cx="1692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17977" y="984250"/>
            <a:ext cx="356201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81020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8698" y="615504"/>
            <a:ext cx="280071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Aggregat</a:t>
            </a:r>
            <a:r>
              <a:rPr sz="3800" spc="-9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7198358" cy="159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59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w to com</a:t>
            </a:r>
            <a:r>
              <a:rPr sz="3200" spc="-9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ine s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v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ral, 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elated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ct val="101277"/>
              </a:lnSpc>
            </a:pPr>
            <a:r>
              <a:rPr sz="3200" spc="0" dirty="0" smtClean="0">
                <a:latin typeface="Verdana"/>
                <a:cs typeface="Verdana"/>
              </a:rPr>
              <a:t>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es into a sin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le 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e?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3870"/>
              </a:lnSpc>
              <a:spcBef>
                <a:spcPts val="1604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4" baseline="-1714" dirty="0" smtClean="0">
                <a:latin typeface="Verdana"/>
                <a:cs typeface="Verdana"/>
              </a:rPr>
              <a:t>x</a:t>
            </a:r>
            <a:r>
              <a:rPr sz="4800" spc="0" baseline="-1714" dirty="0" smtClean="0">
                <a:latin typeface="Verdana"/>
                <a:cs typeface="Verdana"/>
              </a:rPr>
              <a:t>amp</a:t>
            </a:r>
            <a:r>
              <a:rPr sz="4800" spc="-9" baseline="-1714" dirty="0" smtClean="0">
                <a:latin typeface="Verdana"/>
                <a:cs typeface="Verdana"/>
              </a:rPr>
              <a:t>l</a:t>
            </a:r>
            <a:r>
              <a:rPr sz="4800" spc="0" baseline="-1714" dirty="0" smtClean="0">
                <a:latin typeface="Verdana"/>
                <a:cs typeface="Verdana"/>
              </a:rPr>
              <a:t>e: our 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ustom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r </a:t>
            </a:r>
            <a:r>
              <a:rPr sz="4800" spc="-4" baseline="-1714" dirty="0" smtClean="0">
                <a:latin typeface="Verdana"/>
                <a:cs typeface="Verdana"/>
              </a:rPr>
              <a:t>n</a:t>
            </a:r>
            <a:r>
              <a:rPr sz="4800" spc="4" baseline="-1714" dirty="0" smtClean="0">
                <a:latin typeface="Verdana"/>
                <a:cs typeface="Verdana"/>
              </a:rPr>
              <a:t>o</a:t>
            </a:r>
            <a:r>
              <a:rPr sz="4800" spc="0" baseline="-1714" dirty="0" smtClean="0">
                <a:latin typeface="Verdana"/>
                <a:cs typeface="Verdana"/>
              </a:rPr>
              <a:t>w wa</a:t>
            </a:r>
            <a:r>
              <a:rPr sz="4800" spc="-9" baseline="-1714" dirty="0" smtClean="0">
                <a:latin typeface="Verdana"/>
                <a:cs typeface="Verdana"/>
              </a:rPr>
              <a:t>n</a:t>
            </a:r>
            <a:r>
              <a:rPr sz="4800" spc="4" baseline="-1714" dirty="0" smtClean="0">
                <a:latin typeface="Verdana"/>
                <a:cs typeface="Verdana"/>
              </a:rPr>
              <a:t>t</a:t>
            </a:r>
            <a:r>
              <a:rPr sz="4800" spc="0" baseline="-1714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7530" y="2996289"/>
            <a:ext cx="33043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30907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3490319"/>
            <a:ext cx="250271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si</a:t>
            </a:r>
            <a:r>
              <a:rPr sz="3200" spc="-4" dirty="0" smtClean="0">
                <a:latin typeface="Verdana"/>
                <a:cs typeface="Verdana"/>
              </a:rPr>
              <a:t>ng</a:t>
            </a:r>
            <a:r>
              <a:rPr sz="3200" spc="0" dirty="0" smtClean="0">
                <a:latin typeface="Verdana"/>
                <a:cs typeface="Verdana"/>
              </a:rPr>
              <a:t>le 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1984" y="3490319"/>
            <a:ext cx="264360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con</a:t>
            </a: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irmation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293" y="3490319"/>
            <a:ext cx="69373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0" dirty="0" smtClean="0">
                <a:latin typeface="Verdana"/>
                <a:cs typeface="Verdana"/>
              </a:rPr>
              <a:t>ile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0694" y="3490319"/>
            <a:ext cx="64912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f</a:t>
            </a:r>
            <a:r>
              <a:rPr sz="3200" spc="4" dirty="0" smtClean="0">
                <a:latin typeface="Verdana"/>
                <a:cs typeface="Verdana"/>
              </a:rPr>
              <a:t>o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5798" y="3490319"/>
            <a:ext cx="74501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</a:t>
            </a:r>
            <a:r>
              <a:rPr sz="3200" spc="-4" dirty="0" smtClean="0">
                <a:latin typeface="Verdana"/>
                <a:cs typeface="Verdana"/>
              </a:rPr>
              <a:t>h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7625" y="3490319"/>
            <a:ext cx="117378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9" dirty="0" smtClean="0">
                <a:latin typeface="Verdana"/>
                <a:cs typeface="Verdana"/>
              </a:rPr>
              <a:t>r</a:t>
            </a:r>
            <a:r>
              <a:rPr sz="3200" spc="4" dirty="0" smtClean="0">
                <a:latin typeface="Verdana"/>
                <a:cs typeface="Verdana"/>
              </a:rPr>
              <a:t>d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290" y="3984349"/>
            <a:ext cx="694550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file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4317" y="3984349"/>
            <a:ext cx="797439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she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8570" y="3984349"/>
            <a:ext cx="957699" cy="431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sent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081020" y="615504"/>
            <a:ext cx="11162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EIP: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68698" y="615504"/>
            <a:ext cx="280071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Aggregat</a:t>
            </a:r>
            <a:r>
              <a:rPr sz="3800" spc="-9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290" y="1829159"/>
            <a:ext cx="8563336" cy="9258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4" dirty="0" smtClean="0">
                <a:latin typeface="Verdana"/>
                <a:cs typeface="Verdana"/>
              </a:rPr>
              <a:t>g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atio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Strat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y r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4" dirty="0" smtClean="0">
                <a:latin typeface="Verdana"/>
                <a:cs typeface="Verdana"/>
              </a:rPr>
              <a:t>q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ir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d to com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the ex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han</a:t>
            </a:r>
            <a:r>
              <a:rPr sz="4800" spc="-4" baseline="-1714" dirty="0" smtClean="0">
                <a:latin typeface="Verdana"/>
                <a:cs typeface="Verdana"/>
              </a:rPr>
              <a:t>g</a:t>
            </a:r>
            <a:r>
              <a:rPr sz="4800" spc="0" baseline="-1714" dirty="0" smtClean="0">
                <a:latin typeface="Verdana"/>
                <a:cs typeface="Verdana"/>
              </a:rPr>
              <a:t>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090" y="2988783"/>
            <a:ext cx="721842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also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used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ul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icast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and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eci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ient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list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240" y="30696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3270" y="3956050"/>
            <a:ext cx="771209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</a:t>
            </a:r>
            <a:r>
              <a:rPr sz="1500" spc="15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500" spc="486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MyAggregationStrategy</a:t>
            </a:r>
            <a:r>
              <a:rPr sz="1500" spc="-186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implements</a:t>
            </a:r>
            <a:r>
              <a:rPr sz="1500" spc="51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AggregationStrategy </a:t>
            </a:r>
            <a:r>
              <a:rPr sz="1500" spc="271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1869" y="4432300"/>
            <a:ext cx="7940898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500" spc="3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Exchange</a:t>
            </a:r>
            <a:r>
              <a:rPr sz="1500" spc="-244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aggregate(Exchange</a:t>
            </a:r>
            <a:r>
              <a:rPr sz="1500" spc="399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oldExchange,</a:t>
            </a:r>
            <a:r>
              <a:rPr sz="1500" spc="322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Exchange</a:t>
            </a:r>
            <a:r>
              <a:rPr sz="1500" spc="446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newExchange)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2870" y="4432300"/>
            <a:ext cx="16829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470" y="4669790"/>
            <a:ext cx="282612" cy="4533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//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3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//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3370" y="4669790"/>
            <a:ext cx="6569186" cy="4533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575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oldExchange</a:t>
            </a:r>
            <a:r>
              <a:rPr sz="1500" spc="42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contains</a:t>
            </a:r>
            <a:r>
              <a:rPr sz="1500" spc="35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</a:t>
            </a:r>
            <a:r>
              <a:rPr sz="1500" spc="414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current</a:t>
            </a:r>
            <a:r>
              <a:rPr sz="1500" spc="52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aggregation</a:t>
            </a:r>
            <a:r>
              <a:rPr sz="1500" spc="6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result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3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newExchange </a:t>
            </a:r>
            <a:r>
              <a:rPr sz="1500" spc="22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is</a:t>
            </a:r>
            <a:r>
              <a:rPr sz="1500" spc="458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</a:t>
            </a:r>
            <a:r>
              <a:rPr sz="1500" spc="-4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new </a:t>
            </a:r>
            <a:r>
              <a:rPr sz="1500" spc="34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exchange</a:t>
            </a:r>
            <a:r>
              <a:rPr sz="1500" spc="61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to </a:t>
            </a:r>
            <a:r>
              <a:rPr sz="1500" spc="14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be</a:t>
            </a:r>
            <a:r>
              <a:rPr sz="1500" spc="316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added</a:t>
            </a:r>
            <a:r>
              <a:rPr sz="1500" spc="114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to</a:t>
            </a:r>
            <a:r>
              <a:rPr sz="1500" spc="19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</a:t>
            </a:r>
            <a:r>
              <a:rPr sz="1500" spc="1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result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470" y="5382260"/>
            <a:ext cx="282612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//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3370" y="5382260"/>
            <a:ext cx="6340586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this</a:t>
            </a:r>
            <a:r>
              <a:rPr sz="1500" spc="27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would  return</a:t>
            </a:r>
            <a:r>
              <a:rPr sz="1500" spc="100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</a:t>
            </a:r>
            <a:r>
              <a:rPr sz="1500" spc="150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last </a:t>
            </a:r>
            <a:r>
              <a:rPr sz="1500" spc="83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Exchange</a:t>
            </a:r>
            <a:r>
              <a:rPr sz="1500" spc="446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as</a:t>
            </a:r>
            <a:r>
              <a:rPr sz="1500" spc="6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</a:t>
            </a:r>
            <a:r>
              <a:rPr sz="1500" spc="1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final</a:t>
            </a:r>
            <a:r>
              <a:rPr sz="1500" spc="31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result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70" y="5619750"/>
            <a:ext cx="2225898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return</a:t>
            </a:r>
            <a:r>
              <a:rPr sz="1500" spc="33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newExchange;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69" y="5857240"/>
            <a:ext cx="16829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270" y="6332220"/>
            <a:ext cx="16829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4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92860" y="615504"/>
            <a:ext cx="256987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Enterprise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2682" y="615504"/>
            <a:ext cx="2729317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integrati</a:t>
            </a:r>
            <a:r>
              <a:rPr sz="3800" spc="-9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34175" y="615504"/>
            <a:ext cx="211795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patter</a:t>
            </a:r>
            <a:r>
              <a:rPr sz="3800" spc="-9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456478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...</a:t>
            </a:r>
            <a:r>
              <a:rPr sz="3200" spc="0" dirty="0" smtClean="0">
                <a:latin typeface="Verdana"/>
                <a:cs typeface="Verdana"/>
              </a:rPr>
              <a:t>and the li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t 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oes 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3972932" cy="44170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elay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enricher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2"/>
              </a:lnSpc>
              <a:spcBef>
                <a:spcPts val="1137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ent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consu</a:t>
            </a:r>
            <a:r>
              <a:rPr sz="2800" spc="-1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er 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loa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alance</a:t>
            </a:r>
            <a:endParaRPr sz="2800">
              <a:latin typeface="Verdana"/>
              <a:cs typeface="Verdana"/>
            </a:endParaRPr>
          </a:p>
          <a:p>
            <a:pPr marL="12700" marR="2547683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loop </a:t>
            </a:r>
            <a:endParaRPr sz="2800">
              <a:latin typeface="Verdana"/>
              <a:cs typeface="Verdana"/>
            </a:endParaRPr>
          </a:p>
          <a:p>
            <a:pPr marL="12700" marR="2547683">
              <a:lnSpc>
                <a:spcPts val="3402"/>
              </a:lnSpc>
              <a:spcBef>
                <a:spcPts val="1136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hrea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s </a:t>
            </a:r>
            <a:endParaRPr sz="2800">
              <a:latin typeface="Verdana"/>
              <a:cs typeface="Verdana"/>
            </a:endParaRPr>
          </a:p>
          <a:p>
            <a:pPr marL="12700" marR="2547683">
              <a:lnSpc>
                <a:spcPts val="3402"/>
              </a:lnSpc>
              <a:spcBef>
                <a:spcPts val="1136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hro</a:t>
            </a:r>
            <a:r>
              <a:rPr sz="2800" spc="-4" dirty="0" smtClean="0">
                <a:latin typeface="Verdana"/>
                <a:cs typeface="Verdana"/>
              </a:rPr>
              <a:t>tt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ts val="3400"/>
              </a:lnSpc>
              <a:spcBef>
                <a:spcPts val="130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...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8819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54585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60351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661169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23360" y="615504"/>
            <a:ext cx="210477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Exercise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552726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e the 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IPs to im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lement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7711018" cy="1967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ead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ers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om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33928"/>
              </a:lnSpc>
              <a:spcBef>
                <a:spcPts val="651"/>
              </a:spcBef>
            </a:pPr>
            <a:r>
              <a:rPr sz="2800" spc="0" dirty="0" smtClean="0">
                <a:latin typeface="Verdana"/>
                <a:cs typeface="Verdana"/>
              </a:rPr>
              <a:t>s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lit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or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ers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 in se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ara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or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ers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4" dirty="0" smtClean="0">
                <a:latin typeface="Verdana"/>
                <a:cs typeface="Verdana"/>
              </a:rPr>
              <a:t>a</a:t>
            </a:r>
            <a:r>
              <a:rPr sz="2800" spc="-9" dirty="0" smtClean="0">
                <a:latin typeface="Verdana"/>
                <a:cs typeface="Verdana"/>
              </a:rPr>
              <a:t>k</a:t>
            </a:r>
            <a:r>
              <a:rPr sz="2800" spc="0" dirty="0" smtClean="0">
                <a:latin typeface="Verdana"/>
                <a:cs typeface="Verdana"/>
              </a:rPr>
              <a:t>e su</a:t>
            </a:r>
            <a:r>
              <a:rPr sz="2800" spc="-9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hat we also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ha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 a co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y of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ts val="3400"/>
              </a:lnSpc>
            </a:pPr>
            <a:r>
              <a:rPr sz="4200" spc="0" baseline="-1959" dirty="0" smtClean="0">
                <a:latin typeface="Verdana"/>
                <a:cs typeface="Verdana"/>
              </a:rPr>
              <a:t>ori</a:t>
            </a:r>
            <a:r>
              <a:rPr sz="4200" spc="-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inal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ile in an au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it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ol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657563"/>
            <a:ext cx="7129042" cy="13906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op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any or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ers wi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a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al </a:t>
            </a: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0" dirty="0" smtClean="0">
                <a:latin typeface="Verdana"/>
                <a:cs typeface="Verdana"/>
              </a:rPr>
              <a:t>uan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y of</a:t>
            </a:r>
            <a:endParaRPr sz="2800">
              <a:latin typeface="Verdana"/>
              <a:cs typeface="Verdana"/>
            </a:endParaRPr>
          </a:p>
          <a:p>
            <a:pPr marL="12700" marR="258917">
              <a:lnSpc>
                <a:spcPct val="101480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r</a:t>
            </a:r>
            <a:r>
              <a:rPr sz="2800" spc="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anize o</a:t>
            </a:r>
            <a:r>
              <a:rPr sz="2800" spc="-9" dirty="0" smtClean="0">
                <a:latin typeface="Verdana"/>
                <a:cs typeface="Verdana"/>
              </a:rPr>
              <a:t>r</a:t>
            </a:r>
            <a:r>
              <a:rPr sz="2800" spc="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s </a:t>
            </a:r>
            <a:r>
              <a:rPr sz="2800" spc="-9" dirty="0" smtClean="0">
                <a:latin typeface="Verdana"/>
                <a:cs typeface="Verdana"/>
              </a:rPr>
              <a:t>i</a:t>
            </a:r>
            <a:r>
              <a:rPr sz="2800" spc="0" dirty="0" smtClean="0">
                <a:latin typeface="Verdana"/>
                <a:cs typeface="Verdana"/>
              </a:rPr>
              <a:t>n se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ate </a:t>
            </a:r>
            <a:r>
              <a:rPr sz="2800" spc="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l</a:t>
            </a:r>
            <a:r>
              <a:rPr sz="2800" spc="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s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y cus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er coun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8964" y="4657563"/>
            <a:ext cx="30480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0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47384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3150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95420" y="615504"/>
            <a:ext cx="21599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Intro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d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Getting started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IPs in action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onents 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with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am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B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</a:t>
            </a:r>
            <a:r>
              <a:rPr sz="3800" u="heavy" spc="200" dirty="0" smtClean="0">
                <a:latin typeface="Verdana"/>
                <a:cs typeface="Verdana"/>
              </a:rPr>
              <a:t> </a:t>
            </a:r>
            <a:r>
              <a:rPr sz="3800" u="heavy" spc="-4" dirty="0" smtClean="0">
                <a:latin typeface="Verdana"/>
                <a:cs typeface="Verdana"/>
              </a:rPr>
              <a:t>C</a:t>
            </a:r>
            <a:r>
              <a:rPr sz="3800" u="heavy" spc="0" dirty="0" smtClean="0">
                <a:latin typeface="Verdana"/>
                <a:cs typeface="Verdana"/>
              </a:rPr>
              <a:t>omponents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in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acti</a:t>
            </a:r>
            <a:r>
              <a:rPr sz="3800" u="heavy" spc="-4" dirty="0" smtClean="0">
                <a:latin typeface="Verdana"/>
                <a:cs typeface="Verdana"/>
              </a:rPr>
              <a:t>o</a:t>
            </a:r>
            <a:r>
              <a:rPr sz="3800" u="heavy" spc="0" dirty="0" smtClean="0">
                <a:latin typeface="Verdana"/>
                <a:cs typeface="Verdana"/>
              </a:rPr>
              <a:t>n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259189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Intro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2502259"/>
            <a:ext cx="121698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6541" y="2502259"/>
            <a:ext cx="2567041" cy="11061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com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onents</a:t>
            </a:r>
            <a:endParaRPr sz="3200">
              <a:latin typeface="Verdana"/>
              <a:cs typeface="Verdana"/>
            </a:endParaRPr>
          </a:p>
          <a:p>
            <a:pPr marL="20827" marR="60960">
              <a:lnSpc>
                <a:spcPts val="3870"/>
              </a:lnSpc>
              <a:spcBef>
                <a:spcPts val="1443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exam</a:t>
            </a:r>
            <a:r>
              <a:rPr sz="4800" spc="-9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3176629"/>
            <a:ext cx="36417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3914" y="3176629"/>
            <a:ext cx="80420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few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24028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435034" y="984250"/>
            <a:ext cx="16937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042235" y="984250"/>
            <a:ext cx="16976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673224" y="984250"/>
            <a:ext cx="240676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7590790" y="1785620"/>
            <a:ext cx="1788159" cy="5725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43"/>
              </a:spcBef>
            </a:pPr>
            <a:endParaRPr sz="650"/>
          </a:p>
          <a:p>
            <a:pPr marR="12657" algn="r">
              <a:lnSpc>
                <a:spcPct val="101277"/>
              </a:lnSpc>
              <a:spcBef>
                <a:spcPts val="42000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0" dirty="0" smtClean="0">
                <a:latin typeface="Verdana"/>
                <a:cs typeface="Verdana"/>
              </a:rPr>
              <a:t>/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64980" y="1785620"/>
            <a:ext cx="236220" cy="5725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43"/>
              </a:spcBef>
            </a:pPr>
            <a:endParaRPr sz="650"/>
          </a:p>
          <a:p>
            <a:pPr>
              <a:lnSpc>
                <a:spcPct val="101277"/>
              </a:lnSpc>
              <a:spcBef>
                <a:spcPts val="42000"/>
              </a:spcBef>
            </a:pP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01200" y="7086600"/>
            <a:ext cx="478790" cy="0"/>
          </a:xfrm>
          <a:custGeom>
            <a:avLst/>
            <a:gdLst/>
            <a:ahLst/>
            <a:cxnLst/>
            <a:rect l="l" t="t" r="r" b="b"/>
            <a:pathLst>
              <a:path w="478790">
                <a:moveTo>
                  <a:pt x="0" y="0"/>
                </a:moveTo>
                <a:lnTo>
                  <a:pt x="4787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90790" y="1785620"/>
            <a:ext cx="1788159" cy="5725159"/>
          </a:xfrm>
          <a:custGeom>
            <a:avLst/>
            <a:gdLst/>
            <a:ahLst/>
            <a:cxnLst/>
            <a:rect l="l" t="t" r="r" b="b"/>
            <a:pathLst>
              <a:path w="1788159" h="5725159">
                <a:moveTo>
                  <a:pt x="0" y="0"/>
                </a:moveTo>
                <a:lnTo>
                  <a:pt x="0" y="5725159"/>
                </a:lnTo>
                <a:lnTo>
                  <a:pt x="1788159" y="5725159"/>
                </a:lnTo>
                <a:lnTo>
                  <a:pt x="1788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78950" y="1785620"/>
            <a:ext cx="222250" cy="5725159"/>
          </a:xfrm>
          <a:custGeom>
            <a:avLst/>
            <a:gdLst/>
            <a:ahLst/>
            <a:cxnLst/>
            <a:rect l="l" t="t" r="r" b="b"/>
            <a:pathLst>
              <a:path w="222250" h="5725159">
                <a:moveTo>
                  <a:pt x="0" y="0"/>
                </a:moveTo>
                <a:lnTo>
                  <a:pt x="0" y="5725159"/>
                </a:lnTo>
                <a:lnTo>
                  <a:pt x="222250" y="5725159"/>
                </a:lnTo>
                <a:lnTo>
                  <a:pt x="222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7086600"/>
            <a:ext cx="453390" cy="0"/>
          </a:xfrm>
          <a:custGeom>
            <a:avLst/>
            <a:gdLst/>
            <a:ahLst/>
            <a:cxnLst/>
            <a:rect l="l" t="t" r="r" b="b"/>
            <a:pathLst>
              <a:path w="453390">
                <a:moveTo>
                  <a:pt x="0" y="0"/>
                </a:moveTo>
                <a:lnTo>
                  <a:pt x="4533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3390" y="1785620"/>
            <a:ext cx="1784350" cy="5725159"/>
          </a:xfrm>
          <a:custGeom>
            <a:avLst/>
            <a:gdLst/>
            <a:ahLst/>
            <a:cxnLst/>
            <a:rect l="l" t="t" r="r" b="b"/>
            <a:pathLst>
              <a:path w="1784350" h="5725159">
                <a:moveTo>
                  <a:pt x="0" y="0"/>
                </a:moveTo>
                <a:lnTo>
                  <a:pt x="0" y="5725159"/>
                </a:lnTo>
                <a:lnTo>
                  <a:pt x="1784350" y="5725159"/>
                </a:lnTo>
                <a:lnTo>
                  <a:pt x="178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3390" y="1785620"/>
            <a:ext cx="0" cy="5725159"/>
          </a:xfrm>
          <a:custGeom>
            <a:avLst/>
            <a:gdLst/>
            <a:ahLst/>
            <a:cxnLst/>
            <a:rect l="l" t="t" r="r" b="b"/>
            <a:pathLst>
              <a:path h="5725159">
                <a:moveTo>
                  <a:pt x="0" y="0"/>
                </a:moveTo>
                <a:lnTo>
                  <a:pt x="0" y="5725159"/>
                </a:lnTo>
              </a:path>
            </a:pathLst>
          </a:custGeom>
          <a:ln w="127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39490" y="615504"/>
            <a:ext cx="307244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tr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ducti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330" y="1841682"/>
            <a:ext cx="1163471" cy="43343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5255" marR="142530" algn="ctr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  <a:p>
            <a:pPr marL="249555" marR="257277" algn="ctr">
              <a:lnSpc>
                <a:spcPts val="2020"/>
              </a:lnSpc>
              <a:spcBef>
                <a:spcPts val="4"/>
              </a:spcBef>
            </a:pPr>
            <a:r>
              <a:rPr sz="1800" spc="0" dirty="0" smtClean="0">
                <a:latin typeface="Arial"/>
                <a:cs typeface="Arial"/>
              </a:rPr>
              <a:t>Direct</a:t>
            </a:r>
            <a:endParaRPr sz="1800">
              <a:latin typeface="Arial"/>
              <a:cs typeface="Arial"/>
            </a:endParaRPr>
          </a:p>
          <a:p>
            <a:pPr marL="335884" marR="343588" algn="ctr">
              <a:lnSpc>
                <a:spcPct val="95825"/>
              </a:lnSpc>
              <a:spcBef>
                <a:spcPts val="500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Esper</a:t>
            </a:r>
            <a:endParaRPr sz="1100">
              <a:latin typeface="Times New Roman"/>
              <a:cs typeface="Times New Roman"/>
            </a:endParaRPr>
          </a:p>
          <a:p>
            <a:pPr marL="255905" marR="263316" algn="ctr">
              <a:lnSpc>
                <a:spcPct val="95825"/>
              </a:lnSpc>
              <a:spcBef>
                <a:spcPts val="90"/>
              </a:spcBef>
            </a:pPr>
            <a:r>
              <a:rPr sz="1800" spc="0" dirty="0" smtClean="0">
                <a:latin typeface="Arial"/>
                <a:cs typeface="Arial"/>
              </a:rPr>
              <a:t>Event</a:t>
            </a:r>
            <a:endParaRPr sz="1800">
              <a:latin typeface="Arial"/>
              <a:cs typeface="Arial"/>
            </a:endParaRPr>
          </a:p>
          <a:p>
            <a:pPr marL="177134" marR="184646" indent="-205" algn="ctr">
              <a:lnSpc>
                <a:spcPct val="96495"/>
              </a:lnSpc>
              <a:spcBef>
                <a:spcPts val="601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Exec</a:t>
            </a:r>
            <a:r>
              <a:rPr sz="1100" spc="0" dirty="0" smtClean="0"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Browse Cache FTP</a:t>
            </a:r>
            <a:endParaRPr sz="1800">
              <a:latin typeface="Arial"/>
              <a:cs typeface="Arial"/>
            </a:endParaRPr>
          </a:p>
          <a:p>
            <a:pPr indent="-674" algn="ctr">
              <a:lnSpc>
                <a:spcPct val="95250"/>
              </a:lnSpc>
              <a:spcBef>
                <a:spcPts val="593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Cometd</a:t>
            </a:r>
            <a:r>
              <a:rPr sz="1100" spc="0" dirty="0" smtClean="0"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CXF CXFRS GLogin JavaSpace POP</a:t>
            </a:r>
            <a:endParaRPr sz="1800">
              <a:latin typeface="Arial"/>
              <a:cs typeface="Arial"/>
            </a:endParaRPr>
          </a:p>
          <a:p>
            <a:pPr marL="208884" marR="216458" algn="ctr">
              <a:lnSpc>
                <a:spcPts val="2020"/>
              </a:lnSpc>
              <a:spcBef>
                <a:spcPts val="101"/>
              </a:spcBef>
            </a:pPr>
            <a:r>
              <a:rPr sz="1800" spc="0" dirty="0" smtClean="0">
                <a:latin typeface="Arial"/>
                <a:cs typeface="Arial"/>
              </a:rPr>
              <a:t>Printer</a:t>
            </a:r>
            <a:endParaRPr sz="1800">
              <a:latin typeface="Arial"/>
              <a:cs typeface="Arial"/>
            </a:endParaRPr>
          </a:p>
          <a:p>
            <a:pPr marL="205105" marR="212653" algn="ctr">
              <a:lnSpc>
                <a:spcPts val="2010"/>
              </a:lnSpc>
            </a:pPr>
            <a:r>
              <a:rPr sz="1800" spc="0" dirty="0" smtClean="0">
                <a:latin typeface="Arial"/>
                <a:cs typeface="Arial"/>
              </a:rPr>
              <a:t>Quartz</a:t>
            </a:r>
            <a:endParaRPr sz="1800">
              <a:latin typeface="Arial"/>
              <a:cs typeface="Arial"/>
            </a:endParaRPr>
          </a:p>
          <a:p>
            <a:pPr marL="303212" marR="310902" algn="ctr">
              <a:lnSpc>
                <a:spcPct val="95825"/>
              </a:lnSpc>
              <a:spcBef>
                <a:spcPts val="511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Smooks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5730" y="1841682"/>
            <a:ext cx="883451" cy="4349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8105" marR="97997" algn="ctr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20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ask</a:t>
            </a:r>
            <a:endParaRPr sz="1800">
              <a:latin typeface="Arial"/>
              <a:cs typeface="Arial"/>
            </a:endParaRPr>
          </a:p>
          <a:p>
            <a:pPr marL="102204" marR="119466" algn="ctr">
              <a:lnSpc>
                <a:spcPts val="2020"/>
              </a:lnSpc>
              <a:spcBef>
                <a:spcPts val="4"/>
              </a:spcBef>
            </a:pPr>
            <a:r>
              <a:rPr sz="1800" spc="0" dirty="0" smtClean="0">
                <a:latin typeface="Arial"/>
                <a:cs typeface="Arial"/>
              </a:rPr>
              <a:t>GMail</a:t>
            </a:r>
            <a:endParaRPr sz="1800">
              <a:latin typeface="Arial"/>
              <a:cs typeface="Arial"/>
            </a:endParaRPr>
          </a:p>
          <a:p>
            <a:pPr marL="90804" marR="110668" algn="ctr">
              <a:lnSpc>
                <a:spcPts val="2010"/>
              </a:lnSpc>
            </a:pPr>
            <a:r>
              <a:rPr sz="1800" spc="0" dirty="0" smtClean="0">
                <a:latin typeface="Arial"/>
                <a:cs typeface="Arial"/>
              </a:rPr>
              <a:t>HDFS</a:t>
            </a:r>
            <a:endParaRPr sz="1800">
              <a:latin typeface="Arial"/>
              <a:cs typeface="Arial"/>
            </a:endParaRPr>
          </a:p>
          <a:p>
            <a:pPr marL="22194" marR="41923" algn="ctr">
              <a:lnSpc>
                <a:spcPct val="95825"/>
              </a:lnSpc>
              <a:spcBef>
                <a:spcPts val="511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Hibernate</a:t>
            </a:r>
            <a:endParaRPr sz="1100">
              <a:latin typeface="Times New Roman"/>
              <a:cs typeface="Times New Roman"/>
            </a:endParaRPr>
          </a:p>
          <a:p>
            <a:pPr marL="192404" marR="211996" algn="ctr">
              <a:lnSpc>
                <a:spcPct val="95825"/>
              </a:lnSpc>
              <a:spcBef>
                <a:spcPts val="80"/>
              </a:spcBef>
            </a:pPr>
            <a:r>
              <a:rPr sz="1800" spc="0" dirty="0" smtClean="0">
                <a:latin typeface="Arial"/>
                <a:cs typeface="Arial"/>
              </a:rPr>
              <a:t>HL7</a:t>
            </a:r>
            <a:endParaRPr sz="1800">
              <a:latin typeface="Arial"/>
              <a:cs typeface="Arial"/>
            </a:endParaRPr>
          </a:p>
          <a:p>
            <a:pPr marL="116174" marR="131008" indent="0" algn="ctr">
              <a:lnSpc>
                <a:spcPts val="2010"/>
              </a:lnSpc>
              <a:spcBef>
                <a:spcPts val="130"/>
              </a:spcBef>
            </a:pPr>
            <a:r>
              <a:rPr sz="1800" spc="0" dirty="0" smtClean="0">
                <a:latin typeface="Arial"/>
                <a:cs typeface="Arial"/>
              </a:rPr>
              <a:t>HTTP IMap</a:t>
            </a:r>
            <a:endParaRPr sz="1800">
              <a:latin typeface="Arial"/>
              <a:cs typeface="Arial"/>
            </a:endParaRPr>
          </a:p>
          <a:p>
            <a:pPr marL="191104" marR="208441" indent="-2527" algn="ctr">
              <a:lnSpc>
                <a:spcPts val="201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IRC JCR</a:t>
            </a:r>
            <a:endParaRPr sz="1800">
              <a:latin typeface="Arial"/>
              <a:cs typeface="Arial"/>
            </a:endParaRPr>
          </a:p>
          <a:p>
            <a:pPr marL="114904" marR="132166" indent="-2507" algn="ctr">
              <a:lnSpc>
                <a:spcPct val="98029"/>
              </a:lnSpc>
              <a:spcBef>
                <a:spcPts val="490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Crypto</a:t>
            </a:r>
            <a:r>
              <a:rPr sz="1100" spc="0" dirty="0" smtClean="0"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JDBC File</a:t>
            </a:r>
            <a:endParaRPr sz="1800">
              <a:latin typeface="Arial"/>
              <a:cs typeface="Arial"/>
            </a:endParaRPr>
          </a:p>
          <a:p>
            <a:pPr marL="73342" marR="93084" algn="ctr">
              <a:lnSpc>
                <a:spcPct val="95825"/>
              </a:lnSpc>
              <a:spcBef>
                <a:spcPts val="565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Flatpack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745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Freemarker</a:t>
            </a:r>
            <a:endParaRPr sz="1100">
              <a:latin typeface="Times New Roman"/>
              <a:cs typeface="Times New Roman"/>
            </a:endParaRPr>
          </a:p>
          <a:p>
            <a:pPr marL="86995" marR="101754" algn="ctr">
              <a:lnSpc>
                <a:spcPct val="95825"/>
              </a:lnSpc>
              <a:spcBef>
                <a:spcPts val="90"/>
              </a:spcBef>
            </a:pPr>
            <a:r>
              <a:rPr sz="1800" spc="0" dirty="0" smtClean="0">
                <a:latin typeface="Arial"/>
                <a:cs typeface="Arial"/>
              </a:rPr>
              <a:t>SMTP</a:t>
            </a:r>
            <a:endParaRPr sz="1800">
              <a:latin typeface="Arial"/>
              <a:cs typeface="Arial"/>
            </a:endParaRPr>
          </a:p>
          <a:p>
            <a:pPr marL="106014" marR="125770" algn="ctr">
              <a:lnSpc>
                <a:spcPct val="95825"/>
              </a:lnSpc>
              <a:spcBef>
                <a:spcPts val="601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Restlet</a:t>
            </a:r>
            <a:endParaRPr sz="1100">
              <a:latin typeface="Times New Roman"/>
              <a:cs typeface="Times New Roman"/>
            </a:endParaRPr>
          </a:p>
          <a:p>
            <a:pPr marL="192404" marR="212330" algn="ctr">
              <a:lnSpc>
                <a:spcPct val="95825"/>
              </a:lnSpc>
              <a:spcBef>
                <a:spcPts val="90"/>
              </a:spcBef>
            </a:pPr>
            <a:r>
              <a:rPr sz="1800" spc="0" dirty="0" smtClean="0">
                <a:latin typeface="Arial"/>
                <a:cs typeface="Arial"/>
              </a:rPr>
              <a:t>RMI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6900" y="1841682"/>
            <a:ext cx="1041280" cy="46050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3034" marR="244330" algn="ctr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FTPS</a:t>
            </a:r>
            <a:endParaRPr sz="1800">
              <a:latin typeface="Arial"/>
              <a:cs typeface="Arial"/>
            </a:endParaRPr>
          </a:p>
          <a:p>
            <a:pPr marL="131414" marR="167135" indent="-55227" algn="ctr">
              <a:lnSpc>
                <a:spcPts val="2010"/>
              </a:lnSpc>
              <a:spcBef>
                <a:spcPts val="33"/>
              </a:spcBef>
            </a:pPr>
            <a:r>
              <a:rPr sz="1800" spc="0" dirty="0" smtClean="0">
                <a:latin typeface="Arial"/>
                <a:cs typeface="Arial"/>
              </a:rPr>
              <a:t>GAuth iB</a:t>
            </a:r>
            <a:r>
              <a:rPr sz="1800" spc="-129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TIS</a:t>
            </a:r>
            <a:endParaRPr sz="1800">
              <a:latin typeface="Arial"/>
              <a:cs typeface="Arial"/>
            </a:endParaRPr>
          </a:p>
          <a:p>
            <a:pPr marL="145384" marR="234004" algn="ctr">
              <a:lnSpc>
                <a:spcPts val="2000"/>
              </a:lnSpc>
            </a:pPr>
            <a:r>
              <a:rPr sz="1800" spc="0" dirty="0" smtClean="0">
                <a:latin typeface="Arial"/>
                <a:cs typeface="Arial"/>
              </a:rPr>
              <a:t>GHttp</a:t>
            </a:r>
            <a:endParaRPr sz="1800">
              <a:latin typeface="Arial"/>
              <a:cs typeface="Arial"/>
            </a:endParaRPr>
          </a:p>
          <a:p>
            <a:pPr marL="100329" indent="-87629">
              <a:lnSpc>
                <a:spcPts val="2020"/>
              </a:lnSpc>
              <a:spcBef>
                <a:spcPts val="10"/>
              </a:spcBef>
            </a:pPr>
            <a:r>
              <a:rPr sz="1800" spc="0" dirty="0" smtClean="0">
                <a:latin typeface="Arial"/>
                <a:cs typeface="Arial"/>
              </a:rPr>
              <a:t>Act</a:t>
            </a:r>
            <a:r>
              <a:rPr sz="1800" spc="-1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veMQ Journal</a:t>
            </a:r>
            <a:endParaRPr sz="1800">
              <a:latin typeface="Arial"/>
              <a:cs typeface="Arial"/>
            </a:endParaRPr>
          </a:p>
          <a:p>
            <a:pPr marL="111125" marR="197278" algn="ctr">
              <a:lnSpc>
                <a:spcPts val="1985"/>
              </a:lnSpc>
            </a:pPr>
            <a:r>
              <a:rPr sz="1800" spc="0" dirty="0" smtClean="0">
                <a:latin typeface="Arial"/>
                <a:cs typeface="Arial"/>
              </a:rPr>
              <a:t>AMQP</a:t>
            </a:r>
            <a:endParaRPr sz="1800">
              <a:latin typeface="Arial"/>
              <a:cs typeface="Arial"/>
            </a:endParaRPr>
          </a:p>
          <a:p>
            <a:pPr marL="74264" marR="165374" algn="ctr">
              <a:lnSpc>
                <a:spcPts val="2020"/>
              </a:lnSpc>
              <a:spcBef>
                <a:spcPts val="1"/>
              </a:spcBef>
            </a:pPr>
            <a:r>
              <a:rPr sz="1800" spc="0" dirty="0" smtClean="0">
                <a:latin typeface="Arial"/>
                <a:cs typeface="Arial"/>
              </a:rPr>
              <a:t>Stream</a:t>
            </a:r>
            <a:endParaRPr sz="1800">
              <a:latin typeface="Arial"/>
              <a:cs typeface="Arial"/>
            </a:endParaRPr>
          </a:p>
          <a:p>
            <a:pPr marL="188564" marR="279401" indent="-334" algn="ctr">
              <a:lnSpc>
                <a:spcPts val="202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Atom JBI Bean</a:t>
            </a:r>
            <a:endParaRPr sz="1800">
              <a:latin typeface="Arial"/>
              <a:cs typeface="Arial"/>
            </a:endParaRPr>
          </a:p>
          <a:p>
            <a:pPr marL="235584" marR="263244" algn="ctr">
              <a:lnSpc>
                <a:spcPts val="1985"/>
              </a:lnSpc>
            </a:pPr>
            <a:r>
              <a:rPr sz="1800" spc="0" dirty="0" smtClean="0">
                <a:latin typeface="Arial"/>
                <a:cs typeface="Arial"/>
              </a:rPr>
              <a:t>Jetty</a:t>
            </a:r>
            <a:endParaRPr sz="1800">
              <a:latin typeface="Arial"/>
              <a:cs typeface="Arial"/>
            </a:endParaRPr>
          </a:p>
          <a:p>
            <a:pPr marL="133954" marR="220046" indent="-5228" algn="ctr">
              <a:lnSpc>
                <a:spcPts val="2010"/>
              </a:lnSpc>
              <a:spcBef>
                <a:spcPts val="31"/>
              </a:spcBef>
            </a:pPr>
            <a:r>
              <a:rPr sz="1800" spc="0" dirty="0" smtClean="0">
                <a:latin typeface="Arial"/>
                <a:cs typeface="Arial"/>
              </a:rPr>
              <a:t>JMS SMPP</a:t>
            </a:r>
            <a:endParaRPr sz="1800">
              <a:latin typeface="Arial"/>
              <a:cs typeface="Arial"/>
            </a:endParaRPr>
          </a:p>
          <a:p>
            <a:pPr marL="112364" marR="139503" indent="-113739" algn="ctr">
              <a:lnSpc>
                <a:spcPts val="201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J</a:t>
            </a:r>
            <a:r>
              <a:rPr sz="1800" spc="-129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A Lucene</a:t>
            </a:r>
            <a:endParaRPr sz="1800">
              <a:latin typeface="Arial"/>
              <a:cs typeface="Arial"/>
            </a:endParaRPr>
          </a:p>
          <a:p>
            <a:pPr marL="233014" marR="324298" algn="ctr">
              <a:lnSpc>
                <a:spcPts val="2000"/>
              </a:lnSpc>
            </a:pPr>
            <a:r>
              <a:rPr sz="1800" spc="0" dirty="0" smtClean="0">
                <a:latin typeface="Arial"/>
                <a:cs typeface="Arial"/>
              </a:rPr>
              <a:t>Mail</a:t>
            </a:r>
            <a:endParaRPr sz="1800">
              <a:latin typeface="Arial"/>
              <a:cs typeface="Arial"/>
            </a:endParaRPr>
          </a:p>
          <a:p>
            <a:pPr marL="155575" marR="241790" algn="ctr">
              <a:lnSpc>
                <a:spcPts val="2010"/>
              </a:lnSpc>
              <a:spcBef>
                <a:spcPts val="0"/>
              </a:spcBef>
            </a:pPr>
            <a:r>
              <a:rPr sz="1800" spc="0" dirty="0" smtClean="0">
                <a:latin typeface="Arial"/>
                <a:cs typeface="Arial"/>
              </a:rPr>
              <a:t>SFTP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4070" y="1841682"/>
            <a:ext cx="1625898" cy="43343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939"/>
              </a:lnSpc>
              <a:spcBef>
                <a:spcPts val="97"/>
              </a:spcBef>
            </a:pPr>
            <a:r>
              <a:rPr sz="1800" spc="-9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ean </a:t>
            </a:r>
            <a:r>
              <a:rPr sz="1800" spc="-119" dirty="0" smtClean="0">
                <a:latin typeface="Arial"/>
                <a:cs typeface="Arial"/>
              </a:rPr>
              <a:t>V</a:t>
            </a:r>
            <a:r>
              <a:rPr sz="1800" spc="-9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9" dirty="0" smtClean="0">
                <a:latin typeface="Arial"/>
                <a:cs typeface="Arial"/>
              </a:rPr>
              <a:t>d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t</a:t>
            </a:r>
            <a:r>
              <a:rPr sz="1800" spc="-9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on</a:t>
            </a:r>
            <a:endParaRPr sz="1800">
              <a:latin typeface="Arial"/>
              <a:cs typeface="Arial"/>
            </a:endParaRPr>
          </a:p>
          <a:p>
            <a:pPr marL="563879" marR="480236" indent="-118110">
              <a:lnSpc>
                <a:spcPts val="2010"/>
              </a:lnSpc>
              <a:spcBef>
                <a:spcPts val="33"/>
              </a:spcBef>
            </a:pPr>
            <a:r>
              <a:rPr sz="1800" spc="0" dirty="0" smtClean="0">
                <a:latin typeface="Arial"/>
                <a:cs typeface="Arial"/>
              </a:rPr>
              <a:t>SNMP UDP</a:t>
            </a:r>
            <a:endParaRPr sz="1800">
              <a:latin typeface="Arial"/>
              <a:cs typeface="Arial"/>
            </a:endParaRPr>
          </a:p>
          <a:p>
            <a:pPr marL="212694" marR="293504" indent="63053" algn="ctr">
              <a:lnSpc>
                <a:spcPts val="201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Spring- Integration</a:t>
            </a:r>
            <a:endParaRPr sz="1800">
              <a:latin typeface="Arial"/>
              <a:cs typeface="Arial"/>
            </a:endParaRPr>
          </a:p>
          <a:p>
            <a:pPr marL="23464" marR="38785" indent="-55874" algn="ctr">
              <a:lnSpc>
                <a:spcPts val="201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SQL String</a:t>
            </a:r>
            <a:r>
              <a:rPr sz="1800" spc="-20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emplate</a:t>
            </a:r>
            <a:endParaRPr sz="1800">
              <a:latin typeface="Arial"/>
              <a:cs typeface="Arial"/>
            </a:endParaRPr>
          </a:p>
          <a:p>
            <a:pPr marL="236824" marR="312033" indent="-1290" algn="ctr">
              <a:lnSpc>
                <a:spcPts val="2010"/>
              </a:lnSpc>
              <a:spcBef>
                <a:spcPts val="9"/>
              </a:spcBef>
            </a:pPr>
            <a:r>
              <a:rPr sz="1800" spc="0" dirty="0" smtClean="0">
                <a:latin typeface="Arial"/>
                <a:cs typeface="Arial"/>
              </a:rPr>
              <a:t>TCP SE</a:t>
            </a:r>
            <a:r>
              <a:rPr sz="1800" spc="-34" dirty="0" smtClean="0">
                <a:latin typeface="Arial"/>
                <a:cs typeface="Arial"/>
              </a:rPr>
              <a:t>R</a:t>
            </a:r>
            <a:r>
              <a:rPr sz="1800" spc="0" dirty="0" smtClean="0">
                <a:latin typeface="Arial"/>
                <a:cs typeface="Arial"/>
              </a:rPr>
              <a:t>VLET</a:t>
            </a:r>
            <a:endParaRPr sz="1800">
              <a:latin typeface="Arial"/>
              <a:cs typeface="Arial"/>
            </a:endParaRPr>
          </a:p>
          <a:p>
            <a:pPr marL="531464" marR="610354" algn="ctr">
              <a:lnSpc>
                <a:spcPts val="2000"/>
              </a:lnSpc>
            </a:pPr>
            <a:r>
              <a:rPr sz="1800" spc="-20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est</a:t>
            </a:r>
            <a:endParaRPr sz="1800">
              <a:latin typeface="Arial"/>
              <a:cs typeface="Arial"/>
            </a:endParaRPr>
          </a:p>
          <a:p>
            <a:pPr marL="257144" marR="338574" algn="ctr">
              <a:lnSpc>
                <a:spcPts val="2010"/>
              </a:lnSpc>
              <a:spcBef>
                <a:spcPts val="30"/>
              </a:spcBef>
            </a:pPr>
            <a:r>
              <a:rPr sz="1800" spc="0" dirty="0" smtClean="0">
                <a:latin typeface="Arial"/>
                <a:cs typeface="Arial"/>
              </a:rPr>
              <a:t>ActiveMQ </a:t>
            </a:r>
            <a:r>
              <a:rPr sz="1800" spc="-69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imer</a:t>
            </a:r>
            <a:endParaRPr sz="1800">
              <a:latin typeface="Arial"/>
              <a:cs typeface="Arial"/>
            </a:endParaRPr>
          </a:p>
          <a:p>
            <a:pPr marL="278734" marR="294987" algn="ctr">
              <a:lnSpc>
                <a:spcPts val="2000"/>
              </a:lnSpc>
            </a:pPr>
            <a:r>
              <a:rPr sz="1800" spc="-129" dirty="0" smtClean="0">
                <a:latin typeface="Arial"/>
                <a:cs typeface="Arial"/>
              </a:rPr>
              <a:t>V</a:t>
            </a:r>
            <a:r>
              <a:rPr sz="1800" spc="0" dirty="0" smtClean="0">
                <a:latin typeface="Arial"/>
                <a:cs typeface="Arial"/>
              </a:rPr>
              <a:t>alidation</a:t>
            </a:r>
            <a:endParaRPr sz="1800">
              <a:latin typeface="Arial"/>
              <a:cs typeface="Arial"/>
            </a:endParaRPr>
          </a:p>
          <a:p>
            <a:pPr marL="394334" marR="473013" algn="ctr">
              <a:lnSpc>
                <a:spcPts val="2010"/>
              </a:lnSpc>
              <a:spcBef>
                <a:spcPts val="0"/>
              </a:spcBef>
            </a:pPr>
            <a:r>
              <a:rPr sz="1800" spc="0" dirty="0" smtClean="0">
                <a:latin typeface="Arial"/>
                <a:cs typeface="Arial"/>
              </a:rPr>
              <a:t>JT/400</a:t>
            </a:r>
            <a:endParaRPr sz="1800">
              <a:latin typeface="Arial"/>
              <a:cs typeface="Arial"/>
            </a:endParaRPr>
          </a:p>
          <a:p>
            <a:pPr marL="346044" marR="427388" algn="ctr">
              <a:lnSpc>
                <a:spcPts val="2020"/>
              </a:lnSpc>
              <a:spcBef>
                <a:spcPts val="0"/>
              </a:spcBef>
            </a:pPr>
            <a:r>
              <a:rPr sz="1800" spc="-100" dirty="0" smtClean="0">
                <a:latin typeface="Arial"/>
                <a:cs typeface="Arial"/>
              </a:rPr>
              <a:t>V</a:t>
            </a:r>
            <a:r>
              <a:rPr sz="1800" spc="0" dirty="0" smtClean="0">
                <a:latin typeface="Arial"/>
                <a:cs typeface="Arial"/>
              </a:rPr>
              <a:t>elocity</a:t>
            </a:r>
            <a:endParaRPr sz="1800">
              <a:latin typeface="Arial"/>
              <a:cs typeface="Arial"/>
            </a:endParaRPr>
          </a:p>
          <a:p>
            <a:pPr marL="572134" marR="651173" algn="ctr">
              <a:lnSpc>
                <a:spcPts val="2010"/>
              </a:lnSpc>
            </a:pPr>
            <a:r>
              <a:rPr sz="1800" spc="0" dirty="0" smtClean="0">
                <a:latin typeface="Arial"/>
                <a:cs typeface="Arial"/>
              </a:rPr>
              <a:t>VM</a:t>
            </a:r>
            <a:endParaRPr sz="1800">
              <a:latin typeface="Arial"/>
              <a:cs typeface="Arial"/>
            </a:endParaRPr>
          </a:p>
          <a:p>
            <a:pPr marL="413702" marR="495171" algn="ctr">
              <a:lnSpc>
                <a:spcPct val="95825"/>
              </a:lnSpc>
              <a:spcBef>
                <a:spcPts val="511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Quickfix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9720" y="1841682"/>
            <a:ext cx="1074286" cy="46050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904" marR="263428" algn="ctr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RNC</a:t>
            </a:r>
            <a:endParaRPr sz="1800">
              <a:latin typeface="Arial"/>
              <a:cs typeface="Arial"/>
            </a:endParaRPr>
          </a:p>
          <a:p>
            <a:pPr marL="249554" marR="257053" algn="ctr">
              <a:lnSpc>
                <a:spcPts val="2020"/>
              </a:lnSpc>
              <a:spcBef>
                <a:spcPts val="4"/>
              </a:spcBef>
            </a:pPr>
            <a:r>
              <a:rPr sz="1800" spc="0" dirty="0" smtClean="0">
                <a:latin typeface="Arial"/>
                <a:cs typeface="Arial"/>
              </a:rPr>
              <a:t>RNG</a:t>
            </a:r>
            <a:endParaRPr sz="1800">
              <a:latin typeface="Arial"/>
              <a:cs typeface="Arial"/>
            </a:endParaRPr>
          </a:p>
          <a:p>
            <a:pPr marL="249524" marR="256929" algn="ctr">
              <a:lnSpc>
                <a:spcPct val="95825"/>
              </a:lnSpc>
              <a:spcBef>
                <a:spcPts val="500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Nagios</a:t>
            </a:r>
            <a:endParaRPr sz="1100">
              <a:latin typeface="Times New Roman"/>
              <a:cs typeface="Times New Roman"/>
            </a:endParaRPr>
          </a:p>
          <a:p>
            <a:pPr marL="268604" marR="275954" algn="ctr">
              <a:lnSpc>
                <a:spcPct val="95825"/>
              </a:lnSpc>
              <a:spcBef>
                <a:spcPts val="90"/>
              </a:spcBef>
            </a:pPr>
            <a:r>
              <a:rPr sz="1800" spc="0" dirty="0" smtClean="0">
                <a:latin typeface="Arial"/>
                <a:cs typeface="Arial"/>
              </a:rPr>
              <a:t>RSS</a:t>
            </a:r>
            <a:endParaRPr sz="1800">
              <a:latin typeface="Arial"/>
              <a:cs typeface="Arial"/>
            </a:endParaRPr>
          </a:p>
          <a:p>
            <a:pPr marL="158084" marR="101786" indent="-63689" algn="ctr">
              <a:lnSpc>
                <a:spcPct val="94387"/>
              </a:lnSpc>
              <a:spcBef>
                <a:spcPts val="617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Scalate</a:t>
            </a:r>
            <a:r>
              <a:rPr sz="1100" spc="0" dirty="0" smtClean="0"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MSV XMPP Mock XQuery MINA XS</a:t>
            </a:r>
            <a:r>
              <a:rPr sz="1800" spc="-129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T Netty NMR SEDA</a:t>
            </a:r>
            <a:endParaRPr sz="1800">
              <a:latin typeface="Arial"/>
              <a:cs typeface="Arial"/>
            </a:endParaRPr>
          </a:p>
          <a:p>
            <a:pPr indent="-430" algn="ctr">
              <a:lnSpc>
                <a:spcPct val="96208"/>
              </a:lnSpc>
              <a:spcBef>
                <a:spcPts val="617"/>
              </a:spcBef>
            </a:pPr>
            <a:r>
              <a:rPr sz="1100" u="sng" spc="0" dirty="0" smtClean="0">
                <a:latin typeface="Times New Roman"/>
                <a:cs typeface="Times New Roman"/>
              </a:rPr>
              <a:t>Ref</a:t>
            </a:r>
            <a:r>
              <a:rPr sz="1100" spc="0" dirty="0" smtClean="0"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LDAP Properties Log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785620"/>
            <a:ext cx="453390" cy="5300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7086600"/>
            <a:ext cx="453390" cy="4241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96540" y="615504"/>
            <a:ext cx="143992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Usi</a:t>
            </a:r>
            <a:r>
              <a:rPr sz="3800" spc="-9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08525" y="615504"/>
            <a:ext cx="304456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c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mponents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290" y="1829159"/>
            <a:ext cx="7217233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d re</a:t>
            </a:r>
            <a:r>
              <a:rPr sz="3200" spc="-4" dirty="0" smtClean="0">
                <a:latin typeface="Verdana"/>
                <a:cs typeface="Verdana"/>
              </a:rPr>
              <a:t>q</a:t>
            </a:r>
            <a:r>
              <a:rPr sz="3200" spc="0" dirty="0" smtClean="0">
                <a:latin typeface="Verdana"/>
                <a:cs typeface="Verdana"/>
              </a:rPr>
              <a:t>uired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ARs to the cla</a:t>
            </a:r>
            <a:r>
              <a:rPr sz="3200" spc="-4" dirty="0" smtClean="0">
                <a:latin typeface="Verdana"/>
                <a:cs typeface="Verdana"/>
              </a:rPr>
              <a:t>s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ath</a:t>
            </a:r>
            <a:endParaRPr sz="320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1433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A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d com</a:t>
            </a:r>
            <a:r>
              <a:rPr sz="4800" spc="-9" baseline="-1714" dirty="0" smtClean="0">
                <a:latin typeface="Verdana"/>
                <a:cs typeface="Verdana"/>
              </a:rPr>
              <a:t>p</a:t>
            </a:r>
            <a:r>
              <a:rPr sz="4800" spc="0" baseline="-1714" dirty="0" smtClean="0">
                <a:latin typeface="Verdana"/>
                <a:cs typeface="Verdana"/>
              </a:rPr>
              <a:t>onent to 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am</a:t>
            </a: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l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ontext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3167853"/>
            <a:ext cx="275100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u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o-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isco</a:t>
            </a:r>
            <a:r>
              <a:rPr sz="2800" spc="-9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2487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889" y="3735657"/>
            <a:ext cx="6201168" cy="80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w</a:t>
            </a:r>
            <a:r>
              <a:rPr sz="2400" spc="0" dirty="0" smtClean="0">
                <a:latin typeface="Verdana"/>
                <a:cs typeface="Verdana"/>
              </a:rPr>
              <a:t>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ks </a:t>
            </a: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or 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ost of the 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713"/>
              </a:spcBef>
            </a:pPr>
            <a:r>
              <a:rPr sz="2400" spc="0" dirty="0" smtClean="0">
                <a:latin typeface="Verdana"/>
                <a:cs typeface="Verdana"/>
              </a:rPr>
              <a:t>uses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iles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in 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</a:t>
            </a:r>
            <a:r>
              <a:rPr sz="2400" spc="-4" dirty="0" smtClean="0">
                <a:latin typeface="Verdana"/>
                <a:cs typeface="Verdana"/>
              </a:rPr>
              <a:t>t'</a:t>
            </a:r>
            <a:r>
              <a:rPr sz="2400" spc="0" dirty="0" smtClean="0">
                <a:latin typeface="Verdana"/>
                <a:cs typeface="Verdana"/>
              </a:rPr>
              <a:t>s JAR META-I</a:t>
            </a:r>
            <a:r>
              <a:rPr sz="2400" spc="-4" dirty="0" smtClean="0">
                <a:latin typeface="Verdana"/>
                <a:cs typeface="Verdana"/>
              </a:rPr>
              <a:t>N</a:t>
            </a:r>
            <a:r>
              <a:rPr sz="2400" spc="0" dirty="0" smtClean="0">
                <a:latin typeface="Verdana"/>
                <a:cs typeface="Verdana"/>
              </a:rPr>
              <a:t>F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9870" y="37640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3402" y="4213177"/>
            <a:ext cx="9481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older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9870" y="42428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4702013"/>
            <a:ext cx="135320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Manual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7828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889" y="5268547"/>
            <a:ext cx="7829917" cy="1179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to have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ultiple ins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ances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of the same 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ponent</a:t>
            </a:r>
            <a:endParaRPr sz="2400">
              <a:latin typeface="Verdana"/>
              <a:cs typeface="Verdana"/>
            </a:endParaRPr>
          </a:p>
          <a:p>
            <a:pPr marL="12700" marR="1203740">
              <a:lnSpc>
                <a:spcPct val="101378"/>
              </a:lnSpc>
              <a:spcBef>
                <a:spcPts val="723"/>
              </a:spcBef>
            </a:pPr>
            <a:r>
              <a:rPr sz="2400" spc="0" dirty="0" smtClean="0">
                <a:latin typeface="Verdana"/>
                <a:cs typeface="Verdana"/>
              </a:rPr>
              <a:t>to con</a:t>
            </a: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igu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 the 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ponent be</a:t>
            </a: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 using it e</a:t>
            </a:r>
            <a:r>
              <a:rPr sz="2400" spc="-4" dirty="0" smtClean="0">
                <a:latin typeface="Verdana"/>
                <a:cs typeface="Verdana"/>
              </a:rPr>
              <a:t>.</a:t>
            </a:r>
            <a:r>
              <a:rPr sz="2400" spc="0" dirty="0" smtClean="0">
                <a:latin typeface="Verdana"/>
                <a:cs typeface="Verdana"/>
              </a:rPr>
              <a:t>g. inject a JMS Connec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ionFac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9870" y="529819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9870" y="577698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96540" y="615504"/>
            <a:ext cx="143992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Usi</a:t>
            </a:r>
            <a:r>
              <a:rPr sz="3800" spc="-9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8525" y="615504"/>
            <a:ext cx="304456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c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mponents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1829159"/>
            <a:ext cx="757023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– re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ister am</a:t>
            </a:r>
            <a:r>
              <a:rPr sz="3200" spc="-4" dirty="0" smtClean="0">
                <a:latin typeface="Verdana"/>
                <a:cs typeface="Verdana"/>
              </a:rPr>
              <a:t>q</a:t>
            </a:r>
            <a:r>
              <a:rPr sz="3200" spc="0" dirty="0" smtClean="0">
                <a:latin typeface="Verdana"/>
                <a:cs typeface="Verdana"/>
              </a:rPr>
              <a:t>: com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3660" y="2494753"/>
            <a:ext cx="7342688" cy="1494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" marR="3504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 in 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co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35049">
              <a:lnSpc>
                <a:spcPct val="95825"/>
              </a:lnSpc>
              <a:spcBef>
                <a:spcPts val="718"/>
              </a:spcBef>
            </a:pPr>
            <a:r>
              <a:rPr sz="1600" spc="0" dirty="0" smtClean="0">
                <a:latin typeface="Times New Roman"/>
                <a:cs typeface="Times New Roman"/>
              </a:rPr>
              <a:t>JmsComponent</a:t>
            </a:r>
            <a:r>
              <a:rPr sz="1600" spc="18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component </a:t>
            </a:r>
            <a:r>
              <a:rPr sz="1600" spc="22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0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37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JmsComponent();</a:t>
            </a:r>
            <a:endParaRPr sz="1600">
              <a:latin typeface="Times New Roman"/>
              <a:cs typeface="Times New Roman"/>
            </a:endParaRPr>
          </a:p>
          <a:p>
            <a:pPr marL="12700" marR="3504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component.setConnectionFactory(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160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37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ActiveMQConnectionFactory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"tcp://localhost:61616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));</a:t>
            </a:r>
            <a:endParaRPr sz="1600">
              <a:latin typeface="Times New Roman"/>
              <a:cs typeface="Times New Roman"/>
            </a:endParaRPr>
          </a:p>
          <a:p>
            <a:pPr marL="12700" marR="3504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context.addComponent</a:t>
            </a:r>
            <a:r>
              <a:rPr sz="1600" spc="-14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"amq"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component);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6510" y="4369273"/>
            <a:ext cx="8253554" cy="2456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280" marR="3155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 in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XML</a:t>
            </a:r>
            <a:endParaRPr sz="2800">
              <a:latin typeface="Verdana"/>
              <a:cs typeface="Verdana"/>
            </a:endParaRPr>
          </a:p>
          <a:p>
            <a:pPr marL="12700" marR="31555">
              <a:lnSpc>
                <a:spcPct val="95825"/>
              </a:lnSpc>
              <a:spcBef>
                <a:spcPts val="27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 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i</a:t>
            </a:r>
            <a:r>
              <a:rPr sz="1600" spc="-9" dirty="0" smtClean="0">
                <a:solidFill>
                  <a:srgbClr val="7E007E"/>
                </a:solidFill>
                <a:latin typeface="Times New Roman"/>
                <a:cs typeface="Times New Roman"/>
              </a:rPr>
              <a:t>d</a:t>
            </a:r>
            <a:r>
              <a:rPr sz="1600" spc="9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"amq" </a:t>
            </a:r>
            <a:r>
              <a:rPr sz="1650" spc="1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clas</a:t>
            </a:r>
            <a:r>
              <a:rPr sz="1600" spc="-9" dirty="0" smtClean="0">
                <a:solidFill>
                  <a:srgbClr val="7E007E"/>
                </a:solidFill>
                <a:latin typeface="Times New Roman"/>
                <a:cs typeface="Times New Roman"/>
              </a:rPr>
              <a:t>s</a:t>
            </a:r>
            <a:r>
              <a:rPr sz="1600" spc="9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"org.apache.camel.component.jms.JmsComponent</a:t>
            </a:r>
            <a:r>
              <a:rPr sz="1650" spc="-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39420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property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name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"connectionFactory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896620">
              <a:lnSpc>
                <a:spcPct val="95825"/>
              </a:lnSpc>
              <a:spcBef>
                <a:spcPts val="9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spc="47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"org.apache.activemq.ActiveMQConnectionFactor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y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353820" marR="31555">
              <a:lnSpc>
                <a:spcPct val="95825"/>
              </a:lnSpc>
              <a:spcBef>
                <a:spcPts val="10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property </a:t>
            </a:r>
            <a:r>
              <a:rPr sz="1600" spc="15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name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"brokerURL"</a:t>
            </a:r>
            <a:endParaRPr sz="1650">
              <a:latin typeface="Times New Roman"/>
              <a:cs typeface="Times New Roman"/>
            </a:endParaRPr>
          </a:p>
          <a:p>
            <a:pPr marL="3760469" marR="31555">
              <a:lnSpc>
                <a:spcPct val="95825"/>
              </a:lnSpc>
              <a:spcBef>
                <a:spcPts val="90"/>
              </a:spcBef>
            </a:pPr>
            <a:r>
              <a:rPr sz="1600" dirty="0" smtClean="0">
                <a:solidFill>
                  <a:srgbClr val="7E007E"/>
                </a:solidFill>
                <a:latin typeface="Times New Roman"/>
                <a:cs typeface="Times New Roman"/>
              </a:rPr>
              <a:t>value</a:t>
            </a:r>
            <a:r>
              <a:rPr sz="1600" dirty="0" smtClean="0">
                <a:latin typeface="Times New Roman"/>
                <a:cs typeface="Times New Roman"/>
              </a:rPr>
              <a:t>=</a:t>
            </a:r>
            <a:r>
              <a:rPr sz="165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"tcp://localhost:61616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896620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439420" marR="31555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property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4501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</a:t>
            </a:r>
            <a:r>
              <a:rPr sz="3800" u="heavy" spc="56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few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exa</a:t>
            </a:r>
            <a:r>
              <a:rPr sz="3800" u="heavy" spc="-4" dirty="0" smtClean="0">
                <a:latin typeface="Verdana"/>
                <a:cs typeface="Verdana"/>
              </a:rPr>
              <a:t>m</a:t>
            </a:r>
            <a:r>
              <a:rPr sz="3800" u="heavy" spc="0" dirty="0" smtClean="0">
                <a:latin typeface="Verdana"/>
                <a:cs typeface="Verdana"/>
              </a:rPr>
              <a:t>ples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2553592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File and FTP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433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J</a:t>
            </a:r>
            <a:r>
              <a:rPr sz="4800" spc="0" baseline="-1714" dirty="0" smtClean="0">
                <a:latin typeface="Verdana"/>
                <a:cs typeface="Verdana"/>
              </a:rPr>
              <a:t>etty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3176629"/>
            <a:ext cx="1787975" cy="2453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MS and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ct val="101277"/>
              </a:lnSpc>
              <a:spcBef>
                <a:spcPts val="1249"/>
              </a:spcBef>
            </a:pPr>
            <a:r>
              <a:rPr sz="3200" spc="0" dirty="0" smtClean="0">
                <a:latin typeface="Verdana"/>
                <a:cs typeface="Verdana"/>
              </a:rPr>
              <a:t>Mail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ct val="101277"/>
              </a:lnSpc>
              <a:spcBef>
                <a:spcPts val="1410"/>
              </a:spcBef>
            </a:pPr>
            <a:r>
              <a:rPr sz="3200" spc="0" dirty="0" smtClean="0">
                <a:latin typeface="Verdana"/>
                <a:cs typeface="Verdana"/>
              </a:rPr>
              <a:t>Quartz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614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X</a:t>
            </a:r>
            <a:r>
              <a:rPr sz="4800" spc="0" baseline="-1714" dirty="0" smtClean="0">
                <a:latin typeface="Verdana"/>
                <a:cs typeface="Verdana"/>
              </a:rPr>
              <a:t>SLT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7533" y="3176629"/>
            <a:ext cx="199201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Activ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MQ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52916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1267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456642" y="984250"/>
            <a:ext cx="16958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78532" y="984250"/>
            <a:ext cx="16936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951422" y="984250"/>
            <a:ext cx="312856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61079" y="615504"/>
            <a:ext cx="92749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File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59579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5160" y="615504"/>
            <a:ext cx="96354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FTP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513100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Rea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ing and writing files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4210228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on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local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 sys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em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on an FTP(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) server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3656689"/>
            <a:ext cx="404877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d to yo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roj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ct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322283"/>
            <a:ext cx="7319233" cy="15341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ile: co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onent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is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art of ca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el-co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e.</a:t>
            </a:r>
            <a:r>
              <a:rPr sz="2800" spc="-9" dirty="0" smtClean="0">
                <a:latin typeface="Verdana"/>
                <a:cs typeface="Verdana"/>
              </a:rPr>
              <a:t>j</a:t>
            </a:r>
            <a:r>
              <a:rPr sz="2800" spc="0" dirty="0" smtClean="0">
                <a:latin typeface="Verdana"/>
                <a:cs typeface="Verdana"/>
              </a:rPr>
              <a:t>ar</a:t>
            </a:r>
            <a:endParaRPr sz="2800">
              <a:latin typeface="Verdana"/>
              <a:cs typeface="Verdana"/>
            </a:endParaRPr>
          </a:p>
          <a:p>
            <a:pPr marL="12700" marR="1194607">
              <a:lnSpc>
                <a:spcPct val="135416"/>
              </a:lnSpc>
              <a:spcBef>
                <a:spcPts val="611"/>
              </a:spcBef>
            </a:pPr>
            <a:r>
              <a:rPr sz="2800" spc="-4" dirty="0" smtClean="0">
                <a:latin typeface="Verdana"/>
                <a:cs typeface="Verdana"/>
              </a:rPr>
              <a:t>ftp</a:t>
            </a:r>
            <a:r>
              <a:rPr sz="2800" spc="0" dirty="0" smtClean="0">
                <a:latin typeface="Verdana"/>
                <a:cs typeface="Verdana"/>
              </a:rPr>
              <a:t>: co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onent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is in ca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el-</a:t>
            </a:r>
            <a:r>
              <a:rPr sz="2800" spc="-9" dirty="0" smtClean="0">
                <a:latin typeface="Verdana"/>
                <a:cs typeface="Verdana"/>
              </a:rPr>
              <a:t>f</a:t>
            </a:r>
            <a:r>
              <a:rPr sz="2800" spc="-4" dirty="0" smtClean="0">
                <a:latin typeface="Verdana"/>
                <a:cs typeface="Verdana"/>
              </a:rPr>
              <a:t>tp</a:t>
            </a:r>
            <a:r>
              <a:rPr sz="2800" spc="0" dirty="0" smtClean="0">
                <a:latin typeface="Verdana"/>
                <a:cs typeface="Verdana"/>
              </a:rPr>
              <a:t>.</a:t>
            </a:r>
            <a:r>
              <a:rPr sz="2800" spc="-4" dirty="0" smtClean="0">
                <a:latin typeface="Verdana"/>
                <a:cs typeface="Verdana"/>
              </a:rPr>
              <a:t>j</a:t>
            </a:r>
            <a:r>
              <a:rPr sz="2800" spc="0" dirty="0" smtClean="0">
                <a:latin typeface="Verdana"/>
                <a:cs typeface="Verdana"/>
              </a:rPr>
              <a:t>ar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au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o-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isco</a:t>
            </a:r>
            <a:r>
              <a:rPr sz="2800" spc="-9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5563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61079" y="615504"/>
            <a:ext cx="92749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File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59579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5160" y="615504"/>
            <a:ext cx="96354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FTP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3184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File URI format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2494753"/>
            <a:ext cx="7646158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ile: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or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ile://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e.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.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ile:/Use</a:t>
            </a:r>
            <a:r>
              <a:rPr sz="4200" spc="-9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s/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er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/inco</a:t>
            </a:r>
            <a:r>
              <a:rPr sz="4200" spc="-1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3656689"/>
            <a:ext cx="321453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FTP URI format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4322283"/>
            <a:ext cx="6223791" cy="957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ftp</a:t>
            </a:r>
            <a:r>
              <a:rPr sz="2800" spc="0" dirty="0" smtClean="0">
                <a:latin typeface="Verdana"/>
                <a:cs typeface="Verdana"/>
              </a:rPr>
              <a:t>://[use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@]hos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[: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]/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irec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e.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. </a:t>
            </a:r>
            <a:r>
              <a:rPr sz="4200" spc="-4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ftp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://</a:t>
            </a:r>
            <a:r>
              <a:rPr sz="4200" spc="-4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g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er</a:t>
            </a:r>
            <a:r>
              <a:rPr sz="4200" spc="-4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@www/</a:t>
            </a:r>
            <a:r>
              <a:rPr sz="4200" spc="-9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p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u</a:t>
            </a:r>
            <a:r>
              <a:rPr sz="4200" spc="-9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b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lic_h</a:t>
            </a:r>
            <a:r>
              <a:rPr sz="4200" spc="-9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4200" spc="-4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m</a:t>
            </a:r>
            <a:r>
              <a:rPr sz="4200" spc="0" baseline="-1959" dirty="0" smtClean="0">
                <a:solidFill>
                  <a:srgbClr val="00007F"/>
                </a:solidFill>
                <a:latin typeface="Verdana"/>
                <a:cs typeface="Verdana"/>
                <a:hlinkClick r:id="rId3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290" y="5475443"/>
            <a:ext cx="613395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Bo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of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hem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ha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 si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ilar 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55563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5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8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File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and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FTP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290" y="1829159"/>
            <a:ext cx="291571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Selecting files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5090" y="2494753"/>
            <a:ext cx="2543024" cy="21107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39">
              <a:lnSpc>
                <a:spcPts val="3005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ecu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si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1103656">
              <a:lnSpc>
                <a:spcPts val="3402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inclu</a:t>
            </a:r>
            <a:r>
              <a:rPr sz="2800" spc="-1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endParaRPr sz="2800">
              <a:latin typeface="Verdana"/>
              <a:cs typeface="Verdana"/>
            </a:endParaRPr>
          </a:p>
          <a:p>
            <a:pPr marL="12700" marR="1103656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exclu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30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il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er 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ers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43502" y="4224493"/>
            <a:ext cx="294966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Gene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icFileFil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4801073"/>
            <a:ext cx="756874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sor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ers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Co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ara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or&lt;Gene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icFile&gt;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48819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5297170"/>
            <a:ext cx="5905519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"file:local?recursive=true&amp;include=.*html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73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"ftp://www@www.anova.be/public_html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5737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403484" y="984250"/>
            <a:ext cx="1687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468007" y="984250"/>
            <a:ext cx="1698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03618" y="984250"/>
            <a:ext cx="35763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8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File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and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FTP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403201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Poll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r confi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uration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2494753"/>
            <a:ext cx="2107139" cy="2687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ele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4540"/>
              </a:lnSpc>
              <a:spcBef>
                <a:spcPts val="396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ove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oveFailed noop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eMo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48819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8600" y="5787390"/>
            <a:ext cx="566040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"file:orders?move=done&amp;moveFailed=error</a:t>
            </a:r>
            <a:r>
              <a:rPr sz="1600" spc="-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5737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403484" y="984250"/>
            <a:ext cx="1687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468007" y="984250"/>
            <a:ext cx="1698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03618" y="984250"/>
            <a:ext cx="35763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8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File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and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FTP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515489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Lo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ki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 and concurrency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2494753"/>
            <a:ext cx="5451418" cy="25438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Loc</a:t>
            </a:r>
            <a:r>
              <a:rPr sz="2800" spc="-4" dirty="0" smtClean="0">
                <a:latin typeface="Verdana"/>
                <a:cs typeface="Verdana"/>
              </a:rPr>
              <a:t>k</a:t>
            </a:r>
            <a:r>
              <a:rPr sz="2800" spc="0" dirty="0" smtClean="0"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9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arkerFile,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chan</a:t>
            </a:r>
            <a:r>
              <a:rPr sz="4200" spc="-1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,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ileLoc</a:t>
            </a:r>
            <a:r>
              <a:rPr sz="4200" spc="-9" baseline="-1959" dirty="0" smtClean="0">
                <a:latin typeface="Verdana"/>
                <a:cs typeface="Verdana"/>
              </a:rPr>
              <a:t>k</a:t>
            </a:r>
            <a:r>
              <a:rPr sz="4200" spc="0" baseline="-1959" dirty="0" smtClean="0"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  <a:p>
            <a:pPr marL="12700" marR="1451341">
              <a:lnSpc>
                <a:spcPts val="3402"/>
              </a:lnSpc>
              <a:spcBef>
                <a:spcPts val="967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ent </a:t>
            </a:r>
            <a:endParaRPr sz="2800">
              <a:latin typeface="Verdana"/>
              <a:cs typeface="Verdana"/>
            </a:endParaRPr>
          </a:p>
          <a:p>
            <a:pPr marL="12700" marR="1451341">
              <a:lnSpc>
                <a:spcPts val="3402"/>
              </a:lnSpc>
              <a:spcBef>
                <a:spcPts val="1146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Re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osi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ory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390"/>
              </a:lnSpc>
              <a:spcBef>
                <a:spcPts val="131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inPro</a:t>
            </a:r>
            <a:r>
              <a:rPr sz="4200" spc="-9" baseline="-1959" dirty="0" smtClean="0">
                <a:latin typeface="Verdana"/>
                <a:cs typeface="Verdana"/>
              </a:rPr>
              <a:t>g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essRe</a:t>
            </a:r>
            <a:r>
              <a:rPr sz="4200" spc="-1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osi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ory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1954" y="2926553"/>
            <a:ext cx="156709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e,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64245" y="2926553"/>
            <a:ext cx="95645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none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5840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41618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47384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5737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403484" y="984250"/>
            <a:ext cx="1687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468007" y="984250"/>
            <a:ext cx="1698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03618" y="984250"/>
            <a:ext cx="35763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61079" y="615504"/>
            <a:ext cx="92749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File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59579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5160" y="615504"/>
            <a:ext cx="96354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FTP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2516630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W</a:t>
            </a:r>
            <a:r>
              <a:rPr sz="3200" spc="0" dirty="0" smtClean="0">
                <a:latin typeface="Verdana"/>
                <a:cs typeface="Verdana"/>
              </a:rPr>
              <a:t>riting files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180898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File 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889" y="3061287"/>
            <a:ext cx="5199408" cy="1286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2864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use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essa</a:t>
            </a:r>
            <a:r>
              <a:rPr sz="2400" spc="-4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 id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30208"/>
              </a:lnSpc>
              <a:spcBef>
                <a:spcPts val="543"/>
              </a:spcBef>
            </a:pPr>
            <a:r>
              <a:rPr sz="2400" spc="0" dirty="0" smtClean="0">
                <a:latin typeface="Verdana"/>
                <a:cs typeface="Verdana"/>
              </a:rPr>
              <a:t>use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Exchan</a:t>
            </a:r>
            <a:r>
              <a:rPr sz="2400" spc="-9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</a:t>
            </a:r>
            <a:r>
              <a:rPr sz="2400" spc="-4" dirty="0" smtClean="0">
                <a:latin typeface="Verdana"/>
                <a:cs typeface="Verdana"/>
              </a:rPr>
              <a:t>.</a:t>
            </a:r>
            <a:r>
              <a:rPr sz="2400" spc="0" dirty="0" smtClean="0">
                <a:latin typeface="Verdana"/>
                <a:cs typeface="Verdana"/>
              </a:rPr>
              <a:t>FI</a:t>
            </a:r>
            <a:r>
              <a:rPr sz="2400" spc="-4" dirty="0" smtClean="0">
                <a:latin typeface="Verdana"/>
                <a:cs typeface="Verdana"/>
              </a:rPr>
              <a:t>L</a:t>
            </a:r>
            <a:r>
              <a:rPr sz="2400" spc="0" dirty="0" smtClean="0">
                <a:latin typeface="Verdana"/>
                <a:cs typeface="Verdana"/>
              </a:rPr>
              <a:t>E_NAME hea</a:t>
            </a:r>
            <a:r>
              <a:rPr sz="2400" spc="-4" dirty="0" smtClean="0">
                <a:latin typeface="Verdana"/>
                <a:cs typeface="Verdana"/>
              </a:rPr>
              <a:t>d</a:t>
            </a:r>
            <a:r>
              <a:rPr sz="2400" spc="0" dirty="0" smtClean="0">
                <a:latin typeface="Verdana"/>
                <a:cs typeface="Verdana"/>
              </a:rPr>
              <a:t>er speci</a:t>
            </a:r>
            <a:r>
              <a:rPr sz="2400" spc="-9" dirty="0" smtClean="0">
                <a:latin typeface="Verdana"/>
                <a:cs typeface="Verdana"/>
              </a:rPr>
              <a:t>f</a:t>
            </a:r>
            <a:r>
              <a:rPr sz="2400" spc="0" dirty="0" smtClean="0">
                <a:latin typeface="Verdana"/>
                <a:cs typeface="Verdana"/>
              </a:rPr>
              <a:t>y on endpoint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9870" y="35697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870" y="404724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960" y="4874259"/>
            <a:ext cx="7824489" cy="988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23"/>
              </a:spcBef>
            </a:pPr>
            <a:r>
              <a:rPr sz="1600" dirty="0" smtClean="0">
                <a:latin typeface="Times New Roman"/>
                <a:cs typeface="Times New Roman"/>
              </a:rPr>
              <a:t>.setHeader(Exchange</a:t>
            </a:r>
            <a:r>
              <a:rPr sz="1600" spc="-14" dirty="0" smtClean="0">
                <a:latin typeface="Times New Roman"/>
                <a:cs typeface="Times New Roman"/>
              </a:rPr>
              <a:t>.</a:t>
            </a:r>
            <a:r>
              <a:rPr sz="16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FILE_NAME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latin typeface="Times New Roman"/>
                <a:cs typeface="Times New Roman"/>
              </a:rPr>
              <a:t>.simple(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"${file:name.noext}-${date:now:hhmmss}.${file:ext}</a:t>
            </a:r>
            <a:r>
              <a:rPr sz="1600" spc="-3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"file:handled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960" y="6140450"/>
            <a:ext cx="6027459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"file:handled?filename=${file:name}.done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</a:t>
            </a:r>
            <a:r>
              <a:rPr sz="3800" u="heavy" spc="8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File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and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FTP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290" y="1829159"/>
            <a:ext cx="482132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Other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ucer 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2494753"/>
            <a:ext cx="3418347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ileE</a:t>
            </a:r>
            <a:r>
              <a:rPr sz="2800" spc="-4" dirty="0" smtClean="0">
                <a:latin typeface="Verdana"/>
                <a:cs typeface="Verdana"/>
              </a:rPr>
              <a:t>x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: </a:t>
            </a:r>
            <a:r>
              <a:rPr sz="2800" spc="-4" dirty="0" smtClean="0">
                <a:latin typeface="Verdana"/>
                <a:cs typeface="Verdana"/>
              </a:rPr>
              <a:t>O</a:t>
            </a:r>
            <a:r>
              <a:rPr sz="2800" spc="0" dirty="0" smtClean="0">
                <a:latin typeface="Verdana"/>
                <a:cs typeface="Verdana"/>
              </a:rPr>
              <a:t>ver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e,</a:t>
            </a:r>
            <a:endParaRPr sz="2800">
              <a:latin typeface="Verdana"/>
              <a:cs typeface="Verdana"/>
            </a:endParaRPr>
          </a:p>
          <a:p>
            <a:pPr marL="12700" marR="775984">
              <a:lnSpc>
                <a:spcPct val="133928"/>
              </a:lnSpc>
              <a:spcBef>
                <a:spcPts val="651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ix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File</a:t>
            </a:r>
            <a:r>
              <a:rPr sz="2800" spc="-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8633" y="2494753"/>
            <a:ext cx="154941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App</a:t>
            </a:r>
            <a:r>
              <a:rPr sz="2800" spc="0" dirty="0" smtClean="0">
                <a:latin typeface="Verdana"/>
                <a:cs typeface="Verdana"/>
              </a:rPr>
              <a:t>en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3499" y="2494753"/>
            <a:ext cx="82119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Fail,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79385" y="2494753"/>
            <a:ext cx="125318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nore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5737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403484" y="984250"/>
            <a:ext cx="1687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468007" y="984250"/>
            <a:ext cx="1698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03618" y="984250"/>
            <a:ext cx="35763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99080" y="615504"/>
            <a:ext cx="105379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JMS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4020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89601" y="615504"/>
            <a:ext cx="236139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ActiveMQ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1829159"/>
            <a:ext cx="448646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Two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MS com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2494753"/>
            <a:ext cx="6817401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.a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ache.ca</a:t>
            </a:r>
            <a:r>
              <a:rPr sz="2800" spc="-1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el:ca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el-</a:t>
            </a:r>
            <a:r>
              <a:rPr sz="2800" spc="-4" dirty="0" smtClean="0">
                <a:latin typeface="Verdana"/>
                <a:cs typeface="Verdana"/>
              </a:rPr>
              <a:t>jm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or</a:t>
            </a:r>
            <a:r>
              <a:rPr sz="4200" spc="-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.a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ache.ac</a:t>
            </a:r>
            <a:r>
              <a:rPr sz="4200" spc="-1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ive</a:t>
            </a:r>
            <a:r>
              <a:rPr sz="4200" spc="-4" baseline="-1959" dirty="0" smtClean="0">
                <a:latin typeface="Verdana"/>
                <a:cs typeface="Verdana"/>
              </a:rPr>
              <a:t>mq</a:t>
            </a:r>
            <a:r>
              <a:rPr sz="4200" spc="0" baseline="-1959" dirty="0" smtClean="0">
                <a:latin typeface="Verdana"/>
                <a:cs typeface="Verdana"/>
              </a:rPr>
              <a:t>:ac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ive</a:t>
            </a:r>
            <a:r>
              <a:rPr sz="4200" spc="-4" baseline="-1959" dirty="0" smtClean="0">
                <a:latin typeface="Verdana"/>
                <a:cs typeface="Verdana"/>
              </a:rPr>
              <a:t>mq</a:t>
            </a:r>
            <a:r>
              <a:rPr sz="4200" spc="0" baseline="-1959" dirty="0" smtClean="0">
                <a:latin typeface="Verdana"/>
                <a:cs typeface="Verdana"/>
              </a:rPr>
              <a:t>-ca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3656689"/>
            <a:ext cx="234280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URI format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470" y="4322283"/>
            <a:ext cx="8388680" cy="17305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732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jm</a:t>
            </a:r>
            <a:r>
              <a:rPr sz="2800" spc="0" dirty="0" smtClean="0">
                <a:latin typeface="Verdana"/>
                <a:cs typeface="Verdana"/>
              </a:rPr>
              <a:t>s:[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:|</a:t>
            </a: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0" dirty="0" smtClean="0">
                <a:latin typeface="Verdana"/>
                <a:cs typeface="Verdana"/>
              </a:rPr>
              <a:t>ueue:|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ic:]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ina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r>
              <a:rPr sz="2800" spc="-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e[?</a:t>
            </a:r>
            <a:endParaRPr sz="2800">
              <a:latin typeface="Verdana"/>
              <a:cs typeface="Verdana"/>
            </a:endParaRPr>
          </a:p>
          <a:p>
            <a:pPr marL="147320" marR="53340">
              <a:lnSpc>
                <a:spcPts val="3400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ions]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95825"/>
              </a:lnSpc>
              <a:spcBef>
                <a:spcPts val="1148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"jms:incoming.orders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5334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"jms:topic:events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53340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"jms:queue:orders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99080" y="615504"/>
            <a:ext cx="105379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JMS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4020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9601" y="615504"/>
            <a:ext cx="236139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ActiveMQ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74275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 ma</a:t>
            </a:r>
            <a:r>
              <a:rPr sz="3200" spc="-4" dirty="0" smtClean="0">
                <a:latin typeface="Verdana"/>
                <a:cs typeface="Verdana"/>
              </a:rPr>
              <a:t>pp</a:t>
            </a:r>
            <a:r>
              <a:rPr sz="3200" spc="0" dirty="0" smtClean="0">
                <a:latin typeface="Verdana"/>
                <a:cs typeface="Verdana"/>
              </a:rPr>
              <a:t>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6508459" cy="14666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59">
              <a:lnSpc>
                <a:spcPts val="3020"/>
              </a:lnSpc>
              <a:spcBef>
                <a:spcPts val="151"/>
              </a:spcBef>
            </a:pPr>
            <a:r>
              <a:rPr sz="2800" spc="-4" dirty="0" smtClean="0">
                <a:latin typeface="Verdana"/>
                <a:cs typeface="Verdana"/>
              </a:rPr>
              <a:t>St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, 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3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807" dirty="0" smtClean="0">
                <a:latin typeface="Times New Roman"/>
                <a:cs typeface="Times New Roman"/>
              </a:rPr>
              <a:t> </a:t>
            </a:r>
            <a:r>
              <a:rPr sz="2800" spc="-30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ext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essage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771" dirty="0" smtClean="0">
                <a:latin typeface="Times New Roman"/>
                <a:cs typeface="Times New Roman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St</a:t>
            </a:r>
            <a:r>
              <a:rPr sz="2800" spc="-4" dirty="0" smtClean="0">
                <a:latin typeface="Arial"/>
                <a:cs typeface="Arial"/>
              </a:rPr>
              <a:t>ri</a:t>
            </a:r>
            <a:r>
              <a:rPr sz="2800" spc="0" dirty="0" smtClean="0">
                <a:latin typeface="Arial"/>
                <a:cs typeface="Arial"/>
              </a:rPr>
              <a:t>ng</a:t>
            </a:r>
            <a:endParaRPr sz="2800">
              <a:latin typeface="Arial"/>
              <a:cs typeface="Arial"/>
            </a:endParaRPr>
          </a:p>
          <a:p>
            <a:pPr marL="12700" marR="53359">
              <a:lnSpc>
                <a:spcPct val="95825"/>
              </a:lnSpc>
              <a:spcBef>
                <a:spcPts val="866"/>
              </a:spcBef>
            </a:pP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ap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762" dirty="0" smtClean="0">
                <a:latin typeface="Times New Roman"/>
                <a:cs typeface="Times New Roman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ap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essage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771" dirty="0" smtClean="0">
                <a:latin typeface="Times New Roman"/>
                <a:cs typeface="Times New Roman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ap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17"/>
              </a:spcBef>
            </a:pPr>
            <a:r>
              <a:rPr sz="2800" spc="0" dirty="0" smtClean="0">
                <a:latin typeface="Arial"/>
                <a:cs typeface="Arial"/>
              </a:rPr>
              <a:t>Se</a:t>
            </a:r>
            <a:r>
              <a:rPr sz="2800" spc="-4" dirty="0" smtClean="0">
                <a:latin typeface="Arial"/>
                <a:cs typeface="Arial"/>
              </a:rPr>
              <a:t>ri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4" dirty="0" smtClean="0">
                <a:latin typeface="Arial"/>
                <a:cs typeface="Arial"/>
              </a:rPr>
              <a:t>li</a:t>
            </a:r>
            <a:r>
              <a:rPr sz="2800" spc="0" dirty="0" smtClean="0">
                <a:latin typeface="Arial"/>
                <a:cs typeface="Arial"/>
              </a:rPr>
              <a:t>zab</a:t>
            </a:r>
            <a:r>
              <a:rPr sz="2800" spc="-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762" dirty="0" smtClean="0">
                <a:latin typeface="Times New Roman"/>
                <a:cs typeface="Times New Roman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Ob</a:t>
            </a:r>
            <a:r>
              <a:rPr sz="2800" spc="-4" dirty="0" smtClean="0">
                <a:latin typeface="Arial"/>
                <a:cs typeface="Arial"/>
              </a:rPr>
              <a:t>j</a:t>
            </a:r>
            <a:r>
              <a:rPr sz="2800" spc="0" dirty="0" smtClean="0">
                <a:latin typeface="Arial"/>
                <a:cs typeface="Arial"/>
              </a:rPr>
              <a:t>ect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essage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r>
              <a:rPr sz="2800" spc="-762" dirty="0" smtClean="0">
                <a:latin typeface="Times New Roman"/>
                <a:cs typeface="Times New Roman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Ob</a:t>
            </a:r>
            <a:r>
              <a:rPr sz="2800" spc="-4" dirty="0" smtClean="0">
                <a:latin typeface="Arial"/>
                <a:cs typeface="Arial"/>
              </a:rPr>
              <a:t>j</a:t>
            </a:r>
            <a:r>
              <a:rPr sz="2800" spc="0" dirty="0" smtClean="0">
                <a:latin typeface="Arial"/>
                <a:cs typeface="Arial"/>
              </a:rPr>
              <a:t>ect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3316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67418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4121292"/>
            <a:ext cx="1047334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byte[],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2601" y="4121292"/>
            <a:ext cx="132399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eade</a:t>
            </a:r>
            <a:r>
              <a:rPr sz="2800" spc="-150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6769" y="4121292"/>
            <a:ext cx="4105038" cy="7773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59">
              <a:lnSpc>
                <a:spcPts val="2975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InputSt</a:t>
            </a: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eam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endParaRPr sz="2800">
              <a:latin typeface="Times New Roman"/>
              <a:cs typeface="Times New Roman"/>
            </a:endParaRPr>
          </a:p>
          <a:p>
            <a:pPr marL="1258620">
              <a:lnSpc>
                <a:spcPts val="3120"/>
              </a:lnSpc>
              <a:spcBef>
                <a:spcPts val="7"/>
              </a:spcBef>
            </a:pPr>
            <a:r>
              <a:rPr sz="2800" spc="0" dirty="0" smtClean="0">
                <a:latin typeface="Arial"/>
                <a:cs typeface="Arial"/>
              </a:rPr>
              <a:t>Bytes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essage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Times New Roman"/>
                <a:cs typeface="Times New Roman"/>
              </a:rPr>
              <a:t>à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42139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2846" y="4517532"/>
            <a:ext cx="948477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byte[]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</a:t>
            </a:r>
            <a:r>
              <a:rPr sz="3800" u="heavy" spc="-57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JMS</a:t>
            </a:r>
            <a:r>
              <a:rPr sz="3800" u="heavy" spc="-50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and</a:t>
            </a:r>
            <a:r>
              <a:rPr sz="3800" u="heavy" spc="-3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ActiveMQ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290" y="1829159"/>
            <a:ext cx="615512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Some of the availa</a:t>
            </a:r>
            <a:r>
              <a:rPr sz="3200" spc="-1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le 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5090" y="2494753"/>
            <a:ext cx="638657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ansac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and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ac</a:t>
            </a:r>
            <a:r>
              <a:rPr sz="2800" spc="-4" dirty="0" smtClean="0">
                <a:latin typeface="Verdana"/>
                <a:cs typeface="Verdana"/>
              </a:rPr>
              <a:t>k</a:t>
            </a:r>
            <a:r>
              <a:rPr sz="2800" spc="0" dirty="0" smtClean="0">
                <a:latin typeface="Verdana"/>
                <a:cs typeface="Verdana"/>
              </a:rPr>
              <a:t>nowle</a:t>
            </a:r>
            <a:r>
              <a:rPr sz="2800" spc="-14" dirty="0" smtClean="0">
                <a:latin typeface="Verdana"/>
                <a:cs typeface="Verdana"/>
              </a:rPr>
              <a:t>d</a:t>
            </a:r>
            <a:r>
              <a:rPr sz="2800" spc="-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090" y="3071333"/>
            <a:ext cx="5245766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JMS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iori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y,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live and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ura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le su</a:t>
            </a:r>
            <a:r>
              <a:rPr sz="4200" spc="-9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scri</a:t>
            </a:r>
            <a:r>
              <a:rPr sz="4200" spc="-4" baseline="-1959" dirty="0" smtClean="0">
                <a:latin typeface="Verdana"/>
                <a:cs typeface="Verdana"/>
              </a:rPr>
              <a:t>pt</a:t>
            </a:r>
            <a:r>
              <a:rPr sz="4200" spc="0" baseline="-1959" dirty="0" smtClean="0">
                <a:latin typeface="Verdana"/>
                <a:cs typeface="Verdana"/>
              </a:rPr>
              <a:t>ions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5351" y="3071333"/>
            <a:ext cx="149075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eli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81898" y="3071333"/>
            <a:ext cx="107218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1869" y="4885690"/>
            <a:ext cx="5387379" cy="734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"jms:incoming.orders?transacted=true</a:t>
            </a:r>
            <a:r>
              <a:rPr sz="1600" spc="-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"jms:topic:events?priority=7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"jms:queue:orders?timeToLive=1000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1869" y="5897880"/>
            <a:ext cx="8068329" cy="7353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"jms:topic:events?</a:t>
            </a:r>
            <a:endParaRPr sz="1600">
              <a:latin typeface="Times New Roman"/>
              <a:cs typeface="Times New Roman"/>
            </a:endParaRPr>
          </a:p>
          <a:p>
            <a:pPr marL="2298700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clientId=camel&amp;durableSubscriptionName=events</a:t>
            </a:r>
            <a:r>
              <a:rPr sz="1600" spc="-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"log:events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7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281178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67789" y="984250"/>
            <a:ext cx="1689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832448" y="984250"/>
            <a:ext cx="1698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265902" y="984250"/>
            <a:ext cx="281408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46600" y="615504"/>
            <a:ext cx="105921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Mail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665745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cam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r>
              <a:rPr sz="3200" spc="-4" dirty="0" smtClean="0">
                <a:latin typeface="Verdana"/>
                <a:cs typeface="Verdana"/>
              </a:rPr>
              <a:t>-</a:t>
            </a:r>
            <a:r>
              <a:rPr sz="3200" spc="0" dirty="0" smtClean="0">
                <a:latin typeface="Verdana"/>
                <a:cs typeface="Verdana"/>
              </a:rPr>
              <a:t>mail com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 su</a:t>
            </a:r>
            <a:r>
              <a:rPr sz="3200" spc="-4" dirty="0" smtClean="0">
                <a:latin typeface="Verdana"/>
                <a:cs typeface="Verdana"/>
              </a:rPr>
              <a:t>pp</a:t>
            </a:r>
            <a:r>
              <a:rPr sz="3200" spc="0" dirty="0" smtClean="0">
                <a:latin typeface="Verdana"/>
                <a:cs typeface="Verdana"/>
              </a:rPr>
              <a:t>orts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6401098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MTP(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)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sen</a:t>
            </a:r>
            <a:r>
              <a:rPr sz="2800" spc="-1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ails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IM</a:t>
            </a:r>
            <a:r>
              <a:rPr sz="4200" spc="-9" baseline="-1959" dirty="0" smtClean="0">
                <a:latin typeface="Verdana"/>
                <a:cs typeface="Verdana"/>
              </a:rPr>
              <a:t>A</a:t>
            </a:r>
            <a:r>
              <a:rPr sz="4200" spc="0" baseline="-1959" dirty="0" smtClean="0">
                <a:latin typeface="Verdana"/>
                <a:cs typeface="Verdana"/>
              </a:rPr>
              <a:t>P(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)/P</a:t>
            </a:r>
            <a:r>
              <a:rPr sz="4200" spc="-4" baseline="-1959" dirty="0" smtClean="0">
                <a:latin typeface="Verdana"/>
                <a:cs typeface="Verdana"/>
              </a:rPr>
              <a:t>O</a:t>
            </a:r>
            <a:r>
              <a:rPr sz="4200" spc="0" baseline="-1959" dirty="0" smtClean="0">
                <a:latin typeface="Verdana"/>
                <a:cs typeface="Verdana"/>
              </a:rPr>
              <a:t>P(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)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or 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ecei</a:t>
            </a:r>
            <a:r>
              <a:rPr sz="4200" spc="-4" baseline="-1959" dirty="0" smtClean="0">
                <a:latin typeface="Verdana"/>
                <a:cs typeface="Verdana"/>
              </a:rPr>
              <a:t>v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ails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3656689"/>
            <a:ext cx="234280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URI format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322283"/>
            <a:ext cx="7698379" cy="15341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7531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://[use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e@]hos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[: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][?o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ions]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986"/>
              </a:spcBef>
            </a:pP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3://[use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e@]hos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[: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][?o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ions]</a:t>
            </a:r>
            <a:endParaRPr sz="2800">
              <a:latin typeface="Verdana"/>
              <a:cs typeface="Verdana"/>
            </a:endParaRPr>
          </a:p>
          <a:p>
            <a:pPr marL="12700" marR="3662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s</a:t>
            </a:r>
            <a:r>
              <a:rPr sz="4200" spc="-4" baseline="-1959" dirty="0" smtClean="0">
                <a:latin typeface="Verdana"/>
                <a:cs typeface="Verdana"/>
              </a:rPr>
              <a:t>mtp</a:t>
            </a:r>
            <a:r>
              <a:rPr sz="4200" spc="0" baseline="-1959" dirty="0" smtClean="0">
                <a:latin typeface="Verdana"/>
                <a:cs typeface="Verdana"/>
              </a:rPr>
              <a:t>://[use</a:t>
            </a:r>
            <a:r>
              <a:rPr sz="4200" spc="-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na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e@]hos</a:t>
            </a:r>
            <a:r>
              <a:rPr sz="4200" spc="-1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[: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or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][?o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ions]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555632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8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6600" y="615504"/>
            <a:ext cx="105921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Mail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1829159"/>
            <a:ext cx="555449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 for receivi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g mails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2494753"/>
            <a:ext cx="4417771" cy="21107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use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e/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asswo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33928"/>
              </a:lnSpc>
              <a:spcBef>
                <a:spcPts val="651"/>
              </a:spcBef>
            </a:pP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ele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or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ark as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ead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ol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unseen=</a:t>
            </a:r>
            <a:r>
              <a:rPr sz="2800" spc="-19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alse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ead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all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9292" y="4224493"/>
            <a:ext cx="183671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9670" y="5116830"/>
            <a:ext cx="7368559" cy="735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"imap:server?username=user@server.com&amp;</a:t>
            </a:r>
            <a:endParaRPr sz="1600">
              <a:latin typeface="Times New Roman"/>
              <a:cs typeface="Times New Roman"/>
            </a:endParaRPr>
          </a:p>
          <a:p>
            <a:pPr marL="3670300">
              <a:lnSpc>
                <a:spcPct val="95825"/>
              </a:lnSpc>
              <a:spcBef>
                <a:spcPts val="73"/>
              </a:spcBef>
            </a:pP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password=secret&amp;unseen=false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900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"log:full-inbox</a:t>
            </a:r>
            <a:r>
              <a:rPr sz="160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6</a:t>
            </a:r>
            <a:r>
              <a:rPr sz="1300" spc="4" dirty="0" smtClean="0">
                <a:latin typeface="Verdana"/>
                <a:cs typeface="Verdana"/>
              </a:rPr>
              <a:t>9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46600" y="615504"/>
            <a:ext cx="105921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Mail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529724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</a:t>
            </a:r>
            <a:r>
              <a:rPr sz="3200" spc="-4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 for sen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ing mails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5090" y="2494753"/>
            <a:ext cx="5976424" cy="12458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,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o, cc,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cc can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 s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eci</a:t>
            </a:r>
            <a:r>
              <a:rPr sz="2800" spc="-9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ied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9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or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5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set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on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he 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essa</a:t>
            </a:r>
            <a:r>
              <a:rPr sz="4200" spc="-14" baseline="-1959" dirty="0" smtClean="0">
                <a:latin typeface="Verdana"/>
                <a:cs typeface="Verdana"/>
              </a:rPr>
              <a:t>g</a:t>
            </a:r>
            <a:r>
              <a:rPr sz="4200" spc="0" baseline="-1959" dirty="0" smtClean="0">
                <a:latin typeface="Verdana"/>
                <a:cs typeface="Verdana"/>
              </a:rPr>
              <a:t>e as hea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6109" y="2494753"/>
            <a:ext cx="130063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on URI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869" y="4138929"/>
            <a:ext cx="3469659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"file:orders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latin typeface="Times New Roman"/>
                <a:cs typeface="Times New Roman"/>
              </a:rPr>
              <a:t>.process(</a:t>
            </a:r>
            <a:r>
              <a:rPr sz="160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 </a:t>
            </a:r>
            <a:r>
              <a:rPr sz="1600" spc="159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Processor() </a:t>
            </a:r>
            <a:r>
              <a:rPr sz="1600" spc="28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550" y="4898390"/>
            <a:ext cx="7607384" cy="1240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349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600" spc="335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48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process(Exchange</a:t>
            </a:r>
            <a:r>
              <a:rPr sz="1600" spc="30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exchange)</a:t>
            </a:r>
            <a:r>
              <a:rPr sz="1600" spc="28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sz="1600" spc="38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Exception</a:t>
            </a:r>
            <a:r>
              <a:rPr sz="1600" spc="42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 dirty="0">
              <a:latin typeface="Times New Roman"/>
              <a:cs typeface="Times New Roman"/>
            </a:endParaRPr>
          </a:p>
          <a:p>
            <a:pPr marL="256539">
              <a:lnSpc>
                <a:spcPts val="1839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Map&lt;String,</a:t>
            </a:r>
            <a:r>
              <a:rPr sz="1600" spc="18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Object&gt;</a:t>
            </a:r>
            <a:r>
              <a:rPr sz="1600" spc="328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headers </a:t>
            </a:r>
            <a:r>
              <a:rPr sz="1600" spc="14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 </a:t>
            </a:r>
            <a:r>
              <a:rPr sz="1600" spc="213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exchange.getIn().getHeaders(); </a:t>
            </a:r>
            <a:endParaRPr sz="1600" dirty="0">
              <a:latin typeface="Times New Roman"/>
              <a:cs typeface="Times New Roman"/>
            </a:endParaRPr>
          </a:p>
          <a:p>
            <a:pPr marL="256539">
              <a:lnSpc>
                <a:spcPts val="1839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headers.put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"To"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"gert.vanthienen@gmail.com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  <a:hlinkClick r:id="rId3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 </a:t>
            </a:r>
            <a:endParaRPr sz="1600" dirty="0">
              <a:latin typeface="Times New Roman"/>
              <a:cs typeface="Times New Roman"/>
            </a:endParaRPr>
          </a:p>
          <a:p>
            <a:pPr marL="256539">
              <a:lnSpc>
                <a:spcPts val="1839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  <a:hlinkClick r:id="rId3"/>
              </a:rPr>
              <a:t>headers.put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"Subject"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"Order</a:t>
            </a:r>
            <a:r>
              <a:rPr sz="1600" spc="435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confirmation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 dirty="0">
              <a:latin typeface="Times New Roman"/>
              <a:cs typeface="Times New Roman"/>
            </a:endParaRPr>
          </a:p>
          <a:p>
            <a:pPr marL="12700" marR="22349">
              <a:lnSpc>
                <a:spcPct val="95825"/>
              </a:lnSpc>
              <a:spcBef>
                <a:spcPts val="165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6416040"/>
            <a:ext cx="748795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}).to(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  <a:hlinkClick r:id="rId4"/>
              </a:rPr>
              <a:t>"smtp:relay.skynet.be?from=gert.vanthienen@skynet.be</a:t>
            </a:r>
            <a:r>
              <a:rPr sz="1600" spc="-50" dirty="0" smtClean="0">
                <a:solidFill>
                  <a:srgbClr val="2900FF"/>
                </a:solidFill>
                <a:latin typeface="Times New Roman"/>
                <a:cs typeface="Times New Roman"/>
                <a:hlinkClick r:id="rId4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0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00680" y="615504"/>
            <a:ext cx="172259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Quartz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94504" y="615504"/>
            <a:ext cx="99351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and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60085" y="615504"/>
            <a:ext cx="149031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Timer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290" y="1829159"/>
            <a:ext cx="613879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Two ways of sche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uling tasks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5090" y="2494753"/>
            <a:ext cx="581010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er: uses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a si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le Ja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a Ti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6889" y="3061287"/>
            <a:ext cx="2895306" cy="808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simple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723"/>
              </a:spcBef>
            </a:pPr>
            <a:r>
              <a:rPr sz="2400" spc="0" dirty="0" smtClean="0">
                <a:latin typeface="Verdana"/>
                <a:cs typeface="Verdana"/>
              </a:rPr>
              <a:t>pa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t of camel-c</a:t>
            </a:r>
            <a:r>
              <a:rPr sz="2400" spc="-4" dirty="0" smtClean="0">
                <a:latin typeface="Verdana"/>
                <a:cs typeface="Verdana"/>
              </a:rPr>
              <a:t>or</a:t>
            </a:r>
            <a:r>
              <a:rPr sz="2400" spc="0" dirty="0" smtClean="0">
                <a:latin typeface="Verdana"/>
                <a:cs typeface="Verdana"/>
              </a:rPr>
              <a:t>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9870" y="309093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9870" y="35697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4027643"/>
            <a:ext cx="362918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0" dirty="0" smtClean="0">
                <a:latin typeface="Verdana"/>
                <a:cs typeface="Verdana"/>
              </a:rPr>
              <a:t>uar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z: uses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0" dirty="0" smtClean="0">
                <a:latin typeface="Verdana"/>
                <a:cs typeface="Verdana"/>
              </a:rPr>
              <a:t>uar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z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410852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889" y="4594177"/>
            <a:ext cx="624082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o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 options,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e</a:t>
            </a:r>
            <a:r>
              <a:rPr sz="2400" spc="-4" dirty="0" smtClean="0">
                <a:latin typeface="Verdana"/>
                <a:cs typeface="Verdana"/>
              </a:rPr>
              <a:t>.</a:t>
            </a:r>
            <a:r>
              <a:rPr sz="2400" spc="0" dirty="0" smtClean="0">
                <a:latin typeface="Verdana"/>
                <a:cs typeface="Verdana"/>
              </a:rPr>
              <a:t>g. c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on-like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exp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essi</a:t>
            </a:r>
            <a:r>
              <a:rPr sz="2400" spc="-4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ns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870" y="46238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889" y="5072967"/>
            <a:ext cx="38976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co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ponent camel-qua</a:t>
            </a:r>
            <a:r>
              <a:rPr sz="2400" spc="-9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tz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870" y="510261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270" y="5330190"/>
            <a:ext cx="4443749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"timer:per-second?period=1000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899" marR="30479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"log:seconds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270" y="5836920"/>
            <a:ext cx="8284229" cy="734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"quartz:triggered?trigger.repeatCount=10</a:t>
            </a:r>
            <a:endParaRPr sz="1600">
              <a:latin typeface="Times New Roman"/>
              <a:cs typeface="Times New Roman"/>
            </a:endParaRPr>
          </a:p>
          <a:p>
            <a:pPr marL="4584700">
              <a:lnSpc>
                <a:spcPct val="95825"/>
              </a:lnSpc>
              <a:spcBef>
                <a:spcPts val="63"/>
              </a:spcBef>
            </a:pP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&amp;trigger.repeatInterval=5000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69899" marR="3047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"log:quartz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1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13250" y="615504"/>
            <a:ext cx="132369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-4" dirty="0" smtClean="0">
                <a:latin typeface="Verdana"/>
                <a:cs typeface="Verdana"/>
              </a:rPr>
              <a:t>X</a:t>
            </a:r>
            <a:r>
              <a:rPr sz="3800" spc="0" dirty="0" smtClean="0">
                <a:latin typeface="Verdana"/>
                <a:cs typeface="Verdana"/>
              </a:rPr>
              <a:t>SLT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855725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Pro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ess messa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es with an </a:t>
            </a:r>
            <a:r>
              <a:rPr sz="3200" spc="-4" dirty="0" smtClean="0">
                <a:latin typeface="Verdana"/>
                <a:cs typeface="Verdana"/>
              </a:rPr>
              <a:t>X</a:t>
            </a:r>
            <a:r>
              <a:rPr sz="3200" spc="0" dirty="0" smtClean="0">
                <a:latin typeface="Verdana"/>
                <a:cs typeface="Verdana"/>
              </a:rPr>
              <a:t>SLT tem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late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7752039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is used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con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ert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access</a:t>
            </a:r>
            <a:r>
              <a:rPr sz="4200" spc="-1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 hea</a:t>
            </a:r>
            <a:r>
              <a:rPr sz="4200" spc="-9" baseline="-1959" dirty="0" smtClean="0">
                <a:latin typeface="Verdana"/>
                <a:cs typeface="Verdana"/>
              </a:rPr>
              <a:t>d</a:t>
            </a:r>
            <a:r>
              <a:rPr sz="4200" spc="0" baseline="-1959" dirty="0" smtClean="0">
                <a:latin typeface="Verdana"/>
                <a:cs typeface="Verdana"/>
              </a:rPr>
              <a:t>ers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y using</a:t>
            </a:r>
            <a:r>
              <a:rPr sz="4200" spc="-14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&lt;xsl:</a:t>
            </a:r>
            <a:r>
              <a:rPr sz="4200" spc="-9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ara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/&gt;s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90" y="3656689"/>
            <a:ext cx="83734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URI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74985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322283"/>
            <a:ext cx="4268866" cy="18224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xsl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: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e[?o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ions]</a:t>
            </a:r>
            <a:endParaRPr sz="2800">
              <a:latin typeface="Verdana"/>
              <a:cs typeface="Verdana"/>
            </a:endParaRPr>
          </a:p>
          <a:p>
            <a:pPr marL="12700" marR="41660">
              <a:lnSpc>
                <a:spcPts val="3400"/>
              </a:lnSpc>
              <a:spcBef>
                <a:spcPts val="1251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can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 on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h</a:t>
            </a:r>
            <a:r>
              <a:rPr sz="2800" spc="-4" dirty="0" smtClean="0">
                <a:latin typeface="Verdana"/>
                <a:cs typeface="Verdana"/>
              </a:rPr>
              <a:t>ttp</a:t>
            </a:r>
            <a:r>
              <a:rPr sz="2800" spc="0" dirty="0" smtClean="0">
                <a:latin typeface="Verdana"/>
                <a:cs typeface="Verdana"/>
              </a:rPr>
              <a:t>://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315"/>
              </a:lnSpc>
            </a:pPr>
            <a:r>
              <a:rPr sz="4200" spc="0" baseline="-1959" dirty="0" smtClean="0">
                <a:latin typeface="Verdana"/>
                <a:cs typeface="Verdana"/>
              </a:rPr>
              <a:t>(</a:t>
            </a:r>
            <a:r>
              <a:rPr sz="4200" spc="-4" baseline="-1959" dirty="0" smtClean="0">
                <a:latin typeface="Verdana"/>
                <a:cs typeface="Verdana"/>
              </a:rPr>
              <a:t>Sp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esou</a:t>
            </a:r>
            <a:r>
              <a:rPr sz="4200" spc="-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ce URI)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440316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8690" y="4898863"/>
            <a:ext cx="351966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class</a:t>
            </a:r>
            <a:r>
              <a:rPr sz="2800" spc="-1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h,</a:t>
            </a:r>
            <a:r>
              <a:rPr sz="2800" spc="10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solidFill>
                  <a:srgbClr val="00007F"/>
                </a:solidFill>
                <a:latin typeface="Verdana"/>
                <a:cs typeface="Verdana"/>
                <a:hlinkClick r:id="rId3" invalidUrl="file:///\\"/>
              </a:rPr>
              <a:t>f</a:t>
            </a:r>
            <a:r>
              <a:rPr sz="2800" spc="0" dirty="0" smtClean="0">
                <a:solidFill>
                  <a:srgbClr val="00007F"/>
                </a:solidFill>
                <a:latin typeface="Verdana"/>
                <a:cs typeface="Verdana"/>
                <a:hlinkClick r:id="rId4" invalidUrl="file:///\\"/>
              </a:rPr>
              <a:t>ile:// </a:t>
            </a:r>
            <a:r>
              <a:rPr sz="2800" spc="0" dirty="0" smtClean="0">
                <a:latin typeface="Verdana"/>
                <a:cs typeface="Verdana"/>
                <a:hlinkClick r:id="rId5" invalidUrl="file:///\\"/>
              </a:rPr>
              <a:t>or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9797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2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     </a:t>
            </a:r>
            <a:r>
              <a:rPr sz="3800" u="heavy" spc="125" dirty="0" smtClean="0">
                <a:latin typeface="Verdana"/>
                <a:cs typeface="Verdana"/>
              </a:rPr>
              <a:t> </a:t>
            </a:r>
            <a:r>
              <a:rPr sz="3800" u="heavy" spc="-4" dirty="0" smtClean="0">
                <a:latin typeface="Verdana"/>
                <a:cs typeface="Verdana"/>
              </a:rPr>
              <a:t>X</a:t>
            </a:r>
            <a:r>
              <a:rPr sz="3800" u="heavy" spc="0" dirty="0" smtClean="0">
                <a:latin typeface="Verdana"/>
                <a:cs typeface="Verdana"/>
              </a:rPr>
              <a:t>SLT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8577989" cy="17458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xam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le for using hea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 as a 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aram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ter</a:t>
            </a:r>
            <a:endParaRPr sz="3200">
              <a:latin typeface="Verdana"/>
              <a:cs typeface="Verdana"/>
            </a:endParaRPr>
          </a:p>
          <a:p>
            <a:pPr marL="81279" marR="60959">
              <a:lnSpc>
                <a:spcPct val="95825"/>
              </a:lnSpc>
              <a:spcBef>
                <a:spcPts val="2263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"direct:xsl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38479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.setHeader</a:t>
            </a:r>
            <a:r>
              <a:rPr sz="1600" spc="-9" dirty="0" smtClean="0">
                <a:latin typeface="Times New Roman"/>
                <a:cs typeface="Times New Roman"/>
              </a:rPr>
              <a:t>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"timestamp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).simple(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"${date:now:yyyyMMdd.hhss}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38479" marR="60959">
              <a:lnSpc>
                <a:spcPct val="95825"/>
              </a:lnSpc>
              <a:spcBef>
                <a:spcPts val="16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"xslt:transform.xsl</a:t>
            </a:r>
            <a:r>
              <a:rPr sz="160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538479" marR="60959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.to(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"log:result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8380" y="3952855"/>
            <a:ext cx="566529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xsl:stylesheet </a:t>
            </a:r>
            <a:r>
              <a:rPr sz="1600" spc="13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versio</a:t>
            </a:r>
            <a:r>
              <a:rPr sz="1600" spc="9" dirty="0" smtClean="0">
                <a:solidFill>
                  <a:srgbClr val="7E007E"/>
                </a:solidFill>
                <a:latin typeface="Times New Roman"/>
                <a:cs typeface="Times New Roman"/>
              </a:rPr>
              <a:t>n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"1.0" </a:t>
            </a:r>
            <a:r>
              <a:rPr sz="1650" spc="1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xmlns:xsl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"..."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220" y="4458315"/>
            <a:ext cx="359267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xsl:param </a:t>
            </a:r>
            <a:r>
              <a:rPr sz="1600" spc="169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name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"timestamp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2220" y="4965045"/>
            <a:ext cx="7734124" cy="1246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80"/>
              </a:lnSpc>
              <a:spcBef>
                <a:spcPts val="89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xsl:template </a:t>
            </a:r>
            <a:r>
              <a:rPr sz="1600" spc="150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match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"/"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7810" marR="31555">
              <a:lnSpc>
                <a:spcPct val="95825"/>
              </a:lnSpc>
              <a:spcBef>
                <a:spcPts val="51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message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500380">
              <a:lnSpc>
                <a:spcPct val="95825"/>
              </a:lnSpc>
              <a:spcBef>
                <a:spcPts val="100"/>
              </a:spcBef>
            </a:pPr>
            <a:r>
              <a:rPr sz="1600" spc="11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body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spc="0" dirty="0" smtClean="0">
                <a:latin typeface="Times New Roman"/>
                <a:cs typeface="Times New Roman"/>
              </a:rPr>
              <a:t>Message </a:t>
            </a:r>
            <a:r>
              <a:rPr sz="1600" spc="87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at</a:t>
            </a:r>
            <a:r>
              <a:rPr sz="1600" spc="285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xsl:value-of </a:t>
            </a:r>
            <a:r>
              <a:rPr sz="1600" spc="150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select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"$timestamp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body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29870" marR="6229155" algn="ctr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-9" dirty="0" smtClean="0">
                <a:solidFill>
                  <a:srgbClr val="007F7F"/>
                </a:solidFill>
                <a:latin typeface="Times New Roman"/>
                <a:cs typeface="Times New Roman"/>
              </a:rPr>
              <a:t>/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messag</a:t>
            </a:r>
            <a:r>
              <a:rPr sz="1600" spc="9" dirty="0" smtClean="0">
                <a:solidFill>
                  <a:srgbClr val="3E7E7E"/>
                </a:solidFill>
                <a:latin typeface="Times New Roman"/>
                <a:cs typeface="Times New Roman"/>
              </a:rPr>
              <a:t>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xsl:templat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e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8380" y="6488430"/>
            <a:ext cx="212726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xsl:styleshee</a:t>
            </a:r>
            <a:r>
              <a:rPr sz="1600" spc="-9" dirty="0" smtClean="0">
                <a:solidFill>
                  <a:srgbClr val="3E7E7E"/>
                </a:solidFill>
                <a:latin typeface="Times New Roman"/>
                <a:cs typeface="Times New Roman"/>
              </a:rPr>
              <a:t>t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3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44259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651855" y="984250"/>
            <a:ext cx="44281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     </a:t>
            </a:r>
            <a:r>
              <a:rPr sz="3800" u="heavy" spc="-275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Exercise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290" y="1829159"/>
            <a:ext cx="61047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uild a set of cam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 routes to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5090" y="2494753"/>
            <a:ext cx="171937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Gene</a:t>
            </a:r>
            <a:r>
              <a:rPr sz="2800" spc="-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72993" y="2494753"/>
            <a:ext cx="5285078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963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every 30 secon</a:t>
            </a:r>
            <a:r>
              <a:rPr sz="2800" spc="-1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  <a:p>
            <a:pPr marL="72085" marR="53340">
              <a:lnSpc>
                <a:spcPct val="101277"/>
              </a:lnSpc>
              <a:spcBef>
                <a:spcPts val="986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a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307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ile and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it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o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he JMS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q</a:t>
            </a:r>
            <a:r>
              <a:rPr sz="4200" spc="0" baseline="-1959" dirty="0" smtClean="0">
                <a:latin typeface="Verdana"/>
                <a:cs typeface="Verdana"/>
              </a:rPr>
              <a:t>ueue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5090" y="3071333"/>
            <a:ext cx="1031286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Wri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Read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Read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2461" y="3071333"/>
            <a:ext cx="714736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2085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  <a:p>
            <a:pPr marL="13766" marR="59532" indent="-1066">
              <a:lnSpc>
                <a:spcPct val="135416"/>
              </a:lnSpc>
              <a:spcBef>
                <a:spcPts val="611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5127" y="4224493"/>
            <a:ext cx="414572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om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JMS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66584" y="4224493"/>
            <a:ext cx="117406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q</a:t>
            </a:r>
            <a:r>
              <a:rPr sz="2800" spc="4" dirty="0" smtClean="0">
                <a:latin typeface="Verdana"/>
                <a:cs typeface="Verdana"/>
              </a:rPr>
              <a:t>u</a:t>
            </a:r>
            <a:r>
              <a:rPr sz="2800" spc="0" dirty="0" smtClean="0">
                <a:latin typeface="Verdana"/>
                <a:cs typeface="Verdana"/>
              </a:rPr>
              <a:t>eue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5581" y="4224493"/>
            <a:ext cx="73946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4657563"/>
            <a:ext cx="141830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con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8739" y="4657563"/>
            <a:ext cx="316443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0384" y="4657563"/>
            <a:ext cx="43431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0089" y="4657563"/>
            <a:ext cx="29230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7909" y="4657563"/>
            <a:ext cx="79844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nice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1036" y="4657563"/>
            <a:ext cx="106247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H</a:t>
            </a:r>
            <a:r>
              <a:rPr sz="2800" spc="0" dirty="0" smtClean="0">
                <a:latin typeface="Verdana"/>
                <a:cs typeface="Verdana"/>
              </a:rPr>
              <a:t>TML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8730" y="4657563"/>
            <a:ext cx="832759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ail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4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84250"/>
            <a:ext cx="403606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043044" y="984250"/>
            <a:ext cx="40369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95420" y="615504"/>
            <a:ext cx="21599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Intro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d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uction</a:t>
            </a:r>
            <a:endParaRPr sz="3200" dirty="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Getting started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IPs in action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om</a:t>
            </a:r>
            <a:r>
              <a:rPr sz="3200" spc="-9" dirty="0" smtClean="0">
                <a:solidFill>
                  <a:srgbClr val="BFBFBF"/>
                </a:solidFill>
                <a:latin typeface="Verdana"/>
                <a:cs typeface="Verdana"/>
              </a:rPr>
              <a:t>p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onents in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with 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C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am</a:t>
            </a:r>
            <a:r>
              <a:rPr sz="3200" spc="-4" dirty="0" smtClean="0">
                <a:solidFill>
                  <a:srgbClr val="BFBFBF"/>
                </a:solidFill>
                <a:latin typeface="Verdana"/>
                <a:cs typeface="Verdana"/>
              </a:rPr>
              <a:t>e</a:t>
            </a: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solidFill>
                  <a:srgbClr val="BFBFBF"/>
                </a:solidFill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5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0" y="712024"/>
            <a:ext cx="10177780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tabLst>
                <a:tab pos="10083800" algn="l"/>
              </a:tabLst>
            </a:pPr>
            <a:r>
              <a:rPr sz="3800" u="heavy" dirty="0" smtClean="0">
                <a:latin typeface="Verdana"/>
                <a:cs typeface="Verdana"/>
              </a:rPr>
              <a:t>                  </a:t>
            </a:r>
            <a:r>
              <a:rPr sz="3800" u="heavy" spc="-289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Bea</a:t>
            </a:r>
            <a:r>
              <a:rPr sz="3800" u="heavy" spc="-4" dirty="0" smtClean="0">
                <a:latin typeface="Verdana"/>
                <a:cs typeface="Verdana"/>
              </a:rPr>
              <a:t>n</a:t>
            </a:r>
            <a:r>
              <a:rPr sz="3800" u="heavy" spc="0" dirty="0" smtClean="0">
                <a:latin typeface="Verdana"/>
                <a:cs typeface="Verdana"/>
              </a:rPr>
              <a:t>s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in</a:t>
            </a:r>
            <a:r>
              <a:rPr sz="3800" u="heavy" spc="-44" dirty="0" smtClean="0">
                <a:latin typeface="Verdana"/>
                <a:cs typeface="Verdana"/>
              </a:rPr>
              <a:t> </a:t>
            </a:r>
            <a:r>
              <a:rPr sz="3800" u="heavy" spc="0" dirty="0" smtClean="0">
                <a:latin typeface="Verdana"/>
                <a:cs typeface="Verdana"/>
              </a:rPr>
              <a:t>acti</a:t>
            </a:r>
            <a:r>
              <a:rPr sz="3800" u="heavy" spc="-4" dirty="0" smtClean="0">
                <a:latin typeface="Verdana"/>
                <a:cs typeface="Verdana"/>
              </a:rPr>
              <a:t>o</a:t>
            </a:r>
            <a:r>
              <a:rPr sz="3800" u="heavy" spc="0" dirty="0" smtClean="0">
                <a:latin typeface="Verdana"/>
                <a:cs typeface="Verdana"/>
              </a:rPr>
              <a:t>n 	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4451403" cy="1104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</a:t>
            </a:r>
            <a:r>
              <a:rPr sz="3200" spc="-4" dirty="0" smtClean="0">
                <a:latin typeface="Verdana"/>
                <a:cs typeface="Verdana"/>
              </a:rPr>
              <a:t>dd</a:t>
            </a:r>
            <a:r>
              <a:rPr sz="3200" spc="0" dirty="0" smtClean="0">
                <a:latin typeface="Verdana"/>
                <a:cs typeface="Verdana"/>
              </a:rPr>
              <a:t>ing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 to yo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r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433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Metho</a:t>
            </a:r>
            <a:r>
              <a:rPr sz="4800" spc="-4" baseline="-1714" dirty="0" smtClean="0">
                <a:latin typeface="Verdana"/>
                <a:cs typeface="Verdana"/>
              </a:rPr>
              <a:t>d</a:t>
            </a:r>
            <a:r>
              <a:rPr sz="4800" spc="0" baseline="-1714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1485" y="1829159"/>
            <a:ext cx="116565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route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3176629"/>
            <a:ext cx="2658721" cy="11061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Routing with</a:t>
            </a:r>
            <a:endParaRPr sz="3200">
              <a:latin typeface="Verdana"/>
              <a:cs typeface="Verdana"/>
            </a:endParaRPr>
          </a:p>
          <a:p>
            <a:pPr marL="12700" marR="60960">
              <a:lnSpc>
                <a:spcPts val="3870"/>
              </a:lnSpc>
              <a:spcBef>
                <a:spcPts val="1443"/>
              </a:spcBef>
            </a:pPr>
            <a:r>
              <a:rPr sz="4800" spc="-4" baseline="-1714" dirty="0" smtClean="0">
                <a:latin typeface="Verdana"/>
                <a:cs typeface="Verdana"/>
              </a:rPr>
              <a:t>E</a:t>
            </a:r>
            <a:r>
              <a:rPr sz="4800" spc="0" baseline="-1714" dirty="0" smtClean="0">
                <a:latin typeface="Verdana"/>
                <a:cs typeface="Verdana"/>
              </a:rPr>
              <a:t>xercise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8448" y="3176629"/>
            <a:ext cx="1294179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7800" y="7224342"/>
            <a:ext cx="544774" cy="190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50"/>
              </a:lnSpc>
              <a:spcBef>
                <a:spcPts val="72"/>
              </a:spcBef>
            </a:pPr>
            <a:r>
              <a:rPr sz="1300" spc="0" dirty="0" smtClean="0">
                <a:latin typeface="Verdana"/>
                <a:cs typeface="Verdana"/>
              </a:rPr>
              <a:t>7</a:t>
            </a:r>
            <a:r>
              <a:rPr sz="1300" spc="4" dirty="0" smtClean="0">
                <a:latin typeface="Verdana"/>
                <a:cs typeface="Verdana"/>
              </a:rPr>
              <a:t>6</a:t>
            </a:r>
            <a:r>
              <a:rPr sz="1300" spc="-9" dirty="0" smtClean="0">
                <a:latin typeface="Verdana"/>
                <a:cs typeface="Verdana"/>
              </a:rPr>
              <a:t>/</a:t>
            </a:r>
            <a:r>
              <a:rPr sz="1300" spc="0" dirty="0" smtClean="0">
                <a:latin typeface="Verdana"/>
                <a:cs typeface="Verdana"/>
              </a:rPr>
              <a:t>88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984250"/>
            <a:ext cx="31877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652389" y="984250"/>
            <a:ext cx="1693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259611" y="984250"/>
            <a:ext cx="16976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890599" y="984250"/>
            <a:ext cx="31893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06880" y="615504"/>
            <a:ext cx="176712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Addi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46068" y="615504"/>
            <a:ext cx="218454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 to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02706" y="615504"/>
            <a:ext cx="118738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y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61809" y="615504"/>
            <a:ext cx="137945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3290" y="1829159"/>
            <a:ext cx="551562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To access a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 in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5090" y="2494753"/>
            <a:ext cx="7059991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crea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 yourself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in a 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ocessor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crea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 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he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 in </a:t>
            </a:r>
            <a:r>
              <a:rPr sz="4200" spc="-4" baseline="-1959" dirty="0" smtClean="0">
                <a:latin typeface="Verdana"/>
                <a:cs typeface="Verdana"/>
              </a:rPr>
              <a:t>Sp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6889" y="3637867"/>
            <a:ext cx="638549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use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  <a:hlinkClick r:id="rId3"/>
              </a:rPr>
              <a:t>@Auto</a:t>
            </a:r>
            <a:r>
              <a:rPr sz="2400" spc="-4" dirty="0" smtClean="0">
                <a:latin typeface="Verdana"/>
                <a:cs typeface="Verdana"/>
                <a:hlinkClick r:id="rId3"/>
              </a:rPr>
              <a:t>w</a:t>
            </a:r>
            <a:r>
              <a:rPr sz="2400" spc="0" dirty="0" smtClean="0">
                <a:latin typeface="Verdana"/>
                <a:cs typeface="Verdana"/>
                <a:hlinkClick r:id="rId3"/>
              </a:rPr>
              <a:t>i</a:t>
            </a:r>
            <a:r>
              <a:rPr sz="2400" spc="-4" dirty="0" smtClean="0">
                <a:latin typeface="Verdana"/>
                <a:cs typeface="Verdana"/>
                <a:hlinkClick r:id="rId3"/>
              </a:rPr>
              <a:t>r</a:t>
            </a:r>
            <a:r>
              <a:rPr sz="2400" spc="0" dirty="0" smtClean="0">
                <a:latin typeface="Verdana"/>
                <a:cs typeface="Verdana"/>
                <a:hlinkClick r:id="rId3"/>
              </a:rPr>
              <a:t>ed</a:t>
            </a:r>
            <a:r>
              <a:rPr sz="2400" spc="0" dirty="0" smtClean="0">
                <a:latin typeface="Verdana"/>
                <a:cs typeface="Verdana"/>
              </a:rPr>
              <a:t> to auto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atically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inject it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9870" y="3667510"/>
            <a:ext cx="18671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889" y="4116657"/>
            <a:ext cx="355847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inject it into the 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outer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0177" y="4116657"/>
            <a:ext cx="1289611" cy="8685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you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self</a:t>
            </a:r>
            <a:endParaRPr sz="2400">
              <a:latin typeface="Verdana"/>
              <a:cs typeface="Verdana"/>
            </a:endParaRPr>
          </a:p>
          <a:p>
            <a:pPr marL="43942" marR="45720">
              <a:lnSpc>
                <a:spcPts val="3400"/>
              </a:lnSpc>
              <a:spcBef>
                <a:spcPts val="891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D</a:t>
            </a:r>
            <a:r>
              <a:rPr sz="4200" spc="-4" baseline="-1959" dirty="0" smtClean="0">
                <a:latin typeface="Verdana"/>
                <a:cs typeface="Verdana"/>
              </a:rPr>
              <a:t>S</a:t>
            </a:r>
            <a:r>
              <a:rPr sz="4200" spc="0" baseline="-1959" dirty="0" smtClean="0">
                <a:latin typeface="Verdana"/>
                <a:cs typeface="Verdana"/>
              </a:rPr>
              <a:t>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4228" y="4116657"/>
            <a:ext cx="34764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in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7057" y="4116657"/>
            <a:ext cx="10654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Sp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ing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870" y="414630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4604223"/>
            <a:ext cx="70086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use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0783" y="4604223"/>
            <a:ext cx="655350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1315" y="4604223"/>
            <a:ext cx="256604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ean/</a:t>
            </a:r>
            <a:r>
              <a:rPr sz="2800" spc="-9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eanRef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68510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" y="7158671"/>
            <a:ext cx="676275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09390" y="615504"/>
            <a:ext cx="213196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Met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ods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505916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Select method to invoke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7437954" cy="25438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elBeanMe</a:t>
            </a:r>
            <a:r>
              <a:rPr sz="2800" spc="-1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ex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licit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hod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on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ean/</a:t>
            </a:r>
            <a:r>
              <a:rPr sz="2800" spc="-9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eanRe</a:t>
            </a:r>
            <a:r>
              <a:rPr sz="2800" spc="-1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()</a:t>
            </a:r>
            <a:endParaRPr sz="2800">
              <a:latin typeface="Verdana"/>
              <a:cs typeface="Verdana"/>
            </a:endParaRPr>
          </a:p>
          <a:p>
            <a:pPr marL="12700" marR="779297">
              <a:lnSpc>
                <a:spcPct val="101480"/>
              </a:lnSpc>
              <a:spcBef>
                <a:spcPts val="1137"/>
              </a:spcBef>
            </a:pPr>
            <a:r>
              <a:rPr sz="2800" spc="0" dirty="0" smtClean="0">
                <a:latin typeface="Verdana"/>
                <a:cs typeface="Verdana"/>
                <a:hlinkClick r:id="rId2"/>
              </a:rPr>
              <a:t>@</a:t>
            </a:r>
            <a:r>
              <a:rPr sz="2800" spc="4" dirty="0" smtClean="0">
                <a:latin typeface="Verdana"/>
                <a:cs typeface="Verdana"/>
                <a:hlinkClick r:id="rId2"/>
              </a:rPr>
              <a:t>H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an</a:t>
            </a:r>
            <a:r>
              <a:rPr sz="2800" spc="-9" dirty="0" smtClean="0">
                <a:latin typeface="Verdana"/>
                <a:cs typeface="Verdana"/>
                <a:hlinkClick r:id="rId2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ler</a:t>
            </a:r>
            <a:r>
              <a:rPr sz="2800" spc="0" dirty="0" smtClean="0">
                <a:latin typeface="Verdana"/>
                <a:cs typeface="Verdana"/>
              </a:rPr>
              <a:t> a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ation or 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her 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 anno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300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hod</a:t>
            </a:r>
            <a:r>
              <a:rPr sz="4200" spc="-14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ara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7384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290" y="5241649"/>
            <a:ext cx="6578276" cy="925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ig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ous</a:t>
            </a:r>
            <a:r>
              <a:rPr sz="3200" spc="-4" dirty="0" smtClean="0">
                <a:latin typeface="Verdana"/>
                <a:cs typeface="Verdana"/>
              </a:rPr>
              <a:t>M</a:t>
            </a:r>
            <a:r>
              <a:rPr sz="3200" spc="0" dirty="0" smtClean="0">
                <a:latin typeface="Verdana"/>
                <a:cs typeface="Verdana"/>
              </a:rPr>
              <a:t>etho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Call</a:t>
            </a:r>
            <a:r>
              <a:rPr sz="3200" spc="-9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tion</a:t>
            </a:r>
            <a:endParaRPr sz="3200" dirty="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to find a sin</a:t>
            </a:r>
            <a:r>
              <a:rPr sz="4800" spc="-4" baseline="-1714" dirty="0" smtClean="0">
                <a:latin typeface="Verdana"/>
                <a:cs typeface="Verdana"/>
              </a:rPr>
              <a:t>g</a:t>
            </a:r>
            <a:r>
              <a:rPr sz="4800" spc="0" baseline="-1714" dirty="0" smtClean="0">
                <a:latin typeface="Verdana"/>
                <a:cs typeface="Verdana"/>
              </a:rPr>
              <a:t>le </a:t>
            </a:r>
            <a:r>
              <a:rPr sz="4800" spc="-4" baseline="-1714" dirty="0" smtClean="0">
                <a:latin typeface="Verdana"/>
                <a:cs typeface="Verdana"/>
              </a:rPr>
              <a:t>b</a:t>
            </a:r>
            <a:r>
              <a:rPr sz="4800" spc="0" baseline="-1714" dirty="0" smtClean="0">
                <a:latin typeface="Verdana"/>
                <a:cs typeface="Verdana"/>
              </a:rPr>
              <a:t>est mat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h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7770" y="5241649"/>
            <a:ext cx="184676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if 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nab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533608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7292975"/>
            <a:ext cx="676275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8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06880" y="615504"/>
            <a:ext cx="176712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Addi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6068" y="615504"/>
            <a:ext cx="15320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9748" y="615504"/>
            <a:ext cx="58086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to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2706" y="615504"/>
            <a:ext cx="118738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y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61809" y="615504"/>
            <a:ext cx="137945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1829159"/>
            <a:ext cx="333277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 the </a:t>
            </a:r>
            <a:r>
              <a:rPr sz="3200" spc="-4" dirty="0" smtClean="0">
                <a:latin typeface="Verdana"/>
                <a:cs typeface="Verdana"/>
              </a:rPr>
              <a:t>J</a:t>
            </a:r>
            <a:r>
              <a:rPr sz="3200" spc="0" dirty="0" smtClean="0">
                <a:latin typeface="Verdana"/>
                <a:cs typeface="Verdana"/>
              </a:rPr>
              <a:t>ava 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2494753"/>
            <a:ext cx="5592923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use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ean() wi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 class/o</a:t>
            </a:r>
            <a:r>
              <a:rPr sz="2800" spc="-19" dirty="0" smtClean="0">
                <a:latin typeface="Verdana"/>
                <a:cs typeface="Verdana"/>
              </a:rPr>
              <a:t>b</a:t>
            </a:r>
            <a:r>
              <a:rPr sz="2800" spc="-4" dirty="0" smtClean="0">
                <a:latin typeface="Verdana"/>
                <a:cs typeface="Verdana"/>
              </a:rPr>
              <a:t>j</a:t>
            </a:r>
            <a:r>
              <a:rPr sz="2800" spc="0" dirty="0" smtClean="0">
                <a:latin typeface="Verdana"/>
                <a:cs typeface="Verdana"/>
              </a:rPr>
              <a:t>ect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156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use</a:t>
            </a:r>
            <a:r>
              <a:rPr sz="4200" spc="-9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eanRe</a:t>
            </a:r>
            <a:r>
              <a:rPr sz="4200" spc="-1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() wi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 na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470" y="4382770"/>
            <a:ext cx="334773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OrderService</a:t>
            </a:r>
            <a:r>
              <a:rPr sz="1600" spc="152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orderService </a:t>
            </a:r>
            <a:r>
              <a:rPr sz="1600" spc="100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2960" y="4382770"/>
            <a:ext cx="42169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new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0640" y="4382770"/>
            <a:ext cx="1884977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OrderService();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0470" y="4888230"/>
            <a:ext cx="3346489" cy="9880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79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latin typeface="Times New Roman"/>
                <a:cs typeface="Times New Roman"/>
              </a:rPr>
              <a:t>from(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1289">
              <a:lnSpc>
                <a:spcPct val="95825"/>
              </a:lnSpc>
              <a:spcBef>
                <a:spcPts val="73"/>
              </a:spcBef>
            </a:pPr>
            <a:r>
              <a:rPr sz="1600" dirty="0" smtClean="0">
                <a:latin typeface="Times New Roman"/>
                <a:cs typeface="Times New Roman"/>
              </a:rPr>
              <a:t>.bean(OrderService</a:t>
            </a:r>
            <a:r>
              <a:rPr sz="1600" spc="-25" dirty="0" smtClean="0">
                <a:latin typeface="Times New Roman"/>
                <a:cs typeface="Times New Roman"/>
              </a:rPr>
              <a:t>.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56540" marR="30479">
              <a:lnSpc>
                <a:spcPct val="95825"/>
              </a:lnSpc>
              <a:spcBef>
                <a:spcPts val="150"/>
              </a:spcBef>
            </a:pPr>
            <a:r>
              <a:rPr sz="1600" spc="0" dirty="0" smtClean="0">
                <a:latin typeface="Times New Roman"/>
                <a:cs typeface="Times New Roman"/>
              </a:rPr>
              <a:t>.bean(orderService)</a:t>
            </a:r>
            <a:endParaRPr sz="1600">
              <a:latin typeface="Times New Roman"/>
              <a:cs typeface="Times New Roman"/>
            </a:endParaRPr>
          </a:p>
          <a:p>
            <a:pPr marL="256540">
              <a:lnSpc>
                <a:spcPct val="95825"/>
              </a:lnSpc>
              <a:spcBef>
                <a:spcPts val="150"/>
              </a:spcBef>
            </a:pPr>
            <a:r>
              <a:rPr sz="1600" dirty="0" smtClean="0">
                <a:latin typeface="Times New Roman"/>
                <a:cs typeface="Times New Roman"/>
              </a:rPr>
              <a:t>.beanRef(</a:t>
            </a:r>
            <a:r>
              <a:rPr sz="16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"orderService</a:t>
            </a:r>
            <a:r>
              <a:rPr sz="160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06880" y="615504"/>
            <a:ext cx="176712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Addi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6068" y="615504"/>
            <a:ext cx="15320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48" y="615504"/>
            <a:ext cx="58086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to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2706" y="615504"/>
            <a:ext cx="118738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y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1809" y="615504"/>
            <a:ext cx="137945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374608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 the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ring DSL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5090" y="2494753"/>
            <a:ext cx="3423905" cy="9575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y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400"/>
              </a:lnSpc>
              <a:spcBef>
                <a:spcPts val="1156"/>
              </a:spcBef>
            </a:pP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ef </a:t>
            </a:r>
            <a:r>
              <a:rPr sz="4200" spc="-4" baseline="-1959" dirty="0" smtClean="0">
                <a:latin typeface="Verdana"/>
                <a:cs typeface="Verdana"/>
              </a:rPr>
              <a:t>f</a:t>
            </a:r>
            <a:r>
              <a:rPr sz="4200" spc="0" baseline="-1959" dirty="0" smtClean="0">
                <a:latin typeface="Verdana"/>
                <a:cs typeface="Verdana"/>
              </a:rPr>
              <a:t>or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 na</a:t>
            </a:r>
            <a:r>
              <a:rPr sz="4200" spc="-9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3967" y="2494753"/>
            <a:ext cx="945688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class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570" y="4415790"/>
            <a:ext cx="6760054" cy="1240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555">
              <a:lnSpc>
                <a:spcPts val="1725"/>
              </a:lnSpc>
              <a:spcBef>
                <a:spcPts val="86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  <a:p>
            <a:pPr marL="256539" marR="31555">
              <a:lnSpc>
                <a:spcPct val="95825"/>
              </a:lnSpc>
              <a:spcBef>
                <a:spcPts val="13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from </a:t>
            </a:r>
            <a:r>
              <a:rPr sz="1600" spc="15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uri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39" marR="31555">
              <a:lnSpc>
                <a:spcPct val="95825"/>
              </a:lnSpc>
              <a:spcBef>
                <a:spcPts val="10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spc="47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ref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"orderService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256539">
              <a:lnSpc>
                <a:spcPct val="95825"/>
              </a:lnSpc>
              <a:spcBef>
                <a:spcPts val="90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spc="47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beanType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"be.anova.course.camel.OrderS</a:t>
            </a:r>
            <a:r>
              <a:rPr sz="1650" spc="-14" dirty="0" smtClean="0">
                <a:solidFill>
                  <a:srgbClr val="2900FF"/>
                </a:solidFill>
                <a:latin typeface="Times New Roman"/>
                <a:cs typeface="Times New Roman"/>
              </a:rPr>
              <a:t>e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rvice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  <a:p>
            <a:pPr marL="12700" marR="31555">
              <a:lnSpc>
                <a:spcPct val="95825"/>
              </a:lnSpc>
              <a:spcBef>
                <a:spcPts val="140"/>
              </a:spcBef>
            </a:pP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&lt;/</a:t>
            </a:r>
            <a:r>
              <a:rPr sz="1600" dirty="0" smtClean="0">
                <a:solidFill>
                  <a:srgbClr val="3E7E7E"/>
                </a:solidFill>
                <a:latin typeface="Times New Roman"/>
                <a:cs typeface="Times New Roman"/>
              </a:rPr>
              <a:t>route</a:t>
            </a:r>
            <a:r>
              <a:rPr sz="160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570" y="5928975"/>
            <a:ext cx="834374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&lt;</a:t>
            </a:r>
            <a:r>
              <a:rPr sz="1600" spc="0" dirty="0" smtClean="0">
                <a:solidFill>
                  <a:srgbClr val="3E7E7E"/>
                </a:solidFill>
                <a:latin typeface="Times New Roman"/>
                <a:cs typeface="Times New Roman"/>
              </a:rPr>
              <a:t>bean</a:t>
            </a:r>
            <a:r>
              <a:rPr sz="1600" spc="478" dirty="0" smtClean="0">
                <a:solidFill>
                  <a:srgbClr val="3E7E7E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id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"ord</a:t>
            </a:r>
            <a:r>
              <a:rPr sz="1650" spc="-9" dirty="0" smtClean="0">
                <a:solidFill>
                  <a:srgbClr val="2900FF"/>
                </a:solidFill>
                <a:latin typeface="Times New Roman"/>
                <a:cs typeface="Times New Roman"/>
              </a:rPr>
              <a:t>e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rService" </a:t>
            </a:r>
            <a:r>
              <a:rPr sz="1650" spc="13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7E"/>
                </a:solidFill>
                <a:latin typeface="Times New Roman"/>
                <a:cs typeface="Times New Roman"/>
              </a:rPr>
              <a:t>class</a:t>
            </a:r>
            <a:r>
              <a:rPr sz="1600" spc="0" dirty="0" smtClean="0">
                <a:latin typeface="Times New Roman"/>
                <a:cs typeface="Times New Roman"/>
              </a:rPr>
              <a:t>=</a:t>
            </a:r>
            <a:r>
              <a:rPr sz="165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"be.anova.course.camel.OrderService</a:t>
            </a:r>
            <a:r>
              <a:rPr sz="1650" spc="-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solidFill>
                  <a:srgbClr val="007F7F"/>
                </a:solidFill>
                <a:latin typeface="Times New Roman"/>
                <a:cs typeface="Times New Roman"/>
              </a:rPr>
              <a:t>/&gt;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06880" y="615504"/>
            <a:ext cx="176712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Addi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6068" y="615504"/>
            <a:ext cx="1532075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9748" y="615504"/>
            <a:ext cx="58086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to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2706" y="615504"/>
            <a:ext cx="118738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y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ur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1809" y="615504"/>
            <a:ext cx="1379453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</a:t>
            </a:r>
            <a:r>
              <a:rPr sz="3800" spc="-4" dirty="0" smtClean="0">
                <a:latin typeface="Verdana"/>
                <a:cs typeface="Verdana"/>
              </a:rPr>
              <a:t>o</a:t>
            </a:r>
            <a:r>
              <a:rPr sz="3800" spc="0" dirty="0" smtClean="0">
                <a:latin typeface="Verdana"/>
                <a:cs typeface="Verdana"/>
              </a:rPr>
              <a:t>ute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290" y="1829159"/>
            <a:ext cx="7320197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 name is look</a:t>
            </a:r>
            <a:r>
              <a:rPr sz="3200" spc="-9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d up in Re</a:t>
            </a:r>
            <a:r>
              <a:rPr sz="3200" spc="-4" dirty="0" smtClean="0">
                <a:latin typeface="Verdana"/>
                <a:cs typeface="Verdana"/>
              </a:rPr>
              <a:t>g</a:t>
            </a:r>
            <a:r>
              <a:rPr sz="3200" spc="0" dirty="0" smtClean="0">
                <a:latin typeface="Verdana"/>
                <a:cs typeface="Verdana"/>
              </a:rPr>
              <a:t>istry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090" y="2494753"/>
            <a:ext cx="7800838" cy="3408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leRe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y: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or G</a:t>
            </a: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33928"/>
              </a:lnSpc>
              <a:spcBef>
                <a:spcPts val="651"/>
              </a:spcBef>
            </a:pPr>
            <a:r>
              <a:rPr sz="2800" spc="0" dirty="0" smtClean="0">
                <a:latin typeface="Verdana"/>
                <a:cs typeface="Verdana"/>
              </a:rPr>
              <a:t>Jn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y: uses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JNDI (e.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. in a</a:t>
            </a:r>
            <a:r>
              <a:rPr sz="2800" spc="-4" dirty="0" smtClean="0">
                <a:latin typeface="Verdana"/>
                <a:cs typeface="Verdana"/>
              </a:rPr>
              <a:t>pp</a:t>
            </a:r>
            <a:r>
              <a:rPr sz="2800" spc="0" dirty="0" smtClean="0">
                <a:latin typeface="Verdana"/>
                <a:cs typeface="Verdana"/>
              </a:rPr>
              <a:t>server) </a:t>
            </a:r>
            <a:r>
              <a:rPr sz="2800" spc="-4" dirty="0" smtClean="0">
                <a:latin typeface="Verdana"/>
                <a:cs typeface="Verdana"/>
              </a:rPr>
              <a:t>App</a:t>
            </a:r>
            <a:r>
              <a:rPr sz="2800" spc="0" dirty="0" smtClean="0">
                <a:latin typeface="Verdana"/>
                <a:cs typeface="Verdana"/>
              </a:rPr>
              <a:t>lica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r>
              <a:rPr sz="2800" spc="-4" dirty="0" smtClean="0">
                <a:latin typeface="Verdana"/>
                <a:cs typeface="Verdana"/>
              </a:rPr>
              <a:t>C</a:t>
            </a:r>
            <a:r>
              <a:rPr sz="2800" spc="0" dirty="0" smtClean="0">
                <a:latin typeface="Verdana"/>
                <a:cs typeface="Verdana"/>
              </a:rPr>
              <a:t>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ex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y: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ct val="101277"/>
              </a:lnSpc>
            </a:pPr>
            <a:r>
              <a:rPr sz="2800" spc="0" dirty="0" smtClean="0">
                <a:latin typeface="Verdana"/>
                <a:cs typeface="Verdana"/>
              </a:rPr>
              <a:t>uses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App</a:t>
            </a:r>
            <a:r>
              <a:rPr sz="2800" spc="0" dirty="0" smtClean="0">
                <a:latin typeface="Verdana"/>
                <a:cs typeface="Verdana"/>
              </a:rPr>
              <a:t>lica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r>
              <a:rPr sz="2800" spc="-4" dirty="0" smtClean="0">
                <a:latin typeface="Verdana"/>
                <a:cs typeface="Verdana"/>
              </a:rPr>
              <a:t>C</a:t>
            </a:r>
            <a:r>
              <a:rPr sz="2800" spc="0" dirty="0" smtClean="0">
                <a:latin typeface="Verdana"/>
                <a:cs typeface="Verdana"/>
              </a:rPr>
              <a:t>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ext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eans</a:t>
            </a:r>
            <a:endParaRPr sz="2800">
              <a:latin typeface="Verdana"/>
              <a:cs typeface="Verdana"/>
            </a:endParaRPr>
          </a:p>
          <a:p>
            <a:pPr marL="12700" marR="52125">
              <a:lnSpc>
                <a:spcPct val="101277"/>
              </a:lnSpc>
              <a:spcBef>
                <a:spcPts val="1137"/>
              </a:spcBef>
            </a:pPr>
            <a:r>
              <a:rPr sz="2800" spc="-4" dirty="0" smtClean="0">
                <a:latin typeface="Verdana"/>
                <a:cs typeface="Verdana"/>
              </a:rPr>
              <a:t>O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erviceRe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y:</a:t>
            </a:r>
            <a:endParaRPr sz="2800">
              <a:latin typeface="Verdana"/>
              <a:cs typeface="Verdana"/>
            </a:endParaRPr>
          </a:p>
          <a:p>
            <a:pPr marL="12700" marR="1836436">
              <a:lnSpc>
                <a:spcPts val="3410"/>
              </a:lnSpc>
              <a:spcBef>
                <a:spcPts val="255"/>
              </a:spcBef>
            </a:pPr>
            <a:r>
              <a:rPr sz="2800" spc="0" dirty="0" smtClean="0">
                <a:latin typeface="Verdana"/>
                <a:cs typeface="Verdana"/>
              </a:rPr>
              <a:t>le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era</a:t>
            </a:r>
            <a:r>
              <a:rPr sz="2800" spc="-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es </a:t>
            </a:r>
            <a:r>
              <a:rPr sz="2800" spc="-4" dirty="0" smtClean="0">
                <a:latin typeface="Verdana"/>
                <a:cs typeface="Verdana"/>
              </a:rPr>
              <a:t>OS</a:t>
            </a:r>
            <a:r>
              <a:rPr sz="2800" spc="0" dirty="0" smtClean="0">
                <a:latin typeface="Verdana"/>
                <a:cs typeface="Verdana"/>
              </a:rPr>
              <a:t>Gi </a:t>
            </a:r>
            <a:r>
              <a:rPr sz="2800" spc="-4" dirty="0" smtClean="0">
                <a:latin typeface="Verdana"/>
                <a:cs typeface="Verdana"/>
              </a:rPr>
              <a:t>S</a:t>
            </a:r>
            <a:r>
              <a:rPr sz="2800" spc="0" dirty="0" smtClean="0">
                <a:latin typeface="Verdana"/>
                <a:cs typeface="Verdana"/>
              </a:rPr>
              <a:t>ervice 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y, using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DM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 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47384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09390" y="615504"/>
            <a:ext cx="213196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Met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ods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290" y="1829159"/>
            <a:ext cx="505916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Select method to invoke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090" y="2494753"/>
            <a:ext cx="7437954" cy="25438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elBeanMe</a:t>
            </a:r>
            <a:r>
              <a:rPr sz="2800" spc="-1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ex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licit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hod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na</a:t>
            </a:r>
            <a:r>
              <a:rPr sz="2800" spc="-9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 on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ean/</a:t>
            </a:r>
            <a:r>
              <a:rPr sz="2800" spc="-9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eanRe</a:t>
            </a:r>
            <a:r>
              <a:rPr sz="2800" spc="-1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()</a:t>
            </a:r>
            <a:endParaRPr sz="2800">
              <a:latin typeface="Verdana"/>
              <a:cs typeface="Verdana"/>
            </a:endParaRPr>
          </a:p>
          <a:p>
            <a:pPr marL="12700" marR="779297">
              <a:lnSpc>
                <a:spcPct val="101480"/>
              </a:lnSpc>
              <a:spcBef>
                <a:spcPts val="1137"/>
              </a:spcBef>
            </a:pPr>
            <a:r>
              <a:rPr sz="2800" spc="0" dirty="0" smtClean="0">
                <a:latin typeface="Verdana"/>
                <a:cs typeface="Verdana"/>
                <a:hlinkClick r:id="rId3"/>
              </a:rPr>
              <a:t>@</a:t>
            </a:r>
            <a:r>
              <a:rPr sz="2800" spc="4" dirty="0" smtClean="0">
                <a:latin typeface="Verdana"/>
                <a:cs typeface="Verdana"/>
                <a:hlinkClick r:id="rId3"/>
              </a:rPr>
              <a:t>H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an</a:t>
            </a:r>
            <a:r>
              <a:rPr sz="2800" spc="-9" dirty="0" smtClean="0">
                <a:latin typeface="Verdana"/>
                <a:cs typeface="Verdana"/>
                <a:hlinkClick r:id="rId3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ler</a:t>
            </a:r>
            <a:r>
              <a:rPr sz="2800" spc="0" dirty="0" smtClean="0">
                <a:latin typeface="Verdana"/>
                <a:cs typeface="Verdana"/>
              </a:rPr>
              <a:t> a</a:t>
            </a:r>
            <a:r>
              <a:rPr sz="2800" spc="4" dirty="0" smtClean="0">
                <a:latin typeface="Verdana"/>
                <a:cs typeface="Verdana"/>
              </a:rPr>
              <a:t>n</a:t>
            </a:r>
            <a:r>
              <a:rPr sz="2800" spc="0" dirty="0" smtClean="0">
                <a:latin typeface="Verdana"/>
                <a:cs typeface="Verdana"/>
              </a:rPr>
              <a:t>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ation or o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her 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 anno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300"/>
              </a:spcBef>
            </a:pP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hod</a:t>
            </a:r>
            <a:r>
              <a:rPr sz="4200" spc="-14" baseline="-1959" dirty="0" smtClean="0">
                <a:latin typeface="Verdana"/>
                <a:cs typeface="Verdana"/>
              </a:rPr>
              <a:t> 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ara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73844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290" y="5241649"/>
            <a:ext cx="6578276" cy="9258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ig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ous</a:t>
            </a:r>
            <a:r>
              <a:rPr sz="3200" spc="-4" dirty="0" smtClean="0">
                <a:latin typeface="Verdana"/>
                <a:cs typeface="Verdana"/>
              </a:rPr>
              <a:t>M</a:t>
            </a:r>
            <a:r>
              <a:rPr sz="3200" spc="0" dirty="0" smtClean="0">
                <a:latin typeface="Verdana"/>
                <a:cs typeface="Verdana"/>
              </a:rPr>
              <a:t>etho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Call</a:t>
            </a:r>
            <a:r>
              <a:rPr sz="3200" spc="-9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x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tion</a:t>
            </a:r>
            <a:endParaRPr sz="3200" dirty="0">
              <a:latin typeface="Verdana"/>
              <a:cs typeface="Verdana"/>
            </a:endParaRPr>
          </a:p>
          <a:p>
            <a:pPr marL="12700" marR="60959">
              <a:lnSpc>
                <a:spcPts val="3870"/>
              </a:lnSpc>
              <a:spcBef>
                <a:spcPts val="22"/>
              </a:spcBef>
            </a:pPr>
            <a:r>
              <a:rPr sz="4800" spc="0" baseline="-1714" dirty="0" smtClean="0">
                <a:latin typeface="Verdana"/>
                <a:cs typeface="Verdana"/>
              </a:rPr>
              <a:t>to find a sin</a:t>
            </a:r>
            <a:r>
              <a:rPr sz="4800" spc="-4" baseline="-1714" dirty="0" smtClean="0">
                <a:latin typeface="Verdana"/>
                <a:cs typeface="Verdana"/>
              </a:rPr>
              <a:t>g</a:t>
            </a:r>
            <a:r>
              <a:rPr sz="4800" spc="0" baseline="-1714" dirty="0" smtClean="0">
                <a:latin typeface="Verdana"/>
                <a:cs typeface="Verdana"/>
              </a:rPr>
              <a:t>le </a:t>
            </a:r>
            <a:r>
              <a:rPr sz="4800" spc="-4" baseline="-1714" dirty="0" smtClean="0">
                <a:latin typeface="Verdana"/>
                <a:cs typeface="Verdana"/>
              </a:rPr>
              <a:t>b</a:t>
            </a:r>
            <a:r>
              <a:rPr sz="4800" spc="0" baseline="-1714" dirty="0" smtClean="0">
                <a:latin typeface="Verdana"/>
                <a:cs typeface="Verdana"/>
              </a:rPr>
              <a:t>est mat</a:t>
            </a:r>
            <a:r>
              <a:rPr sz="4800" spc="-4" baseline="-1714" dirty="0" smtClean="0">
                <a:latin typeface="Verdana"/>
                <a:cs typeface="Verdana"/>
              </a:rPr>
              <a:t>c</a:t>
            </a:r>
            <a:r>
              <a:rPr sz="4800" spc="0" baseline="-1714" dirty="0" smtClean="0">
                <a:latin typeface="Verdana"/>
                <a:cs typeface="Verdana"/>
              </a:rPr>
              <a:t>h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7770" y="5241649"/>
            <a:ext cx="184676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if 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nab</a:t>
            </a:r>
            <a:r>
              <a:rPr sz="3200" spc="-9" dirty="0" smtClean="0">
                <a:latin typeface="Verdana"/>
                <a:cs typeface="Verdana"/>
              </a:rPr>
              <a:t>l</a:t>
            </a:r>
            <a:r>
              <a:rPr sz="3200" spc="0" dirty="0" smtClean="0">
                <a:latin typeface="Verdana"/>
                <a:cs typeface="Verdana"/>
              </a:rPr>
              <a:t>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533608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" y="7292975"/>
            <a:ext cx="676275" cy="14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09390" y="615504"/>
            <a:ext cx="213196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Met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ods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3290" y="1829159"/>
            <a:ext cx="3788683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Automatic </a:t>
            </a: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in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68240" y="1829159"/>
            <a:ext cx="139862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curs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3558" y="1829159"/>
            <a:ext cx="64950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for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090" y="2494753"/>
            <a:ext cx="2706284" cy="3263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125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Exchan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4540"/>
              </a:lnSpc>
              <a:spcBef>
                <a:spcPts val="396"/>
              </a:spcBef>
            </a:pPr>
            <a:r>
              <a:rPr sz="2800" spc="0" dirty="0" smtClean="0">
                <a:latin typeface="Verdana"/>
                <a:cs typeface="Verdana"/>
              </a:rPr>
              <a:t>Messa</a:t>
            </a:r>
            <a:r>
              <a:rPr sz="2800" spc="-14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 Ca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elCon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ext Ty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eCon</a:t>
            </a:r>
            <a:r>
              <a:rPr sz="2800" spc="-4" dirty="0" smtClean="0">
                <a:latin typeface="Verdana"/>
                <a:cs typeface="Verdana"/>
              </a:rPr>
              <a:t>v</a:t>
            </a:r>
            <a:r>
              <a:rPr sz="2800" spc="0" dirty="0" smtClean="0">
                <a:latin typeface="Verdana"/>
                <a:cs typeface="Verdana"/>
              </a:rPr>
              <a:t>er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 Re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is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y Exce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48819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54585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270" y="6193790"/>
            <a:ext cx="4283242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500" spc="22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500" spc="393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handle(Exchange</a:t>
            </a:r>
            <a:r>
              <a:rPr sz="1500" spc="-23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exchange,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6670" y="6193790"/>
            <a:ext cx="188292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Message</a:t>
            </a:r>
            <a:r>
              <a:rPr sz="1500" spc="-224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message,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9770" y="6193790"/>
            <a:ext cx="2454479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Exception</a:t>
            </a:r>
            <a:r>
              <a:rPr sz="1500" spc="-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exception){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69" y="6431280"/>
            <a:ext cx="451182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//</a:t>
            </a:r>
            <a:r>
              <a:rPr sz="1500" spc="89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handle</a:t>
            </a:r>
            <a:r>
              <a:rPr sz="1500" spc="393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the </a:t>
            </a:r>
            <a:r>
              <a:rPr sz="1500" spc="107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exchange/message</a:t>
            </a:r>
            <a:r>
              <a:rPr sz="1500" spc="-275" dirty="0" smtClean="0">
                <a:solidFill>
                  <a:srgbClr val="3E7E5E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3E7E5E"/>
                </a:solidFill>
                <a:latin typeface="Times New Roman"/>
                <a:cs typeface="Times New Roman"/>
              </a:rPr>
              <a:t>directly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270" y="6668770"/>
            <a:ext cx="168293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7640" y="7287259"/>
            <a:ext cx="553719" cy="104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09390" y="615504"/>
            <a:ext cx="213196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Met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ods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537890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in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ing using annotatio</a:t>
            </a:r>
            <a:r>
              <a:rPr sz="3200" spc="-9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5280811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  <a:hlinkClick r:id="rId3"/>
              </a:rPr>
              <a:t>@Bo</a:t>
            </a:r>
            <a:r>
              <a:rPr sz="2800" spc="-9" dirty="0" smtClean="0">
                <a:latin typeface="Verdana"/>
                <a:cs typeface="Verdana"/>
                <a:hlinkClick r:id="rId3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y, @</a:t>
            </a:r>
            <a:r>
              <a:rPr sz="2800" spc="-4" dirty="0" smtClean="0">
                <a:latin typeface="Verdana"/>
                <a:cs typeface="Verdana"/>
                <a:hlinkClick r:id="rId3"/>
              </a:rPr>
              <a:t>H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ea</a:t>
            </a:r>
            <a:r>
              <a:rPr sz="2800" spc="-9" dirty="0" smtClean="0">
                <a:latin typeface="Verdana"/>
                <a:cs typeface="Verdana"/>
                <a:hlinkClick r:id="rId3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er, @</a:t>
            </a:r>
            <a:r>
              <a:rPr sz="2800" spc="-4" dirty="0" smtClean="0">
                <a:latin typeface="Verdana"/>
                <a:cs typeface="Verdana"/>
                <a:hlinkClick r:id="rId3"/>
              </a:rPr>
              <a:t>H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ea</a:t>
            </a:r>
            <a:r>
              <a:rPr sz="2800" spc="-9" dirty="0" smtClean="0">
                <a:latin typeface="Verdana"/>
                <a:cs typeface="Verdana"/>
                <a:hlinkClick r:id="rId3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3"/>
              </a:rPr>
              <a:t>ers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  <a:hlinkClick r:id="rId4"/>
              </a:rPr>
              <a:t>@</a:t>
            </a:r>
            <a:r>
              <a:rPr sz="2800" spc="-4" dirty="0" smtClean="0">
                <a:latin typeface="Verdana"/>
                <a:cs typeface="Verdana"/>
                <a:hlinkClick r:id="rId4"/>
              </a:rPr>
              <a:t>O</a:t>
            </a:r>
            <a:r>
              <a:rPr sz="2800" spc="0" dirty="0" smtClean="0">
                <a:latin typeface="Verdana"/>
                <a:cs typeface="Verdana"/>
                <a:hlinkClick r:id="rId4"/>
              </a:rPr>
              <a:t>u</a:t>
            </a:r>
            <a:r>
              <a:rPr sz="2800" spc="-4" dirty="0" smtClean="0">
                <a:latin typeface="Verdana"/>
                <a:cs typeface="Verdana"/>
                <a:hlinkClick r:id="rId4"/>
              </a:rPr>
              <a:t>tH</a:t>
            </a:r>
            <a:r>
              <a:rPr sz="2800" spc="0" dirty="0" smtClean="0">
                <a:latin typeface="Verdana"/>
                <a:cs typeface="Verdana"/>
                <a:hlinkClick r:id="rId4"/>
              </a:rPr>
              <a:t>ea</a:t>
            </a:r>
            <a:r>
              <a:rPr sz="2800" spc="-9" dirty="0" smtClean="0">
                <a:latin typeface="Verdana"/>
                <a:cs typeface="Verdana"/>
                <a:hlinkClick r:id="rId4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4"/>
              </a:rPr>
              <a:t>er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  <a:hlinkClick r:id="rId5"/>
              </a:rPr>
              <a:t>@P</a:t>
            </a:r>
            <a:r>
              <a:rPr sz="4200" spc="4" baseline="-1959" dirty="0" smtClean="0">
                <a:latin typeface="Verdana"/>
                <a:cs typeface="Verdana"/>
                <a:hlinkClick r:id="rId5"/>
              </a:rPr>
              <a:t>r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o</a:t>
            </a:r>
            <a:r>
              <a:rPr sz="4200" spc="-9" baseline="-1959" dirty="0" smtClean="0">
                <a:latin typeface="Verdana"/>
                <a:cs typeface="Verdana"/>
                <a:hlinkClick r:id="rId5"/>
              </a:rPr>
              <a:t>p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er</a:t>
            </a:r>
            <a:r>
              <a:rPr sz="4200" spc="-4" baseline="-1959" dirty="0" smtClean="0">
                <a:latin typeface="Verdana"/>
                <a:cs typeface="Verdana"/>
                <a:hlinkClick r:id="rId5"/>
              </a:rPr>
              <a:t>t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y, @P</a:t>
            </a:r>
            <a:r>
              <a:rPr sz="4200" spc="4" baseline="-1959" dirty="0" smtClean="0">
                <a:latin typeface="Verdana"/>
                <a:cs typeface="Verdana"/>
                <a:hlinkClick r:id="rId5"/>
              </a:rPr>
              <a:t>r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o</a:t>
            </a:r>
            <a:r>
              <a:rPr sz="4200" spc="-9" baseline="-1959" dirty="0" smtClean="0">
                <a:latin typeface="Verdana"/>
                <a:cs typeface="Verdana"/>
                <a:hlinkClick r:id="rId5"/>
              </a:rPr>
              <a:t>p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er</a:t>
            </a:r>
            <a:r>
              <a:rPr sz="4200" spc="-4" baseline="-1959" dirty="0" smtClean="0">
                <a:latin typeface="Verdana"/>
                <a:cs typeface="Verdana"/>
                <a:hlinkClick r:id="rId5"/>
              </a:rPr>
              <a:t>t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ies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470" y="4867255"/>
            <a:ext cx="5633739" cy="487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 algn="r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600" spc="47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600" spc="290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  <a:hlinkClick r:id="rId6"/>
              </a:rPr>
              <a:t>handle(</a:t>
            </a:r>
            <a:r>
              <a:rPr sz="1600" spc="0" dirty="0" smtClean="0">
                <a:solidFill>
                  <a:srgbClr val="636363"/>
                </a:solidFill>
                <a:latin typeface="Times New Roman"/>
                <a:cs typeface="Times New Roman"/>
              </a:rPr>
              <a:t>@Header</a:t>
            </a:r>
            <a:r>
              <a:rPr sz="1600" spc="0" dirty="0" smtClean="0">
                <a:latin typeface="Times New Roman"/>
                <a:cs typeface="Times New Roman"/>
              </a:rPr>
              <a:t>(Exchange.</a:t>
            </a:r>
            <a:r>
              <a:rPr sz="16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FILE_NAME</a:t>
            </a:r>
            <a:r>
              <a:rPr sz="1600" spc="0" dirty="0" smtClean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R="15160" algn="r">
              <a:lnSpc>
                <a:spcPct val="95825"/>
              </a:lnSpc>
              <a:spcBef>
                <a:spcPts val="51"/>
              </a:spcBef>
            </a:pPr>
            <a:r>
              <a:rPr sz="1600" spc="0" dirty="0" smtClean="0">
                <a:solidFill>
                  <a:srgbClr val="636363"/>
                </a:solidFill>
                <a:latin typeface="Times New Roman"/>
                <a:cs typeface="Times New Roman"/>
                <a:hlinkClick r:id="rId3"/>
              </a:rPr>
              <a:t>@Body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6900" y="4872990"/>
            <a:ext cx="1522829" cy="481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1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</a:t>
            </a:r>
            <a:r>
              <a:rPr sz="1600" spc="371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name,</a:t>
            </a:r>
            <a:endParaRPr sz="1600">
              <a:latin typeface="Times New Roman"/>
              <a:cs typeface="Times New Roman"/>
            </a:endParaRPr>
          </a:p>
          <a:p>
            <a:pPr marL="12700" marR="3810">
              <a:lnSpc>
                <a:spcPct val="95825"/>
              </a:lnSpc>
              <a:spcBef>
                <a:spcPts val="63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String </a:t>
            </a:r>
            <a:r>
              <a:rPr sz="1600" spc="254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body)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31860" y="512572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4310" y="5373985"/>
            <a:ext cx="6638214" cy="235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0"/>
              </a:lnSpc>
              <a:spcBef>
                <a:spcPts val="89"/>
              </a:spcBef>
            </a:pPr>
            <a:r>
              <a:rPr sz="1600" spc="0" dirty="0" smtClean="0">
                <a:latin typeface="Times New Roman"/>
                <a:cs typeface="Times New Roman"/>
              </a:rPr>
              <a:t>System.</a:t>
            </a:r>
            <a:r>
              <a:rPr sz="16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out</a:t>
            </a:r>
            <a:r>
              <a:rPr sz="1600" spc="0" dirty="0" smtClean="0">
                <a:latin typeface="Times New Roman"/>
                <a:cs typeface="Times New Roman"/>
              </a:rPr>
              <a:t>.printf(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"Handling</a:t>
            </a:r>
            <a:r>
              <a:rPr sz="1600" spc="398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file</a:t>
            </a:r>
            <a:r>
              <a:rPr sz="1600" spc="23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%s:  </a:t>
            </a:r>
            <a:r>
              <a:rPr sz="1600" spc="239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</a:t>
            </a:r>
            <a:r>
              <a:rPr sz="1600" spc="-19" dirty="0" smtClean="0">
                <a:solidFill>
                  <a:srgbClr val="2900FF"/>
                </a:solidFill>
                <a:latin typeface="Times New Roman"/>
                <a:cs typeface="Times New Roman"/>
              </a:rPr>
              <a:t>"</a:t>
            </a:r>
            <a:r>
              <a:rPr sz="1600" spc="0" dirty="0" smtClean="0">
                <a:latin typeface="Times New Roman"/>
                <a:cs typeface="Times New Roman"/>
              </a:rPr>
              <a:t>, </a:t>
            </a:r>
            <a:r>
              <a:rPr sz="1600" spc="15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name,</a:t>
            </a:r>
            <a:r>
              <a:rPr sz="1600" spc="-89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Times New Roman"/>
                <a:cs typeface="Times New Roman"/>
              </a:rPr>
              <a:t>body);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0470" y="5632450"/>
            <a:ext cx="17781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25"/>
              </a:lnSpc>
              <a:spcBef>
                <a:spcPts val="86"/>
              </a:spcBef>
            </a:pPr>
            <a:r>
              <a:rPr sz="1600" spc="0" dirty="0" smtClean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" y="7287259"/>
            <a:ext cx="676275" cy="14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09390" y="615504"/>
            <a:ext cx="213196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Met</a:t>
            </a:r>
            <a:r>
              <a:rPr sz="3800" spc="-4" dirty="0" smtClean="0">
                <a:latin typeface="Verdana"/>
                <a:cs typeface="Verdana"/>
              </a:rPr>
              <a:t>h</a:t>
            </a:r>
            <a:r>
              <a:rPr sz="3800" spc="0" dirty="0" smtClean="0">
                <a:latin typeface="Verdana"/>
                <a:cs typeface="Verdana"/>
              </a:rPr>
              <a:t>ods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290" y="1829159"/>
            <a:ext cx="5378905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in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ing using annotatio</a:t>
            </a:r>
            <a:r>
              <a:rPr sz="3200" spc="-9" dirty="0" smtClean="0">
                <a:latin typeface="Verdana"/>
                <a:cs typeface="Verdana"/>
              </a:rPr>
              <a:t>n</a:t>
            </a:r>
            <a:r>
              <a:rPr sz="3200" spc="0" dirty="0" smtClean="0">
                <a:latin typeface="Verdana"/>
                <a:cs typeface="Verdana"/>
              </a:rPr>
              <a:t>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5090" y="2494753"/>
            <a:ext cx="6909743" cy="13893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nno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ions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or ex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ession</a:t>
            </a:r>
            <a:r>
              <a:rPr sz="2800" spc="-14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lan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ua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  <a:hlinkClick r:id="rId2"/>
              </a:rPr>
              <a:t>@Bean, @Bean</a:t>
            </a:r>
            <a:r>
              <a:rPr sz="2800" spc="-9" dirty="0" smtClean="0">
                <a:latin typeface="Verdana"/>
                <a:cs typeface="Verdana"/>
                <a:hlinkClick r:id="rId2"/>
              </a:rPr>
              <a:t>S</a:t>
            </a:r>
            <a:r>
              <a:rPr sz="2800" spc="4" dirty="0" smtClean="0">
                <a:latin typeface="Verdana"/>
                <a:cs typeface="Verdana"/>
                <a:hlinkClick r:id="rId2"/>
              </a:rPr>
              <a:t>h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e</a:t>
            </a:r>
            <a:r>
              <a:rPr sz="2800" spc="-9" dirty="0" smtClean="0">
                <a:latin typeface="Verdana"/>
                <a:cs typeface="Verdana"/>
                <a:hlinkClick r:id="rId2"/>
              </a:rPr>
              <a:t>l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l, @EL, @Groo</a:t>
            </a:r>
            <a:r>
              <a:rPr sz="2800" spc="-14" dirty="0" smtClean="0">
                <a:latin typeface="Verdana"/>
                <a:cs typeface="Verdana"/>
                <a:hlinkClick r:id="rId2"/>
              </a:rPr>
              <a:t>v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y,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395"/>
              </a:lnSpc>
              <a:spcBef>
                <a:spcPts val="169"/>
              </a:spcBef>
            </a:pPr>
            <a:r>
              <a:rPr sz="4200" spc="0" baseline="-1959" dirty="0" smtClean="0">
                <a:latin typeface="Verdana"/>
                <a:cs typeface="Verdana"/>
                <a:hlinkClick r:id="rId3"/>
              </a:rPr>
              <a:t>@J</a:t>
            </a:r>
            <a:r>
              <a:rPr sz="4200" spc="4" baseline="-1959" dirty="0" smtClean="0">
                <a:latin typeface="Verdana"/>
                <a:cs typeface="Verdana"/>
                <a:hlinkClick r:id="rId3"/>
              </a:rPr>
              <a:t>a</a:t>
            </a:r>
            <a:r>
              <a:rPr sz="4200" spc="-9" baseline="-1959" dirty="0" smtClean="0">
                <a:latin typeface="Verdana"/>
                <a:cs typeface="Verdana"/>
                <a:hlinkClick r:id="rId3"/>
              </a:rPr>
              <a:t>v</a:t>
            </a:r>
            <a:r>
              <a:rPr sz="4200" spc="4" baseline="-1959" dirty="0" smtClean="0">
                <a:latin typeface="Verdana"/>
                <a:cs typeface="Verdana"/>
                <a:hlinkClick r:id="rId3"/>
              </a:rPr>
              <a:t>a</a:t>
            </a:r>
            <a:r>
              <a:rPr sz="4200" spc="-4" baseline="-1959" dirty="0" smtClean="0">
                <a:latin typeface="Verdana"/>
                <a:cs typeface="Verdana"/>
                <a:hlinkClick r:id="rId3"/>
              </a:rPr>
              <a:t>S</a:t>
            </a:r>
            <a:r>
              <a:rPr sz="4200" spc="0" baseline="-1959" dirty="0" smtClean="0">
                <a:latin typeface="Verdana"/>
                <a:cs typeface="Verdana"/>
                <a:hlinkClick r:id="rId3"/>
              </a:rPr>
              <a:t>c</a:t>
            </a:r>
            <a:r>
              <a:rPr sz="4200" spc="-9" baseline="-1959" dirty="0" smtClean="0">
                <a:latin typeface="Verdana"/>
                <a:cs typeface="Verdana"/>
                <a:hlinkClick r:id="rId3"/>
              </a:rPr>
              <a:t>r</a:t>
            </a:r>
            <a:r>
              <a:rPr sz="4200" spc="0" baseline="-1959" dirty="0" smtClean="0">
                <a:latin typeface="Verdana"/>
                <a:cs typeface="Verdana"/>
                <a:hlinkClick r:id="rId3"/>
              </a:rPr>
              <a:t>ip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  <a:hlinkClick r:id="rId4"/>
              </a:rPr>
              <a:t>, </a:t>
            </a:r>
            <a:r>
              <a:rPr sz="4200" spc="9" baseline="-1959" dirty="0" smtClean="0">
                <a:latin typeface="Verdana"/>
                <a:cs typeface="Verdana"/>
                <a:hlinkClick r:id="rId4"/>
              </a:rPr>
              <a:t>@</a:t>
            </a:r>
            <a:r>
              <a:rPr sz="4200" spc="0" baseline="-1959" dirty="0" smtClean="0">
                <a:latin typeface="Verdana"/>
                <a:cs typeface="Verdana"/>
                <a:hlinkClick r:id="rId4"/>
              </a:rPr>
              <a:t>M</a:t>
            </a:r>
            <a:r>
              <a:rPr sz="4200" spc="-4" baseline="-1959" dirty="0" smtClean="0">
                <a:latin typeface="Verdana"/>
                <a:cs typeface="Verdana"/>
                <a:hlinkClick r:id="rId4"/>
              </a:rPr>
              <a:t>V</a:t>
            </a:r>
            <a:r>
              <a:rPr sz="4200" spc="0" baseline="-1959" dirty="0" smtClean="0">
                <a:latin typeface="Verdana"/>
                <a:cs typeface="Verdana"/>
                <a:hlinkClick r:id="rId4"/>
              </a:rPr>
              <a:t>EL,</a:t>
            </a:r>
            <a:r>
              <a:rPr sz="4200" spc="0" baseline="-1959" dirty="0" smtClean="0">
                <a:latin typeface="Verdana"/>
                <a:cs typeface="Verdana"/>
              </a:rPr>
              <a:t> @OGN</a:t>
            </a:r>
            <a:r>
              <a:rPr sz="4200" spc="-4" baseline="-1959" dirty="0" smtClean="0">
                <a:latin typeface="Verdana"/>
                <a:cs typeface="Verdana"/>
              </a:rPr>
              <a:t>L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, @P</a:t>
            </a:r>
            <a:r>
              <a:rPr sz="4200" spc="-4" baseline="-1959" dirty="0" smtClean="0">
                <a:latin typeface="Verdana"/>
                <a:cs typeface="Verdana"/>
                <a:hlinkClick r:id="rId5"/>
              </a:rPr>
              <a:t>H</a:t>
            </a:r>
            <a:r>
              <a:rPr sz="4200" spc="0" baseline="-1959" dirty="0" smtClean="0">
                <a:latin typeface="Verdana"/>
                <a:cs typeface="Verdana"/>
                <a:hlinkClick r:id="rId5"/>
              </a:rPr>
              <a:t>P,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090" y="3936203"/>
            <a:ext cx="6650516" cy="8140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  <a:hlinkClick r:id="rId6"/>
              </a:rPr>
              <a:t>@Py</a:t>
            </a:r>
            <a:r>
              <a:rPr sz="2800" spc="-4" dirty="0" smtClean="0">
                <a:latin typeface="Verdana"/>
                <a:cs typeface="Verdana"/>
                <a:hlinkClick r:id="rId6"/>
              </a:rPr>
              <a:t>t</a:t>
            </a:r>
            <a:r>
              <a:rPr sz="2800" spc="0" dirty="0" smtClean="0">
                <a:latin typeface="Verdana"/>
                <a:cs typeface="Verdana"/>
                <a:hlinkClick r:id="rId6"/>
              </a:rPr>
              <a:t>hon, @</a:t>
            </a:r>
            <a:r>
              <a:rPr sz="2800" spc="-4" dirty="0" smtClean="0">
                <a:latin typeface="Verdana"/>
                <a:cs typeface="Verdana"/>
                <a:hlinkClick r:id="rId6"/>
              </a:rPr>
              <a:t>R</a:t>
            </a:r>
            <a:r>
              <a:rPr sz="2800" spc="4" dirty="0" smtClean="0">
                <a:latin typeface="Verdana"/>
                <a:cs typeface="Verdana"/>
                <a:hlinkClick r:id="rId6"/>
              </a:rPr>
              <a:t>u</a:t>
            </a:r>
            <a:r>
              <a:rPr sz="2800" spc="-4" dirty="0" smtClean="0">
                <a:latin typeface="Verdana"/>
                <a:cs typeface="Verdana"/>
                <a:hlinkClick r:id="rId6"/>
              </a:rPr>
              <a:t>b</a:t>
            </a:r>
            <a:r>
              <a:rPr sz="2800" spc="0" dirty="0" smtClean="0">
                <a:latin typeface="Verdana"/>
                <a:cs typeface="Verdana"/>
                <a:hlinkClick r:id="rId6"/>
              </a:rPr>
              <a:t>y, @</a:t>
            </a:r>
            <a:r>
              <a:rPr sz="2800" spc="4" dirty="0" smtClean="0">
                <a:latin typeface="Verdana"/>
                <a:cs typeface="Verdana"/>
                <a:hlinkClick r:id="rId6"/>
              </a:rPr>
              <a:t>S</a:t>
            </a:r>
            <a:r>
              <a:rPr sz="2800" spc="-9" dirty="0" smtClean="0">
                <a:latin typeface="Verdana"/>
                <a:cs typeface="Verdana"/>
                <a:hlinkClick r:id="rId6"/>
              </a:rPr>
              <a:t>i</a:t>
            </a:r>
            <a:r>
              <a:rPr sz="2800" spc="4" dirty="0" smtClean="0">
                <a:latin typeface="Verdana"/>
                <a:cs typeface="Verdana"/>
                <a:hlinkClick r:id="rId6"/>
              </a:rPr>
              <a:t>m</a:t>
            </a:r>
            <a:r>
              <a:rPr sz="2800" spc="-4" dirty="0" smtClean="0">
                <a:latin typeface="Verdana"/>
                <a:cs typeface="Verdana"/>
                <a:hlinkClick r:id="rId6"/>
              </a:rPr>
              <a:t>p</a:t>
            </a:r>
            <a:r>
              <a:rPr sz="2800" spc="0" dirty="0" smtClean="0">
                <a:latin typeface="Verdana"/>
                <a:cs typeface="Verdana"/>
                <a:hlinkClick r:id="rId6"/>
              </a:rPr>
              <a:t>le, @XPa</a:t>
            </a:r>
            <a:r>
              <a:rPr sz="2800" spc="9" dirty="0" smtClean="0">
                <a:latin typeface="Verdana"/>
                <a:cs typeface="Verdana"/>
                <a:hlinkClick r:id="rId6"/>
              </a:rPr>
              <a:t>t</a:t>
            </a:r>
            <a:r>
              <a:rPr sz="2800" spc="0" dirty="0" smtClean="0">
                <a:latin typeface="Verdana"/>
                <a:cs typeface="Verdana"/>
                <a:hlinkClick r:id="rId6"/>
              </a:rPr>
              <a:t>h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ts val="3400"/>
              </a:lnSpc>
              <a:spcBef>
                <a:spcPts val="24"/>
              </a:spcBef>
            </a:pPr>
            <a:r>
              <a:rPr sz="4200" spc="0" baseline="-1959" dirty="0" smtClean="0">
                <a:latin typeface="Verdana"/>
                <a:cs typeface="Verdana"/>
                <a:hlinkClick r:id="rId7"/>
              </a:rPr>
              <a:t>@X</a:t>
            </a:r>
            <a:r>
              <a:rPr sz="4200" spc="-4" baseline="-1959" dirty="0" smtClean="0">
                <a:latin typeface="Verdana"/>
                <a:cs typeface="Verdana"/>
                <a:hlinkClick r:id="rId7"/>
              </a:rPr>
              <a:t>Q</a:t>
            </a:r>
            <a:r>
              <a:rPr sz="4200" spc="0" baseline="-1959" dirty="0" smtClean="0">
                <a:latin typeface="Verdana"/>
                <a:cs typeface="Verdana"/>
                <a:hlinkClick r:id="rId7"/>
              </a:rPr>
              <a:t>uery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2104" y="3936203"/>
            <a:ext cx="738891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and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169" y="5629910"/>
            <a:ext cx="7019046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1253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500" spc="4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500" spc="272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  <a:hlinkClick r:id="rId8"/>
              </a:rPr>
              <a:t>handle(</a:t>
            </a:r>
            <a:r>
              <a:rPr sz="1500" spc="0" dirty="0" smtClean="0">
                <a:solidFill>
                  <a:srgbClr val="636363"/>
                </a:solidFill>
                <a:latin typeface="Times New Roman"/>
                <a:cs typeface="Times New Roman"/>
              </a:rPr>
              <a:t>@Simple</a:t>
            </a:r>
            <a:r>
              <a:rPr sz="1500" spc="0" dirty="0" smtClean="0">
                <a:latin typeface="Times New Roman"/>
                <a:cs typeface="Times New Roman"/>
              </a:rPr>
              <a:t>(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"${file:name}"</a:t>
            </a:r>
            <a:r>
              <a:rPr sz="1500" spc="0" dirty="0" smtClean="0">
                <a:latin typeface="Times New Roman"/>
                <a:cs typeface="Times New Roman"/>
              </a:rPr>
              <a:t>)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String </a:t>
            </a:r>
            <a:r>
              <a:rPr sz="1500" spc="327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name,</a:t>
            </a:r>
            <a:endParaRPr sz="1500">
              <a:latin typeface="Times New Roman"/>
              <a:cs typeface="Times New Roman"/>
            </a:endParaRPr>
          </a:p>
          <a:p>
            <a:pPr marL="241300" indent="1028700">
              <a:lnSpc>
                <a:spcPts val="1782"/>
              </a:lnSpc>
              <a:spcBef>
                <a:spcPts val="73"/>
              </a:spcBef>
            </a:pPr>
            <a:r>
              <a:rPr sz="1500" dirty="0" smtClean="0">
                <a:solidFill>
                  <a:srgbClr val="636363"/>
                </a:solidFill>
                <a:latin typeface="Times New Roman"/>
                <a:cs typeface="Times New Roman"/>
                <a:hlinkClick r:id="rId9"/>
              </a:rPr>
              <a:t>@XPath</a:t>
            </a:r>
            <a:r>
              <a:rPr sz="1500" dirty="0" smtClean="0">
                <a:latin typeface="Times New Roman"/>
                <a:cs typeface="Times New Roman"/>
              </a:rPr>
              <a:t>(</a:t>
            </a:r>
            <a:r>
              <a:rPr sz="1500" dirty="0" smtClean="0">
                <a:solidFill>
                  <a:srgbClr val="2900FF"/>
                </a:solidFill>
                <a:latin typeface="Times New Roman"/>
                <a:cs typeface="Times New Roman"/>
                <a:hlinkClick r:id="rId10"/>
              </a:rPr>
              <a:t>"/order/customer/@id</a:t>
            </a:r>
            <a:r>
              <a:rPr sz="1500" spc="-4" dirty="0" smtClean="0">
                <a:solidFill>
                  <a:srgbClr val="2900FF"/>
                </a:solidFill>
                <a:latin typeface="Times New Roman"/>
                <a:cs typeface="Times New Roman"/>
                <a:hlinkClick r:id="rId10"/>
              </a:rPr>
              <a:t>"</a:t>
            </a:r>
            <a:r>
              <a:rPr sz="1500" spc="0" dirty="0" smtClean="0">
                <a:latin typeface="Times New Roman"/>
                <a:cs typeface="Times New Roman"/>
              </a:rPr>
              <a:t>)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String </a:t>
            </a:r>
            <a:r>
              <a:rPr sz="1500" spc="327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customer)</a:t>
            </a:r>
            <a:r>
              <a:rPr sz="1500" spc="393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{ System.</a:t>
            </a:r>
            <a:r>
              <a:rPr sz="15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out</a:t>
            </a:r>
            <a:r>
              <a:rPr sz="1500" spc="0" dirty="0" smtClean="0">
                <a:latin typeface="Times New Roman"/>
                <a:cs typeface="Times New Roman"/>
              </a:rPr>
              <a:t>.printf(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"Handling</a:t>
            </a:r>
            <a:r>
              <a:rPr sz="1500" spc="37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file</a:t>
            </a:r>
            <a:r>
              <a:rPr sz="1500" spc="2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 </a:t>
            </a:r>
            <a:r>
              <a:rPr sz="1500" spc="11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for </a:t>
            </a:r>
            <a:r>
              <a:rPr sz="1500" spc="4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customer</a:t>
            </a:r>
            <a:r>
              <a:rPr sz="1500" spc="-236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%s"</a:t>
            </a:r>
            <a:r>
              <a:rPr sz="1500" spc="0" dirty="0" smtClean="0">
                <a:latin typeface="Times New Roman"/>
                <a:cs typeface="Times New Roman"/>
              </a:rPr>
              <a:t>,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name,</a:t>
            </a:r>
            <a:endParaRPr sz="1500">
              <a:latin typeface="Times New Roman"/>
              <a:cs typeface="Times New Roman"/>
            </a:endParaRPr>
          </a:p>
          <a:p>
            <a:pPr marL="12700" marR="21253">
              <a:lnSpc>
                <a:spcPct val="95825"/>
              </a:lnSpc>
              <a:spcBef>
                <a:spcPts val="136"/>
              </a:spcBef>
            </a:pPr>
            <a:r>
              <a:rPr sz="1500" spc="0" dirty="0" smtClean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65770" y="6106160"/>
            <a:ext cx="1197161" cy="21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25"/>
              </a:lnSpc>
              <a:spcBef>
                <a:spcPts val="81"/>
              </a:spcBef>
            </a:pPr>
            <a:r>
              <a:rPr sz="1500" spc="0" dirty="0" smtClean="0">
                <a:latin typeface="Times New Roman"/>
                <a:cs typeface="Times New Roman"/>
              </a:rPr>
              <a:t>customer);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96210" y="615504"/>
            <a:ext cx="1960166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Routing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438" y="615504"/>
            <a:ext cx="2724579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with bea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290" y="1829159"/>
            <a:ext cx="494936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Only when using S</a:t>
            </a:r>
            <a:r>
              <a:rPr sz="3200" spc="-4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ring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5090" y="2494753"/>
            <a:ext cx="7080398" cy="1534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40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d </a:t>
            </a:r>
            <a:r>
              <a:rPr sz="2800" spc="-4" dirty="0" smtClean="0">
                <a:latin typeface="Verdana"/>
                <a:cs typeface="Verdana"/>
              </a:rPr>
              <a:t>b</a:t>
            </a:r>
            <a:r>
              <a:rPr sz="2800" spc="0" dirty="0" smtClean="0">
                <a:latin typeface="Verdana"/>
                <a:cs typeface="Verdana"/>
              </a:rPr>
              <a:t>ean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-4" dirty="0" smtClean="0">
                <a:latin typeface="Verdana"/>
                <a:cs typeface="Verdana"/>
              </a:rPr>
              <a:t>Sp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XML </a:t>
            </a:r>
            <a:r>
              <a:rPr sz="2800" spc="-4" dirty="0" smtClean="0">
                <a:latin typeface="Verdana"/>
                <a:cs typeface="Verdana"/>
              </a:rPr>
              <a:t>f</a:t>
            </a:r>
            <a:r>
              <a:rPr sz="2800" spc="0" dirty="0" smtClean="0">
                <a:latin typeface="Verdana"/>
                <a:cs typeface="Verdana"/>
              </a:rPr>
              <a:t>ile</a:t>
            </a:r>
            <a:endParaRPr sz="2800">
              <a:latin typeface="Verdana"/>
              <a:cs typeface="Verdana"/>
            </a:endParaRPr>
          </a:p>
          <a:p>
            <a:pPr marL="12700" marR="53340">
              <a:lnSpc>
                <a:spcPct val="101277"/>
              </a:lnSpc>
              <a:spcBef>
                <a:spcPts val="986"/>
              </a:spcBef>
            </a:pP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d @Consu</a:t>
            </a:r>
            <a:r>
              <a:rPr sz="2800" spc="-14" dirty="0" smtClean="0">
                <a:latin typeface="Verdana"/>
                <a:cs typeface="Verdana"/>
                <a:hlinkClick r:id="rId2"/>
              </a:rPr>
              <a:t>m</a:t>
            </a:r>
            <a:r>
              <a:rPr sz="2800" spc="0" dirty="0" smtClean="0">
                <a:latin typeface="Verdana"/>
                <a:cs typeface="Verdana"/>
                <a:hlinkClick r:id="rId2"/>
              </a:rPr>
              <a:t>e</a:t>
            </a:r>
            <a:r>
              <a:rPr sz="2800" spc="0" dirty="0" smtClean="0">
                <a:latin typeface="Verdana"/>
                <a:cs typeface="Verdana"/>
              </a:rPr>
              <a:t> anno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a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hod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Ca</a:t>
            </a:r>
            <a:r>
              <a:rPr sz="4200" spc="-4" baseline="-1959" dirty="0" smtClean="0">
                <a:latin typeface="Verdana"/>
                <a:cs typeface="Verdana"/>
              </a:rPr>
              <a:t>m</a:t>
            </a:r>
            <a:r>
              <a:rPr sz="4200" spc="0" baseline="-1959" dirty="0" smtClean="0">
                <a:latin typeface="Verdana"/>
                <a:cs typeface="Verdana"/>
              </a:rPr>
              <a:t>el </a:t>
            </a:r>
            <a:r>
              <a:rPr sz="4200" spc="-4" baseline="-1959" dirty="0" smtClean="0">
                <a:latin typeface="Verdana"/>
                <a:cs typeface="Verdana"/>
              </a:rPr>
              <a:t>b</a:t>
            </a:r>
            <a:r>
              <a:rPr sz="4200" spc="0" baseline="-1959" dirty="0" smtClean="0">
                <a:latin typeface="Verdana"/>
                <a:cs typeface="Verdana"/>
              </a:rPr>
              <a:t>ean 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0" baseline="-1959" dirty="0" smtClean="0">
                <a:latin typeface="Verdana"/>
                <a:cs typeface="Verdana"/>
              </a:rPr>
              <a:t>os</a:t>
            </a:r>
            <a:r>
              <a:rPr sz="4200" spc="-9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-</a:t>
            </a:r>
            <a:r>
              <a:rPr sz="4200" spc="-4" baseline="-1959" dirty="0" smtClean="0">
                <a:latin typeface="Verdana"/>
                <a:cs typeface="Verdana"/>
              </a:rPr>
              <a:t>p</a:t>
            </a:r>
            <a:r>
              <a:rPr sz="4200" spc="4" baseline="-1959" dirty="0" smtClean="0">
                <a:latin typeface="Verdana"/>
                <a:cs typeface="Verdana"/>
              </a:rPr>
              <a:t>r</a:t>
            </a:r>
            <a:r>
              <a:rPr sz="4200" spc="0" baseline="-1959" dirty="0" smtClean="0">
                <a:latin typeface="Verdana"/>
                <a:cs typeface="Verdana"/>
              </a:rPr>
              <a:t>ocessing</a:t>
            </a:r>
            <a:r>
              <a:rPr sz="4200" spc="-25" baseline="-1959" dirty="0" smtClean="0">
                <a:latin typeface="Verdana"/>
                <a:cs typeface="Verdana"/>
              </a:rPr>
              <a:t> </a:t>
            </a:r>
            <a:r>
              <a:rPr sz="4200" spc="0" baseline="-1959" dirty="0" smtClean="0">
                <a:latin typeface="Verdana"/>
                <a:cs typeface="Verdana"/>
              </a:rPr>
              <a:t>will crea</a:t>
            </a:r>
            <a:r>
              <a:rPr sz="4200" spc="-4" baseline="-1959" dirty="0" smtClean="0">
                <a:latin typeface="Verdana"/>
                <a:cs typeface="Verdana"/>
              </a:rPr>
              <a:t>t</a:t>
            </a:r>
            <a:r>
              <a:rPr sz="4200" spc="0" baseline="-1959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0958" y="3647913"/>
            <a:ext cx="1022752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ou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5146040"/>
            <a:ext cx="8390739" cy="1167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1253">
              <a:lnSpc>
                <a:spcPts val="1625"/>
              </a:lnSpc>
              <a:spcBef>
                <a:spcPts val="81"/>
              </a:spcBef>
            </a:pPr>
            <a:r>
              <a:rPr sz="1500" dirty="0" smtClean="0">
                <a:solidFill>
                  <a:srgbClr val="636363"/>
                </a:solidFill>
                <a:latin typeface="Times New Roman"/>
                <a:cs typeface="Times New Roman"/>
                <a:hlinkClick r:id="rId2"/>
              </a:rPr>
              <a:t>@Consume</a:t>
            </a:r>
            <a:r>
              <a:rPr sz="1500" dirty="0" smtClean="0">
                <a:latin typeface="Times New Roman"/>
                <a:cs typeface="Times New Roman"/>
              </a:rPr>
              <a:t>(uri=</a:t>
            </a:r>
            <a:r>
              <a:rPr sz="150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"direct:order"</a:t>
            </a:r>
            <a:r>
              <a:rPr sz="1500" dirty="0" smtClean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12700" marR="21253">
              <a:lnSpc>
                <a:spcPct val="95825"/>
              </a:lnSpc>
              <a:spcBef>
                <a:spcPts val="63"/>
              </a:spcBef>
            </a:pP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public </a:t>
            </a:r>
            <a:r>
              <a:rPr sz="1500" spc="44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sz="1500" spc="272" dirty="0" smtClean="0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  <a:hlinkClick r:id="rId3"/>
              </a:rPr>
              <a:t>handle(</a:t>
            </a:r>
            <a:r>
              <a:rPr sz="1500" spc="0" dirty="0" smtClean="0">
                <a:solidFill>
                  <a:srgbClr val="636363"/>
                </a:solidFill>
                <a:latin typeface="Times New Roman"/>
                <a:cs typeface="Times New Roman"/>
              </a:rPr>
              <a:t>@Simple</a:t>
            </a:r>
            <a:r>
              <a:rPr sz="1500" spc="0" dirty="0" smtClean="0">
                <a:latin typeface="Times New Roman"/>
                <a:cs typeface="Times New Roman"/>
              </a:rPr>
              <a:t>(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"${file:name}"</a:t>
            </a:r>
            <a:r>
              <a:rPr sz="1500" spc="0" dirty="0" smtClean="0">
                <a:latin typeface="Times New Roman"/>
                <a:cs typeface="Times New Roman"/>
              </a:rPr>
              <a:t>)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String </a:t>
            </a:r>
            <a:r>
              <a:rPr sz="1500" spc="327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name,</a:t>
            </a:r>
            <a:endParaRPr sz="1500">
              <a:latin typeface="Times New Roman"/>
              <a:cs typeface="Times New Roman"/>
            </a:endParaRPr>
          </a:p>
          <a:p>
            <a:pPr marL="355600" indent="1828800">
              <a:lnSpc>
                <a:spcPts val="1782"/>
              </a:lnSpc>
              <a:spcBef>
                <a:spcPts val="145"/>
              </a:spcBef>
            </a:pPr>
            <a:r>
              <a:rPr sz="1500" dirty="0" smtClean="0">
                <a:solidFill>
                  <a:srgbClr val="636363"/>
                </a:solidFill>
                <a:latin typeface="Times New Roman"/>
                <a:cs typeface="Times New Roman"/>
                <a:hlinkClick r:id="rId4"/>
              </a:rPr>
              <a:t>@XPath</a:t>
            </a:r>
            <a:r>
              <a:rPr sz="1500" dirty="0" smtClean="0">
                <a:latin typeface="Times New Roman"/>
                <a:cs typeface="Times New Roman"/>
              </a:rPr>
              <a:t>(</a:t>
            </a:r>
            <a:r>
              <a:rPr sz="1500" dirty="0" smtClean="0">
                <a:solidFill>
                  <a:srgbClr val="2900FF"/>
                </a:solidFill>
                <a:latin typeface="Times New Roman"/>
                <a:cs typeface="Times New Roman"/>
                <a:hlinkClick r:id="rId5"/>
              </a:rPr>
              <a:t>"/order/customer/@id</a:t>
            </a:r>
            <a:r>
              <a:rPr sz="1500" spc="-4" dirty="0" smtClean="0">
                <a:solidFill>
                  <a:srgbClr val="2900FF"/>
                </a:solidFill>
                <a:latin typeface="Times New Roman"/>
                <a:cs typeface="Times New Roman"/>
                <a:hlinkClick r:id="rId5"/>
              </a:rPr>
              <a:t>"</a:t>
            </a:r>
            <a:r>
              <a:rPr sz="1500" spc="0" dirty="0" smtClean="0">
                <a:latin typeface="Times New Roman"/>
                <a:cs typeface="Times New Roman"/>
              </a:rPr>
              <a:t>)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String </a:t>
            </a:r>
            <a:r>
              <a:rPr sz="1500" spc="327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customer)</a:t>
            </a:r>
            <a:r>
              <a:rPr sz="1500" spc="393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{ System.</a:t>
            </a:r>
            <a:r>
              <a:rPr sz="1550" spc="0" dirty="0" smtClean="0">
                <a:solidFill>
                  <a:srgbClr val="0000BF"/>
                </a:solidFill>
                <a:latin typeface="Times New Roman"/>
                <a:cs typeface="Times New Roman"/>
              </a:rPr>
              <a:t>out</a:t>
            </a:r>
            <a:r>
              <a:rPr sz="1500" spc="0" dirty="0" smtClean="0">
                <a:latin typeface="Times New Roman"/>
                <a:cs typeface="Times New Roman"/>
              </a:rPr>
              <a:t>.printf(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"Handling</a:t>
            </a:r>
            <a:r>
              <a:rPr sz="1500" spc="37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file</a:t>
            </a:r>
            <a:r>
              <a:rPr sz="1500" spc="225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 </a:t>
            </a:r>
            <a:r>
              <a:rPr sz="1500" spc="113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for </a:t>
            </a:r>
            <a:r>
              <a:rPr sz="1500" spc="44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customer</a:t>
            </a:r>
            <a:r>
              <a:rPr sz="1500" spc="-236" dirty="0" smtClean="0">
                <a:solidFill>
                  <a:srgbClr val="2900FF"/>
                </a:solidFill>
                <a:latin typeface="Times New Roman"/>
                <a:cs typeface="Times New Roman"/>
              </a:rPr>
              <a:t> </a:t>
            </a:r>
            <a:r>
              <a:rPr sz="1500" spc="0" dirty="0" smtClean="0">
                <a:solidFill>
                  <a:srgbClr val="2900FF"/>
                </a:solidFill>
                <a:latin typeface="Times New Roman"/>
                <a:cs typeface="Times New Roman"/>
              </a:rPr>
              <a:t>%s"</a:t>
            </a:r>
            <a:r>
              <a:rPr sz="1500" spc="0" dirty="0" smtClean="0">
                <a:latin typeface="Times New Roman"/>
                <a:cs typeface="Times New Roman"/>
              </a:rPr>
              <a:t>, </a:t>
            </a:r>
            <a:r>
              <a:rPr sz="1500" spc="150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name,</a:t>
            </a:r>
            <a:r>
              <a:rPr sz="1500" spc="-204" dirty="0" smtClean="0">
                <a:latin typeface="Times New Roman"/>
                <a:cs typeface="Times New Roman"/>
              </a:rPr>
              <a:t> </a:t>
            </a:r>
            <a:r>
              <a:rPr sz="1500" spc="0" dirty="0" smtClean="0">
                <a:latin typeface="Times New Roman"/>
                <a:cs typeface="Times New Roman"/>
              </a:rPr>
              <a:t>customer);</a:t>
            </a:r>
            <a:endParaRPr sz="1500">
              <a:latin typeface="Times New Roman"/>
              <a:cs typeface="Times New Roman"/>
            </a:endParaRPr>
          </a:p>
          <a:p>
            <a:pPr marL="12700" marR="21253">
              <a:lnSpc>
                <a:spcPct val="95825"/>
              </a:lnSpc>
              <a:spcBef>
                <a:spcPts val="146"/>
              </a:spcBef>
            </a:pPr>
            <a:r>
              <a:rPr sz="1500" spc="0" dirty="0" smtClean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23360" y="615504"/>
            <a:ext cx="2104774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Exercise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290" y="1829159"/>
            <a:ext cx="7821674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W</a:t>
            </a:r>
            <a:r>
              <a:rPr sz="3200" spc="0" dirty="0" smtClean="0">
                <a:latin typeface="Verdana"/>
                <a:cs typeface="Verdana"/>
              </a:rPr>
              <a:t>ire the Or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erServi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e into yo</a:t>
            </a:r>
            <a:r>
              <a:rPr sz="3200" spc="-4" dirty="0" smtClean="0">
                <a:latin typeface="Verdana"/>
                <a:cs typeface="Verdana"/>
              </a:rPr>
              <a:t>u</a:t>
            </a:r>
            <a:r>
              <a:rPr sz="3200" spc="0" dirty="0" smtClean="0">
                <a:latin typeface="Verdana"/>
                <a:cs typeface="Verdana"/>
              </a:rPr>
              <a:t>r route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090" y="2494753"/>
            <a:ext cx="331494" cy="850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  <a:p>
            <a:pPr marL="157479">
              <a:lnSpc>
                <a:spcPct val="95825"/>
              </a:lnSpc>
              <a:spcBef>
                <a:spcPts val="130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5356" y="2494753"/>
            <a:ext cx="7674837" cy="21159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2864">
              <a:lnSpc>
                <a:spcPts val="3005"/>
              </a:lnSpc>
              <a:spcBef>
                <a:spcPts val="150"/>
              </a:spcBef>
            </a:pP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ho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  <a:p>
            <a:pPr marL="94233" marR="599053">
              <a:lnSpc>
                <a:spcPct val="101378"/>
              </a:lnSpc>
              <a:spcBef>
                <a:spcPts val="978"/>
              </a:spcBef>
            </a:pPr>
            <a:r>
              <a:rPr sz="2400" spc="0" dirty="0" smtClean="0">
                <a:latin typeface="Verdana"/>
                <a:cs typeface="Verdana"/>
              </a:rPr>
              <a:t>en</a:t>
            </a:r>
            <a:r>
              <a:rPr sz="2400" spc="-9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ich() use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0" dirty="0" smtClean="0">
                <a:latin typeface="Verdana"/>
                <a:cs typeface="Verdana"/>
              </a:rPr>
              <a:t>Exchan</a:t>
            </a:r>
            <a:r>
              <a:rPr sz="2400" spc="-9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 </a:t>
            </a:r>
            <a:r>
              <a:rPr sz="2400" spc="4" dirty="0" smtClean="0">
                <a:latin typeface="Verdana"/>
                <a:cs typeface="Verdana"/>
              </a:rPr>
              <a:t>a</a:t>
            </a:r>
            <a:r>
              <a:rPr sz="2400" spc="0" dirty="0" smtClean="0">
                <a:latin typeface="Verdana"/>
                <a:cs typeface="Verdana"/>
              </a:rPr>
              <a:t>s </a:t>
            </a:r>
            <a:r>
              <a:rPr sz="2400" spc="9" dirty="0" smtClean="0">
                <a:latin typeface="Verdana"/>
                <a:cs typeface="Verdana"/>
              </a:rPr>
              <a:t>p</a:t>
            </a:r>
            <a:r>
              <a:rPr sz="2400" spc="0" dirty="0" smtClean="0">
                <a:latin typeface="Verdana"/>
                <a:cs typeface="Verdana"/>
              </a:rPr>
              <a:t>ara</a:t>
            </a:r>
            <a:r>
              <a:rPr sz="2400" spc="-4" dirty="0" smtClean="0">
                <a:latin typeface="Verdana"/>
                <a:cs typeface="Verdana"/>
              </a:rPr>
              <a:t>m</a:t>
            </a:r>
            <a:r>
              <a:rPr sz="2400" spc="-9" dirty="0" smtClean="0">
                <a:latin typeface="Verdana"/>
                <a:cs typeface="Verdana"/>
              </a:rPr>
              <a:t>e</a:t>
            </a:r>
            <a:r>
              <a:rPr sz="2400" spc="0" dirty="0" smtClean="0">
                <a:latin typeface="Verdana"/>
                <a:cs typeface="Verdana"/>
              </a:rPr>
              <a:t>ter </a:t>
            </a:r>
            <a:r>
              <a:rPr sz="2400" spc="4" dirty="0" smtClean="0">
                <a:latin typeface="Verdana"/>
                <a:cs typeface="Verdana"/>
              </a:rPr>
              <a:t>a</a:t>
            </a:r>
            <a:r>
              <a:rPr sz="2400" spc="9" dirty="0" smtClean="0">
                <a:latin typeface="Verdana"/>
                <a:cs typeface="Verdana"/>
              </a:rPr>
              <a:t>n</a:t>
            </a:r>
            <a:r>
              <a:rPr sz="2400" spc="0" dirty="0" smtClean="0">
                <a:latin typeface="Verdana"/>
                <a:cs typeface="Verdana"/>
              </a:rPr>
              <a:t>d a</a:t>
            </a:r>
            <a:r>
              <a:rPr sz="2400" spc="-14" dirty="0" smtClean="0">
                <a:latin typeface="Verdana"/>
                <a:cs typeface="Verdana"/>
              </a:rPr>
              <a:t>d</a:t>
            </a:r>
            <a:r>
              <a:rPr sz="2400" spc="0" dirty="0" smtClean="0">
                <a:latin typeface="Verdana"/>
                <a:cs typeface="Verdana"/>
              </a:rPr>
              <a:t>d timestamp hea</a:t>
            </a:r>
            <a:r>
              <a:rPr sz="2400" spc="-4" dirty="0" smtClean="0">
                <a:latin typeface="Verdana"/>
                <a:cs typeface="Verdana"/>
              </a:rPr>
              <a:t>d</a:t>
            </a:r>
            <a:r>
              <a:rPr sz="2400" spc="0" dirty="0" smtClean="0">
                <a:latin typeface="Verdana"/>
                <a:cs typeface="Verdana"/>
              </a:rPr>
              <a:t>er to the exchan</a:t>
            </a:r>
            <a:r>
              <a:rPr sz="2400" spc="-9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94233">
              <a:lnSpc>
                <a:spcPct val="101378"/>
              </a:lnSpc>
              <a:spcBef>
                <a:spcPts val="840"/>
              </a:spcBef>
            </a:pPr>
            <a:r>
              <a:rPr sz="2400" spc="0" dirty="0" smtClean="0">
                <a:latin typeface="Verdana"/>
                <a:cs typeface="Verdana"/>
              </a:rPr>
              <a:t>p</a:t>
            </a:r>
            <a:r>
              <a:rPr sz="2400" spc="-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ocess() uses</a:t>
            </a:r>
            <a:r>
              <a:rPr sz="2400" spc="-9" dirty="0" smtClean="0">
                <a:latin typeface="Verdana"/>
                <a:cs typeface="Verdana"/>
              </a:rPr>
              <a:t> </a:t>
            </a:r>
            <a:r>
              <a:rPr sz="2400" spc="4" dirty="0" smtClean="0">
                <a:latin typeface="Verdana"/>
                <a:cs typeface="Verdana"/>
              </a:rPr>
              <a:t>a</a:t>
            </a:r>
            <a:r>
              <a:rPr sz="2400" spc="0" dirty="0" smtClean="0">
                <a:latin typeface="Verdana"/>
                <a:cs typeface="Verdana"/>
              </a:rPr>
              <a:t>nn</a:t>
            </a:r>
            <a:r>
              <a:rPr sz="2400" spc="-9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tati</a:t>
            </a:r>
            <a:r>
              <a:rPr sz="2400" spc="-9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ns 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o </a:t>
            </a:r>
            <a:r>
              <a:rPr sz="2400" spc="-4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et </a:t>
            </a:r>
            <a:r>
              <a:rPr sz="2400" spc="-4" dirty="0" smtClean="0">
                <a:latin typeface="Verdana"/>
                <a:cs typeface="Verdana"/>
              </a:rPr>
              <a:t>p</a:t>
            </a:r>
            <a:r>
              <a:rPr sz="2400" spc="0" dirty="0" smtClean="0">
                <a:latin typeface="Verdana"/>
                <a:cs typeface="Verdana"/>
              </a:rPr>
              <a:t>arame</a:t>
            </a:r>
            <a:r>
              <a:rPr sz="2400" spc="-4" dirty="0" smtClean="0">
                <a:latin typeface="Verdana"/>
                <a:cs typeface="Verdana"/>
              </a:rPr>
              <a:t>t</a:t>
            </a:r>
            <a:r>
              <a:rPr sz="2400" spc="0" dirty="0" smtClean="0">
                <a:latin typeface="Verdana"/>
                <a:cs typeface="Verdana"/>
              </a:rPr>
              <a:t>er and </a:t>
            </a:r>
            <a:r>
              <a:rPr sz="2400" spc="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essa</a:t>
            </a:r>
            <a:r>
              <a:rPr sz="2400" spc="-4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e body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9870" y="393929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889" y="4759277"/>
            <a:ext cx="4707951" cy="6997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lo</a:t>
            </a:r>
            <a:r>
              <a:rPr sz="2400" spc="-4" dirty="0" smtClean="0">
                <a:latin typeface="Verdana"/>
                <a:cs typeface="Verdana"/>
              </a:rPr>
              <a:t>g</a:t>
            </a:r>
            <a:r>
              <a:rPr sz="2400" spc="0" dirty="0" smtClean="0">
                <a:latin typeface="Verdana"/>
                <a:cs typeface="Verdana"/>
              </a:rPr>
              <a:t>() </a:t>
            </a:r>
            <a:r>
              <a:rPr sz="2400" spc="-4" dirty="0" smtClean="0">
                <a:latin typeface="Verdana"/>
                <a:cs typeface="Verdana"/>
              </a:rPr>
              <a:t>m</a:t>
            </a:r>
            <a:r>
              <a:rPr sz="2400" spc="0" dirty="0" smtClean="0">
                <a:latin typeface="Verdana"/>
                <a:cs typeface="Verdana"/>
              </a:rPr>
              <a:t>eth</a:t>
            </a:r>
            <a:r>
              <a:rPr sz="2400" spc="-9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d u</a:t>
            </a:r>
            <a:r>
              <a:rPr sz="2400" spc="4" dirty="0" smtClean="0">
                <a:latin typeface="Verdana"/>
                <a:cs typeface="Verdana"/>
              </a:rPr>
              <a:t>s</a:t>
            </a:r>
            <a:r>
              <a:rPr sz="2400" spc="0" dirty="0" smtClean="0">
                <a:latin typeface="Verdana"/>
                <a:cs typeface="Verdana"/>
                <a:hlinkClick r:id="rId2"/>
              </a:rPr>
              <a:t>es @Co</a:t>
            </a:r>
            <a:r>
              <a:rPr sz="2400" spc="-9" dirty="0" smtClean="0">
                <a:latin typeface="Verdana"/>
                <a:cs typeface="Verdana"/>
                <a:hlinkClick r:id="rId2"/>
              </a:rPr>
              <a:t>n</a:t>
            </a:r>
            <a:r>
              <a:rPr sz="2400" spc="4" dirty="0" smtClean="0">
                <a:latin typeface="Verdana"/>
                <a:cs typeface="Verdana"/>
                <a:hlinkClick r:id="rId2"/>
              </a:rPr>
              <a:t>s</a:t>
            </a:r>
            <a:r>
              <a:rPr sz="2400" spc="-9" dirty="0" smtClean="0">
                <a:latin typeface="Verdana"/>
                <a:cs typeface="Verdana"/>
                <a:hlinkClick r:id="rId2"/>
              </a:rPr>
              <a:t>u</a:t>
            </a:r>
            <a:r>
              <a:rPr sz="2400" spc="4" dirty="0" smtClean="0">
                <a:latin typeface="Verdana"/>
                <a:cs typeface="Verdana"/>
                <a:hlinkClick r:id="rId2"/>
              </a:rPr>
              <a:t>m</a:t>
            </a:r>
            <a:r>
              <a:rPr sz="2400" spc="0" dirty="0" smtClean="0">
                <a:latin typeface="Verdana"/>
                <a:cs typeface="Verdana"/>
                <a:hlinkClick r:id="rId2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12700" marR="45720">
              <a:lnSpc>
                <a:spcPts val="2910"/>
              </a:lnSpc>
              <a:spcBef>
                <a:spcPts val="16"/>
              </a:spcBef>
            </a:pPr>
            <a:r>
              <a:rPr sz="3600" spc="0" baseline="-2285" dirty="0" smtClean="0">
                <a:latin typeface="Verdana"/>
                <a:cs typeface="Verdana"/>
              </a:rPr>
              <a:t>di</a:t>
            </a:r>
            <a:r>
              <a:rPr sz="3600" spc="-4" baseline="-2285" dirty="0" smtClean="0">
                <a:latin typeface="Verdana"/>
                <a:cs typeface="Verdana"/>
              </a:rPr>
              <a:t>r</a:t>
            </a:r>
            <a:r>
              <a:rPr sz="3600" spc="0" baseline="-2285" dirty="0" smtClean="0">
                <a:latin typeface="Verdana"/>
                <a:cs typeface="Verdana"/>
              </a:rPr>
              <a:t>ect:log endpoint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0187" y="4759277"/>
            <a:ext cx="37650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to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2277" y="4759277"/>
            <a:ext cx="75610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4" dirty="0" smtClean="0">
                <a:latin typeface="Verdana"/>
                <a:cs typeface="Verdana"/>
              </a:rPr>
              <a:t>r</a:t>
            </a:r>
            <a:r>
              <a:rPr sz="2400" spc="0" dirty="0" smtClean="0">
                <a:latin typeface="Verdana"/>
                <a:cs typeface="Verdana"/>
              </a:rPr>
              <a:t>ead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3842" y="4759277"/>
            <a:ext cx="78881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-4" dirty="0" smtClean="0">
                <a:latin typeface="Verdana"/>
                <a:cs typeface="Verdana"/>
              </a:rPr>
              <a:t>f</a:t>
            </a:r>
            <a:r>
              <a:rPr sz="2400" spc="4" dirty="0" smtClean="0">
                <a:latin typeface="Verdana"/>
                <a:cs typeface="Verdana"/>
              </a:rPr>
              <a:t>r</a:t>
            </a:r>
            <a:r>
              <a:rPr sz="2400" spc="-4" dirty="0" smtClean="0">
                <a:latin typeface="Verdana"/>
                <a:cs typeface="Verdana"/>
              </a:rPr>
              <a:t>o</a:t>
            </a:r>
            <a:r>
              <a:rPr sz="2400" spc="0" dirty="0" smtClean="0">
                <a:latin typeface="Verdana"/>
                <a:cs typeface="Verdana"/>
              </a:rPr>
              <a:t>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8631" y="4759277"/>
            <a:ext cx="56596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0" dirty="0" smtClean="0">
                <a:latin typeface="Verdana"/>
                <a:cs typeface="Verdana"/>
              </a:rPr>
              <a:t>the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9870" y="4788920"/>
            <a:ext cx="18671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0"/>
              </a:lnSpc>
              <a:spcBef>
                <a:spcPts val="91"/>
              </a:spcBef>
            </a:pPr>
            <a:r>
              <a:rPr sz="1800" spc="0" dirty="0" smtClean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730" y="7290842"/>
            <a:ext cx="1403968" cy="126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30"/>
              </a:lnSpc>
              <a:spcBef>
                <a:spcPts val="46"/>
              </a:spcBef>
            </a:pPr>
            <a:endParaRPr sz="800" dirty="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95420" y="615504"/>
            <a:ext cx="215996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Pla</a:t>
            </a:r>
            <a:r>
              <a:rPr sz="3800" spc="-4" dirty="0" smtClean="0">
                <a:latin typeface="Verdana"/>
                <a:cs typeface="Verdana"/>
              </a:rPr>
              <a:t>n</a:t>
            </a:r>
            <a:r>
              <a:rPr sz="3800" spc="0" dirty="0" smtClean="0">
                <a:latin typeface="Verdana"/>
                <a:cs typeface="Verdana"/>
              </a:rPr>
              <a:t>ning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3173413" cy="2453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86">
              <a:lnSpc>
                <a:spcPts val="3420"/>
              </a:lnSpc>
              <a:spcBef>
                <a:spcPts val="171"/>
              </a:spcBef>
            </a:pPr>
            <a:r>
              <a:rPr sz="3200" spc="0" dirty="0" smtClean="0">
                <a:latin typeface="Verdana"/>
                <a:cs typeface="Verdana"/>
              </a:rPr>
              <a:t>Intro</a:t>
            </a:r>
            <a:r>
              <a:rPr sz="3200" spc="-4" dirty="0" smtClean="0">
                <a:latin typeface="Verdana"/>
                <a:cs typeface="Verdana"/>
              </a:rPr>
              <a:t>d</a:t>
            </a:r>
            <a:r>
              <a:rPr sz="3200" spc="0" dirty="0" smtClean="0">
                <a:latin typeface="Verdana"/>
                <a:cs typeface="Verdana"/>
              </a:rPr>
              <a:t>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5310"/>
              </a:lnSpc>
              <a:spcBef>
                <a:spcPts val="474"/>
              </a:spcBef>
            </a:pPr>
            <a:r>
              <a:rPr sz="3200" spc="0" dirty="0" smtClean="0">
                <a:latin typeface="Verdana"/>
                <a:cs typeface="Verdana"/>
              </a:rPr>
              <a:t>Getting started 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IPs in action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om</a:t>
            </a:r>
            <a:r>
              <a:rPr sz="3200" spc="-9" dirty="0" smtClean="0">
                <a:latin typeface="Verdana"/>
                <a:cs typeface="Verdana"/>
              </a:rPr>
              <a:t>p</a:t>
            </a:r>
            <a:r>
              <a:rPr sz="3200" spc="0" dirty="0" smtClean="0">
                <a:latin typeface="Verdana"/>
                <a:cs typeface="Verdana"/>
              </a:rPr>
              <a:t>onents 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2544" y="2502259"/>
            <a:ext cx="2366432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with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5966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0" y="326979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0192" y="38509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0" y="394416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290" y="4524099"/>
            <a:ext cx="131937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-4" dirty="0" smtClean="0">
                <a:latin typeface="Verdana"/>
                <a:cs typeface="Verdana"/>
              </a:rPr>
              <a:t>B</a:t>
            </a:r>
            <a:r>
              <a:rPr sz="3200" spc="0" dirty="0" smtClean="0">
                <a:latin typeface="Verdana"/>
                <a:cs typeface="Verdana"/>
              </a:rPr>
              <a:t>eans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360" y="4524099"/>
            <a:ext cx="455056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in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018" y="4524099"/>
            <a:ext cx="1317428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action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0" y="4618536"/>
            <a:ext cx="198207" cy="208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450" spc="0" dirty="0" smtClean="0">
                <a:latin typeface="Times New Roman"/>
                <a:cs typeface="Times New Roman"/>
              </a:rPr>
              <a:t>●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1228089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3665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7086600"/>
            <a:ext cx="10079990" cy="0"/>
          </a:xfrm>
          <a:custGeom>
            <a:avLst/>
            <a:gdLst/>
            <a:ahLst/>
            <a:cxnLst/>
            <a:rect l="l" t="t" r="r" b="b"/>
            <a:pathLst>
              <a:path w="10079990">
                <a:moveTo>
                  <a:pt x="0" y="0"/>
                </a:moveTo>
                <a:lnTo>
                  <a:pt x="10079990" y="0"/>
                </a:lnTo>
              </a:path>
            </a:pathLst>
          </a:custGeom>
          <a:ln w="18329">
            <a:solidFill>
              <a:srgbClr val="BFBF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98750" y="615504"/>
            <a:ext cx="1360092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What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624" y="615504"/>
            <a:ext cx="1609008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else is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1037" y="615504"/>
            <a:ext cx="1637561" cy="50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00"/>
              </a:lnSpc>
              <a:spcBef>
                <a:spcPts val="200"/>
              </a:spcBef>
            </a:pPr>
            <a:r>
              <a:rPr sz="3800" spc="0" dirty="0" smtClean="0">
                <a:latin typeface="Verdana"/>
                <a:cs typeface="Verdana"/>
              </a:rPr>
              <a:t>there?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290" y="1829159"/>
            <a:ext cx="5750931" cy="431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0"/>
              </a:lnSpc>
              <a:spcBef>
                <a:spcPts val="170"/>
              </a:spcBef>
            </a:pPr>
            <a:r>
              <a:rPr sz="3200" spc="0" dirty="0" smtClean="0">
                <a:latin typeface="Verdana"/>
                <a:cs typeface="Verdana"/>
              </a:rPr>
              <a:t>There's a lot mo</a:t>
            </a:r>
            <a:r>
              <a:rPr sz="3200" spc="-4" dirty="0" smtClean="0">
                <a:latin typeface="Verdana"/>
                <a:cs typeface="Verdana"/>
              </a:rPr>
              <a:t>r</a:t>
            </a:r>
            <a:r>
              <a:rPr sz="3200" spc="0" dirty="0" smtClean="0">
                <a:latin typeface="Verdana"/>
                <a:cs typeface="Verdana"/>
              </a:rPr>
              <a:t>e in </a:t>
            </a:r>
            <a:r>
              <a:rPr sz="3200" spc="-4" dirty="0" smtClean="0">
                <a:latin typeface="Verdana"/>
                <a:cs typeface="Verdana"/>
              </a:rPr>
              <a:t>C</a:t>
            </a:r>
            <a:r>
              <a:rPr sz="3200" spc="0" dirty="0" smtClean="0">
                <a:latin typeface="Verdana"/>
                <a:cs typeface="Verdana"/>
              </a:rPr>
              <a:t>am</a:t>
            </a:r>
            <a:r>
              <a:rPr sz="3200" spc="-4" dirty="0" smtClean="0">
                <a:latin typeface="Verdana"/>
                <a:cs typeface="Verdana"/>
              </a:rPr>
              <a:t>e</a:t>
            </a:r>
            <a:r>
              <a:rPr sz="3200" spc="0" dirty="0" smtClean="0">
                <a:latin typeface="Verdana"/>
                <a:cs typeface="Verdana"/>
              </a:rPr>
              <a:t>l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440" y="1922326"/>
            <a:ext cx="198207" cy="208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75"/>
              </a:lnSpc>
              <a:spcBef>
                <a:spcPts val="73"/>
              </a:spcBef>
            </a:pPr>
            <a:r>
              <a:rPr sz="1400" spc="0" dirty="0" smtClean="0"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5090" y="2494753"/>
            <a:ext cx="4471564" cy="44170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339">
              <a:lnSpc>
                <a:spcPts val="3005"/>
              </a:lnSpc>
              <a:spcBef>
                <a:spcPts val="150"/>
              </a:spcBef>
            </a:pPr>
            <a:r>
              <a:rPr sz="2800" spc="0" dirty="0" smtClean="0">
                <a:latin typeface="Verdana"/>
                <a:cs typeface="Verdana"/>
              </a:rPr>
              <a:t>In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erce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ors and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acer</a:t>
            </a:r>
            <a:endParaRPr sz="2800">
              <a:latin typeface="Verdana"/>
              <a:cs typeface="Verdana"/>
            </a:endParaRPr>
          </a:p>
          <a:p>
            <a:pPr marL="12700" marR="1213708">
              <a:lnSpc>
                <a:spcPts val="3402"/>
              </a:lnSpc>
              <a:spcBef>
                <a:spcPts val="986"/>
              </a:spcBef>
            </a:pPr>
            <a:r>
              <a:rPr sz="2800" spc="-4" dirty="0" smtClean="0">
                <a:latin typeface="Verdana"/>
                <a:cs typeface="Verdana"/>
              </a:rPr>
              <a:t>O</a:t>
            </a:r>
            <a:r>
              <a:rPr sz="2800" spc="0" dirty="0" smtClean="0">
                <a:latin typeface="Verdana"/>
                <a:cs typeface="Verdana"/>
              </a:rPr>
              <a:t>nCo</a:t>
            </a:r>
            <a:r>
              <a:rPr sz="2800" spc="-4" dirty="0" smtClean="0">
                <a:latin typeface="Verdana"/>
                <a:cs typeface="Verdana"/>
              </a:rPr>
              <a:t>mp</a:t>
            </a:r>
            <a:r>
              <a:rPr sz="2800" spc="0" dirty="0" smtClean="0">
                <a:latin typeface="Verdana"/>
                <a:cs typeface="Verdana"/>
              </a:rPr>
              <a:t>le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 </a:t>
            </a:r>
            <a:endParaRPr sz="2800">
              <a:latin typeface="Verdana"/>
              <a:cs typeface="Verdana"/>
            </a:endParaRPr>
          </a:p>
          <a:p>
            <a:pPr marL="12700" marR="1213708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4" dirty="0" smtClean="0">
                <a:latin typeface="Verdana"/>
                <a:cs typeface="Verdana"/>
              </a:rPr>
              <a:t>rr</a:t>
            </a:r>
            <a:r>
              <a:rPr sz="2800" spc="0" dirty="0" smtClean="0">
                <a:latin typeface="Verdana"/>
                <a:cs typeface="Verdana"/>
              </a:rPr>
              <a:t>or han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ling </a:t>
            </a:r>
            <a:endParaRPr sz="2800">
              <a:latin typeface="Verdana"/>
              <a:cs typeface="Verdana"/>
            </a:endParaRPr>
          </a:p>
          <a:p>
            <a:pPr marL="12700" marR="1213708">
              <a:lnSpc>
                <a:spcPts val="3402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JMX 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ana</a:t>
            </a:r>
            <a:r>
              <a:rPr sz="2800" spc="-9" dirty="0" smtClean="0">
                <a:latin typeface="Verdana"/>
                <a:cs typeface="Verdana"/>
              </a:rPr>
              <a:t>g</a:t>
            </a:r>
            <a:r>
              <a:rPr sz="2800" spc="0" dirty="0" smtClean="0">
                <a:latin typeface="Verdana"/>
                <a:cs typeface="Verdana"/>
              </a:rPr>
              <a:t>e</a:t>
            </a:r>
            <a:r>
              <a:rPr sz="2800" spc="-4" dirty="0" smtClean="0">
                <a:latin typeface="Verdana"/>
                <a:cs typeface="Verdana"/>
              </a:rPr>
              <a:t>m</a:t>
            </a:r>
            <a:r>
              <a:rPr sz="2800" spc="0" dirty="0" smtClean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ct val="101277"/>
              </a:lnSpc>
              <a:spcBef>
                <a:spcPts val="1136"/>
              </a:spcBef>
            </a:pPr>
            <a:r>
              <a:rPr sz="2800" spc="0" dirty="0" smtClean="0">
                <a:latin typeface="Verdana"/>
                <a:cs typeface="Verdana"/>
              </a:rPr>
              <a:t>T</a:t>
            </a:r>
            <a:r>
              <a:rPr sz="2800" spc="4" dirty="0" smtClean="0">
                <a:latin typeface="Verdana"/>
                <a:cs typeface="Verdana"/>
              </a:rPr>
              <a:t>r</a:t>
            </a:r>
            <a:r>
              <a:rPr sz="2800" spc="0" dirty="0" smtClean="0">
                <a:latin typeface="Verdana"/>
                <a:cs typeface="Verdana"/>
              </a:rPr>
              <a:t>ansac</a:t>
            </a:r>
            <a:r>
              <a:rPr sz="2800" spc="-1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ion su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ort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ct val="101277"/>
              </a:lnSpc>
              <a:spcBef>
                <a:spcPts val="1137"/>
              </a:spcBef>
            </a:pPr>
            <a:r>
              <a:rPr sz="2800" spc="0" dirty="0" smtClean="0">
                <a:latin typeface="Verdana"/>
                <a:cs typeface="Verdana"/>
              </a:rPr>
              <a:t>Tes</a:t>
            </a:r>
            <a:r>
              <a:rPr sz="2800" spc="-9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0" dirty="0" smtClean="0">
                <a:latin typeface="Verdana"/>
                <a:cs typeface="Verdana"/>
              </a:rPr>
              <a:t>su</a:t>
            </a:r>
            <a:r>
              <a:rPr sz="2800" spc="-9" dirty="0" smtClean="0">
                <a:latin typeface="Verdana"/>
                <a:cs typeface="Verdana"/>
              </a:rPr>
              <a:t>p</a:t>
            </a:r>
            <a:r>
              <a:rPr sz="2800" spc="-4" dirty="0" smtClean="0">
                <a:latin typeface="Verdana"/>
                <a:cs typeface="Verdana"/>
              </a:rPr>
              <a:t>p</a:t>
            </a:r>
            <a:r>
              <a:rPr sz="2800" spc="0" dirty="0" smtClean="0">
                <a:latin typeface="Verdana"/>
                <a:cs typeface="Verdana"/>
              </a:rPr>
              <a:t>ort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1277"/>
              </a:lnSpc>
              <a:spcBef>
                <a:spcPts val="1137"/>
              </a:spcBef>
            </a:pP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sync </a:t>
            </a:r>
            <a:r>
              <a:rPr sz="2800" spc="-4" dirty="0" smtClean="0">
                <a:latin typeface="Verdana"/>
                <a:cs typeface="Verdana"/>
              </a:rPr>
              <a:t>A</a:t>
            </a:r>
            <a:r>
              <a:rPr sz="2800" spc="0" dirty="0" smtClean="0">
                <a:latin typeface="Verdana"/>
                <a:cs typeface="Verdana"/>
              </a:rPr>
              <a:t>PI and</a:t>
            </a:r>
            <a:r>
              <a:rPr sz="2800" spc="-9" dirty="0" smtClean="0">
                <a:latin typeface="Verdana"/>
                <a:cs typeface="Verdana"/>
              </a:rPr>
              <a:t> </a:t>
            </a:r>
            <a:r>
              <a:rPr sz="2800" spc="-4" dirty="0" smtClean="0">
                <a:latin typeface="Verdana"/>
                <a:cs typeface="Verdana"/>
              </a:rPr>
              <a:t>t</a:t>
            </a:r>
            <a:r>
              <a:rPr sz="2800" spc="0" dirty="0" smtClean="0">
                <a:latin typeface="Verdana"/>
                <a:cs typeface="Verdana"/>
              </a:rPr>
              <a:t>hrea</a:t>
            </a:r>
            <a:r>
              <a:rPr sz="2800" spc="-9" dirty="0" smtClean="0">
                <a:latin typeface="Verdana"/>
                <a:cs typeface="Verdana"/>
              </a:rPr>
              <a:t>d</a:t>
            </a:r>
            <a:r>
              <a:rPr sz="2800" spc="0" dirty="0" smtClean="0">
                <a:latin typeface="Verdana"/>
                <a:cs typeface="Verdana"/>
              </a:rPr>
              <a:t>ing</a:t>
            </a:r>
            <a:endParaRPr sz="2800">
              <a:latin typeface="Verdana"/>
              <a:cs typeface="Verdana"/>
            </a:endParaRPr>
          </a:p>
          <a:p>
            <a:pPr marL="12700" marR="53339">
              <a:lnSpc>
                <a:spcPts val="3400"/>
              </a:lnSpc>
              <a:spcBef>
                <a:spcPts val="1307"/>
              </a:spcBef>
            </a:pPr>
            <a:r>
              <a:rPr sz="4200" spc="0" baseline="-1959" dirty="0" smtClean="0">
                <a:latin typeface="Verdana"/>
                <a:cs typeface="Verdana"/>
              </a:rPr>
              <a:t>...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240" y="25756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240" y="31522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240" y="372879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240" y="430537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40" y="488195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40" y="545853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40" y="6035119"/>
            <a:ext cx="176606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40" y="6611699"/>
            <a:ext cx="176606" cy="1854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50" spc="0" dirty="0" smtClean="0">
                <a:latin typeface="Times New Roman"/>
                <a:cs typeface="Times New Roman"/>
              </a:rPr>
              <a:t>●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0" y="6946900"/>
            <a:ext cx="10079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</TotalTime>
  <Words>4076</Words>
  <Application>Microsoft Office PowerPoint</Application>
  <PresentationFormat>Custom</PresentationFormat>
  <Paragraphs>1557</Paragraphs>
  <Slides>91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6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TrueLabs</cp:lastModifiedBy>
  <cp:revision>32</cp:revision>
  <dcterms:modified xsi:type="dcterms:W3CDTF">2015-08-29T03:28:44Z</dcterms:modified>
</cp:coreProperties>
</file>